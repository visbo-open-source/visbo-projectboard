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8"/>
  </p:notesMasterIdLst>
  <p:sldIdLst>
    <p:sldId id="268" r:id="rId2"/>
    <p:sldId id="266" r:id="rId3"/>
    <p:sldId id="269" r:id="rId4"/>
    <p:sldId id="270" r:id="rId5"/>
    <p:sldId id="271" r:id="rId6"/>
    <p:sldId id="267" r:id="rId7"/>
  </p:sldIdLst>
  <p:sldSz cx="13004800" cy="9753600"/>
  <p:notesSz cx="6864350" cy="9996488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7529" autoAdjust="0"/>
  </p:normalViewPr>
  <p:slideViewPr>
    <p:cSldViewPr>
      <p:cViewPr>
        <p:scale>
          <a:sx n="66" d="100"/>
          <a:sy n="66" d="100"/>
        </p:scale>
        <p:origin x="-2016" y="-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933450" y="749300"/>
            <a:ext cx="4997450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5247" y="4748332"/>
            <a:ext cx="5033857" cy="4498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6341" tIns="48171" rIns="96341" bIns="481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2412" y="9316381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900492" y="9414811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err="1" smtClean="0"/>
              <a:t>Generated</a:t>
            </a:r>
            <a:r>
              <a:rPr lang="de-DE" sz="1050" dirty="0" smtClean="0"/>
              <a:t>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/>
              <a:t>Aktueller Planungstand Termine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1627156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Projekt-Grafik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graphicFrame>
        <p:nvGraphicFramePr>
          <p:cNvPr id="16" name="Tabelle 15" title="Tabelle Projektzie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316324"/>
              </p:ext>
            </p:extLst>
          </p:nvPr>
        </p:nvGraphicFramePr>
        <p:xfrm>
          <a:off x="453728" y="3508649"/>
          <a:ext cx="12097344" cy="64807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76064"/>
                <a:gridCol w="1872208"/>
                <a:gridCol w="1080120"/>
                <a:gridCol w="8568952"/>
              </a:tblGrid>
              <a:tr h="3888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400" dirty="0" smtClean="0"/>
                        <a:t>ID</a:t>
                      </a:r>
                      <a:endParaRPr lang="de-DE" sz="14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400" kern="1200" dirty="0" smtClean="0"/>
                        <a:t>Ergebnis</a:t>
                      </a:r>
                      <a:endParaRPr lang="de-DE" sz="14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kern="1200" dirty="0" smtClean="0"/>
                        <a:t>Datum</a:t>
                      </a:r>
                      <a:endParaRPr lang="de-DE" sz="1400" b="1" kern="1200" dirty="0">
                        <a:solidFill>
                          <a:schemeClr val="lt1"/>
                        </a:solidFill>
                        <a:latin typeface="Gill Sans Light"/>
                        <a:ea typeface="ヒラギノ角ゴ ProN W3"/>
                        <a:cs typeface="ヒラギノ角ゴ ProN W3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400" kern="1200" dirty="0" smtClean="0"/>
                        <a:t>Erläuterung</a:t>
                      </a:r>
                      <a:r>
                        <a:rPr lang="de-DE" sz="1400" dirty="0" smtClean="0"/>
                        <a:t> </a:t>
                      </a:r>
                      <a:r>
                        <a:rPr lang="de-DE" sz="1400" kern="1200" dirty="0" smtClean="0"/>
                        <a:t>der</a:t>
                      </a:r>
                      <a:r>
                        <a:rPr lang="de-DE" sz="1400" baseline="0" dirty="0" smtClean="0"/>
                        <a:t> </a:t>
                      </a:r>
                      <a:r>
                        <a:rPr lang="de-DE" sz="1400" kern="1200" dirty="0" smtClean="0"/>
                        <a:t>Projektleitung</a:t>
                      </a:r>
                      <a:endParaRPr lang="de-DE" sz="14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592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1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1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Lastenheft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 smtClean="0">
                          <a:solidFill>
                            <a:schemeClr val="bg1"/>
                          </a:solidFill>
                        </a:rPr>
                        <a:t>14.12.2013</a:t>
                      </a:r>
                      <a:endParaRPr lang="de-DE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1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Erläuterung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38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Plan Veränderungen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1627156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Projekt-Grafik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graphicFrame>
        <p:nvGraphicFramePr>
          <p:cNvPr id="16" name="Tabelle 15" title="Tabelle Veränderung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915106"/>
              </p:ext>
            </p:extLst>
          </p:nvPr>
        </p:nvGraphicFramePr>
        <p:xfrm>
          <a:off x="453730" y="3508649"/>
          <a:ext cx="12097341" cy="77738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73046"/>
                <a:gridCol w="2507272"/>
                <a:gridCol w="1728192"/>
                <a:gridCol w="720080"/>
                <a:gridCol w="1800200"/>
                <a:gridCol w="720080"/>
                <a:gridCol w="2016224"/>
                <a:gridCol w="720080"/>
                <a:gridCol w="1512167"/>
              </a:tblGrid>
              <a:tr h="3888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400" dirty="0" smtClean="0"/>
                        <a:t>ID</a:t>
                      </a:r>
                      <a:endParaRPr lang="de-DE" sz="14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400" kern="1200" dirty="0" smtClean="0"/>
                        <a:t>Ergebnis</a:t>
                      </a:r>
                      <a:endParaRPr lang="de-DE" sz="14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Beauftragt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endParaRPr lang="de-DE" sz="14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Ampel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 smtClean="0"/>
                        <a:t>Letzter Stand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baseline="0" dirty="0" smtClean="0"/>
                        <a:t>#</a:t>
                      </a:r>
                      <a:endParaRPr lang="de-DE" sz="1400" b="1" kern="1200" dirty="0" smtClean="0">
                        <a:solidFill>
                          <a:schemeClr val="lt1"/>
                        </a:solidFill>
                        <a:latin typeface="Gill Sans Light"/>
                        <a:ea typeface="ヒラギノ角ゴ ProN W3"/>
                        <a:cs typeface="ヒラギノ角ゴ ProN W3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Ampel 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Aktueller Stand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de-DE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Ampel</a:t>
                      </a:r>
                      <a:endParaRPr lang="de-DE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2592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1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1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Lastenheft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 smtClean="0">
                          <a:solidFill>
                            <a:schemeClr val="bg1"/>
                          </a:solidFill>
                        </a:rPr>
                        <a:t>14.12.2013</a:t>
                      </a:r>
                      <a:endParaRPr lang="de-DE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smtClean="0">
                          <a:solidFill>
                            <a:schemeClr val="bg1"/>
                          </a:solidFill>
                        </a:rPr>
                        <a:t>14.12.2013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de-DE" sz="11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14.12.2013 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32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/>
              <a:t>Projekt-Name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5184576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/>
              <a:t>Meilenstein Trendanalyse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grpSp>
        <p:nvGrpSpPr>
          <p:cNvPr id="9" name="Gruppieren 8"/>
          <p:cNvGrpSpPr/>
          <p:nvPr/>
        </p:nvGrpSpPr>
        <p:grpSpPr>
          <a:xfrm>
            <a:off x="381720" y="7181056"/>
            <a:ext cx="6140784" cy="553998"/>
            <a:chOff x="3582064" y="7824700"/>
            <a:chExt cx="6140784" cy="553998"/>
          </a:xfrm>
        </p:grpSpPr>
        <p:sp>
          <p:nvSpPr>
            <p:cNvPr id="11" name="Textfeld 10"/>
            <p:cNvSpPr txBox="1"/>
            <p:nvPr/>
          </p:nvSpPr>
          <p:spPr>
            <a:xfrm>
              <a:off x="3582064" y="7824700"/>
              <a:ext cx="61407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Farbe gibt die „Ampelbewertung“ des Meilensteins zum entsprechenden Planungs-Zeitpunkt wieder: </a:t>
              </a:r>
            </a:p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grün, gelb, rot oder ohne Bewertung</a:t>
              </a:r>
              <a:endParaRPr lang="de-DE" sz="1000" dirty="0"/>
            </a:p>
          </p:txBody>
        </p:sp>
        <p:grpSp>
          <p:nvGrpSpPr>
            <p:cNvPr id="12" name="Gruppieren 11"/>
            <p:cNvGrpSpPr/>
            <p:nvPr/>
          </p:nvGrpSpPr>
          <p:grpSpPr>
            <a:xfrm>
              <a:off x="5967040" y="8154149"/>
              <a:ext cx="774502" cy="144016"/>
              <a:chOff x="10840466" y="7986146"/>
              <a:chExt cx="774502" cy="144016"/>
            </a:xfrm>
          </p:grpSpPr>
          <p:sp>
            <p:nvSpPr>
              <p:cNvPr id="13" name="Ellipse 12"/>
              <p:cNvSpPr/>
              <p:nvPr/>
            </p:nvSpPr>
            <p:spPr bwMode="auto">
              <a:xfrm>
                <a:off x="10840466" y="7986146"/>
                <a:ext cx="144016" cy="14401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7" name="Ellipse 16"/>
              <p:cNvSpPr/>
              <p:nvPr/>
            </p:nvSpPr>
            <p:spPr bwMode="auto">
              <a:xfrm>
                <a:off x="11050628" y="7986146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8" name="Ellipse 17"/>
              <p:cNvSpPr/>
              <p:nvPr/>
            </p:nvSpPr>
            <p:spPr bwMode="auto">
              <a:xfrm>
                <a:off x="11260790" y="7986146"/>
                <a:ext cx="144016" cy="1440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  <p:sp>
            <p:nvSpPr>
              <p:cNvPr id="19" name="Ellipse 18"/>
              <p:cNvSpPr/>
              <p:nvPr/>
            </p:nvSpPr>
            <p:spPr bwMode="auto">
              <a:xfrm>
                <a:off x="11470952" y="7986146"/>
                <a:ext cx="144016" cy="144016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extLst/>
            </p:spPr>
            <p:txBody>
              <a:bodyPr vert="horz" wrap="square" lIns="50800" tIns="50800" rIns="50800" bIns="50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marR="0" indent="0" algn="ctr" defTabSz="5842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600" b="0" i="0" u="none" strike="noStrike" cap="none" normalizeH="0" baseline="0" dirty="0" smtClean="0">
                  <a:ln>
                    <a:noFill/>
                  </a:ln>
                  <a:solidFill>
                    <a:srgbClr val="414141"/>
                  </a:solidFill>
                  <a:effectLst/>
                  <a:latin typeface="Gill Sans Light" charset="0"/>
                  <a:ea typeface="Gill Sans Light" charset="0"/>
                  <a:cs typeface="Gill Sans Light" charset="0"/>
                  <a:sym typeface="Gill Sans Light" charset="0"/>
                </a:endParaRPr>
              </a:p>
            </p:txBody>
          </p:sp>
        </p:grpSp>
      </p:grpSp>
      <p:grpSp>
        <p:nvGrpSpPr>
          <p:cNvPr id="20" name="Gruppieren 19"/>
          <p:cNvGrpSpPr/>
          <p:nvPr/>
        </p:nvGrpSpPr>
        <p:grpSpPr>
          <a:xfrm>
            <a:off x="381720" y="7829128"/>
            <a:ext cx="7348487" cy="784830"/>
            <a:chOff x="2819400" y="8340221"/>
            <a:chExt cx="7348487" cy="784830"/>
          </a:xfrm>
        </p:grpSpPr>
        <p:sp>
          <p:nvSpPr>
            <p:cNvPr id="21" name="Textfeld 20"/>
            <p:cNvSpPr txBox="1"/>
            <p:nvPr/>
          </p:nvSpPr>
          <p:spPr>
            <a:xfrm>
              <a:off x="2819400" y="8340221"/>
              <a:ext cx="7348487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Form gibt an, ob der Meilenstein zum jeweiligen Planungs-Stand bereits als abgeschlossen galt oder noch in der Zukunft lag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Meilenstein gilt als abgeschlossen (Ergebnis mit der Ampel-Farbe bewertet)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Meilenstein Prognose (Ergebnis mit der Ampel-Farbe prognostiziert)</a:t>
              </a:r>
              <a:endParaRPr lang="de-DE" sz="1000" dirty="0"/>
            </a:p>
          </p:txBody>
        </p:sp>
        <p:sp>
          <p:nvSpPr>
            <p:cNvPr id="22" name="Ellipse 21"/>
            <p:cNvSpPr/>
            <p:nvPr/>
          </p:nvSpPr>
          <p:spPr bwMode="auto">
            <a:xfrm>
              <a:off x="2902000" y="8881619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  <p:sp>
          <p:nvSpPr>
            <p:cNvPr id="23" name="Rechteck 22"/>
            <p:cNvSpPr/>
            <p:nvPr/>
          </p:nvSpPr>
          <p:spPr bwMode="auto">
            <a:xfrm>
              <a:off x="2902000" y="8649595"/>
              <a:ext cx="144016" cy="144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</p:grpSp>
      <p:grpSp>
        <p:nvGrpSpPr>
          <p:cNvPr id="24" name="Gruppieren 23"/>
          <p:cNvGrpSpPr/>
          <p:nvPr/>
        </p:nvGrpSpPr>
        <p:grpSpPr>
          <a:xfrm>
            <a:off x="8086576" y="7181056"/>
            <a:ext cx="4641014" cy="1015663"/>
            <a:chOff x="2819400" y="8340221"/>
            <a:chExt cx="4641014" cy="1015663"/>
          </a:xfrm>
        </p:grpSpPr>
        <p:sp>
          <p:nvSpPr>
            <p:cNvPr id="25" name="Textfeld 24"/>
            <p:cNvSpPr txBox="1"/>
            <p:nvPr/>
          </p:nvSpPr>
          <p:spPr>
            <a:xfrm>
              <a:off x="2819400" y="8340221"/>
              <a:ext cx="464101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de-DE" sz="1000" dirty="0" smtClean="0"/>
                <a:t>Die Größe der Form gibt an, ob der Status / die Bewertung aus dem Vormonat </a:t>
              </a:r>
              <a:br>
                <a:rPr lang="de-DE" sz="1000" dirty="0" smtClean="0"/>
              </a:br>
              <a:r>
                <a:rPr lang="de-DE" sz="1000" dirty="0" smtClean="0"/>
                <a:t>übernommen wurde oder ob es eine Bewertung in dem Berichtszeitraum gab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Die Bewertung ist aus dem angegebenen Berichtszeitraum</a:t>
              </a:r>
            </a:p>
            <a:p>
              <a:pPr marL="514350" lvl="1" indent="-171450" algn="l">
                <a:lnSpc>
                  <a:spcPct val="150000"/>
                </a:lnSpc>
                <a:buFontTx/>
                <a:buChar char="-"/>
              </a:pPr>
              <a:r>
                <a:rPr lang="de-DE" sz="1000" dirty="0" smtClean="0"/>
                <a:t>Die Bewertung stammt aus dem Vormonat</a:t>
              </a:r>
              <a:endParaRPr lang="de-DE" sz="1000" dirty="0"/>
            </a:p>
          </p:txBody>
        </p:sp>
        <p:sp>
          <p:nvSpPr>
            <p:cNvPr id="26" name="Ellipse 25"/>
            <p:cNvSpPr/>
            <p:nvPr/>
          </p:nvSpPr>
          <p:spPr bwMode="auto">
            <a:xfrm>
              <a:off x="2902000" y="8881619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extLst/>
          </p:spPr>
          <p:txBody>
            <a:bodyPr vert="horz" wrap="square" lIns="50800" tIns="50800" rIns="50800" bIns="5080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endParaRPr>
            </a:p>
          </p:txBody>
        </p:sp>
      </p:grpSp>
      <p:sp>
        <p:nvSpPr>
          <p:cNvPr id="28" name="Ellipse 27"/>
          <p:cNvSpPr/>
          <p:nvPr/>
        </p:nvSpPr>
        <p:spPr bwMode="auto">
          <a:xfrm>
            <a:off x="8211412" y="7959192"/>
            <a:ext cx="108000" cy="108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600" b="0" i="0" u="none" strike="noStrike" cap="none" normalizeH="0" baseline="0" dirty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63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Vergleich mit Projekt-Generik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576064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/>
              <a:t>Vergleich mit Vorlage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488661" y="7807271"/>
            <a:ext cx="5556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identisch, wenn die Phasen jeweils in Grau dargestellt werden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unterschiedlich, wenn die Phasen in Ihrer Farbe dargestellt werden  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45417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Vergleich mit Beauftragungs-Stand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708448"/>
            <a:ext cx="12097344" cy="576064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/>
              <a:t>Vergleich mit </a:t>
            </a:r>
            <a:r>
              <a:rPr lang="de-DE" sz="1400" dirty="0" smtClean="0"/>
              <a:t>Beauftragung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29194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488661" y="7807271"/>
            <a:ext cx="5556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identisch, wenn die Phasen jeweils in Grau dargestellt werden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 smtClean="0"/>
              <a:t>Phasen abschnitte sind unterschiedlich, wenn die Phasen in Ihrer Farbe dargestellt werden  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58042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Projekt-Name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492424"/>
            <a:ext cx="6048672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Ergebnis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8" name="Rechteck 17"/>
          <p:cNvSpPr/>
          <p:nvPr/>
        </p:nvSpPr>
        <p:spPr bwMode="auto">
          <a:xfrm>
            <a:off x="6646416" y="1492424"/>
            <a:ext cx="6048672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Teilprojekte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9" name="Rechteck 18"/>
          <p:cNvSpPr/>
          <p:nvPr/>
        </p:nvSpPr>
        <p:spPr bwMode="auto">
          <a:xfrm>
            <a:off x="4558184" y="4804792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Sonstige </a:t>
            </a:r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Kosten</a:t>
            </a:r>
          </a:p>
        </p:txBody>
      </p:sp>
      <p:sp>
        <p:nvSpPr>
          <p:cNvPr id="20" name="Rechteck 19"/>
          <p:cNvSpPr/>
          <p:nvPr/>
        </p:nvSpPr>
        <p:spPr bwMode="auto">
          <a:xfrm>
            <a:off x="453728" y="4805237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Personalkosten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11" name="Rechteck 10"/>
          <p:cNvSpPr/>
          <p:nvPr/>
        </p:nvSpPr>
        <p:spPr bwMode="auto">
          <a:xfrm>
            <a:off x="8659422" y="4805237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Soll-Ist1 Gesamtkosten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6296842" y="7562190"/>
            <a:ext cx="65277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/>
              <a:t>Werte sind auf ganze Zahlen gerundet – deswegen kann es zu kleinen Unterschieden zwischen Detail- und Summenbetrachtung kommen </a:t>
            </a:r>
            <a:endParaRPr lang="de-DE" sz="800" dirty="0"/>
          </a:p>
        </p:txBody>
      </p:sp>
      <p:graphicFrame>
        <p:nvGraphicFramePr>
          <p:cNvPr id="13" name="Tabelle 12" title="Tabelle Projekt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992023"/>
              </p:ext>
            </p:extLst>
          </p:nvPr>
        </p:nvGraphicFramePr>
        <p:xfrm>
          <a:off x="453728" y="7829128"/>
          <a:ext cx="12241360" cy="8053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10057"/>
                <a:gridCol w="11731303"/>
              </a:tblGrid>
              <a:tr h="36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de-DE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800" kern="1200" dirty="0" smtClean="0"/>
                        <a:t>Aktuelle Gesamt-Einschätzung</a:t>
                      </a:r>
                      <a:r>
                        <a:rPr lang="de-DE" sz="1800" kern="1200" baseline="0" dirty="0" smtClean="0"/>
                        <a:t> des Projekts</a:t>
                      </a:r>
                      <a:endParaRPr lang="de-DE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395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100" dirty="0" smtClean="0">
                          <a:solidFill>
                            <a:schemeClr val="bg1"/>
                          </a:solidFill>
                          <a:latin typeface="+mn-lt"/>
                        </a:rPr>
                        <a:t>Erläuterung</a:t>
                      </a:r>
                      <a:endParaRPr lang="de-DE" sz="11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62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1274</Words>
  <Application>Microsoft Office PowerPoint</Application>
  <PresentationFormat>Benutzerdefiniert</PresentationFormat>
  <Paragraphs>625</Paragraphs>
  <Slides>6</Slides>
  <Notes>6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7" baseType="lpstr">
      <vt:lpstr>Larissa</vt:lpstr>
      <vt:lpstr>Aktueller Planungstand Termine</vt:lpstr>
      <vt:lpstr>Plan Veränderungen</vt:lpstr>
      <vt:lpstr>Projekt-Name</vt:lpstr>
      <vt:lpstr>Vergleich mit Projekt-Generik</vt:lpstr>
      <vt:lpstr>Vergleich mit Beauftragungs-Stand</vt:lpstr>
      <vt:lpstr>Projekt-Name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94</cp:revision>
  <cp:lastPrinted>2013-11-11T22:44:44Z</cp:lastPrinted>
  <dcterms:modified xsi:type="dcterms:W3CDTF">2014-03-02T11:44:25Z</dcterms:modified>
</cp:coreProperties>
</file>