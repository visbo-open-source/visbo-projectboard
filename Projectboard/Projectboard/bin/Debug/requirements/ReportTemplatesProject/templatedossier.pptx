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8"/>
  </p:notesMasterIdLst>
  <p:sldIdLst>
    <p:sldId id="268" r:id="rId2"/>
    <p:sldId id="266" r:id="rId3"/>
    <p:sldId id="269" r:id="rId4"/>
    <p:sldId id="270" r:id="rId5"/>
    <p:sldId id="271" r:id="rId6"/>
    <p:sldId id="267" r:id="rId7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7792" autoAdjust="0"/>
  </p:normalViewPr>
  <p:slideViewPr>
    <p:cSldViewPr>
      <p:cViewPr>
        <p:scale>
          <a:sx n="66" d="100"/>
          <a:sy n="66" d="100"/>
        </p:scale>
        <p:origin x="-2016" y="-72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/>
              <a:t>Projekt-Name</a:t>
            </a:r>
          </a:p>
          <a:p>
            <a:r>
              <a:rPr lang="de-DE" sz="2500" dirty="0"/>
              <a:t>Ergebnis</a:t>
            </a:r>
          </a:p>
          <a:p>
            <a:r>
              <a:rPr lang="de-DE" sz="2500" dirty="0"/>
              <a:t>Strategie/Risiko</a:t>
            </a:r>
          </a:p>
          <a:p>
            <a:r>
              <a:rPr lang="de-DE" sz="2500" dirty="0"/>
              <a:t>Teilprojekte</a:t>
            </a:r>
          </a:p>
          <a:p>
            <a:r>
              <a:rPr lang="de-DE" sz="2500" dirty="0"/>
              <a:t>Personalbedarf</a:t>
            </a:r>
          </a:p>
          <a:p>
            <a:r>
              <a:rPr lang="de-DE" sz="2500" dirty="0"/>
              <a:t>Personalkosten</a:t>
            </a:r>
          </a:p>
          <a:p>
            <a:r>
              <a:rPr lang="de-DE" sz="2500" dirty="0"/>
              <a:t>Sonstige Kosten</a:t>
            </a:r>
          </a:p>
          <a:p>
            <a:r>
              <a:rPr lang="de-DE" sz="2500" dirty="0"/>
              <a:t>Gesamtkosten</a:t>
            </a:r>
          </a:p>
          <a:p>
            <a:r>
              <a:rPr lang="de-DE" sz="2500" dirty="0"/>
              <a:t>Fortschritt Personalkosten</a:t>
            </a:r>
          </a:p>
          <a:p>
            <a:r>
              <a:rPr lang="de-DE" sz="2500" dirty="0"/>
              <a:t>Fortschritt Sonstige Kosten</a:t>
            </a:r>
          </a:p>
          <a:p>
            <a:r>
              <a:rPr lang="de-DE" sz="2500" dirty="0"/>
              <a:t>Fortschritt Gesamtkosten</a:t>
            </a:r>
          </a:p>
          <a:p>
            <a:r>
              <a:rPr lang="de-DE" sz="2500" dirty="0"/>
              <a:t>Fortschritt Rolle(…)</a:t>
            </a:r>
          </a:p>
          <a:p>
            <a:r>
              <a:rPr lang="de-DE" sz="2500" dirty="0"/>
              <a:t>Fortschritt Kostenart(…)</a:t>
            </a:r>
          </a:p>
          <a:p>
            <a:endParaRPr lang="de-DE" sz="2500" dirty="0"/>
          </a:p>
          <a:p>
            <a:r>
              <a:rPr lang="de-DE" sz="2500" dirty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Personalkosten</a:t>
            </a:r>
          </a:p>
          <a:p>
            <a:endParaRPr lang="de-DE" sz="2500" dirty="0"/>
          </a:p>
          <a:p>
            <a:r>
              <a:rPr lang="de-DE" sz="2500" dirty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Sonstige Kosten</a:t>
            </a:r>
          </a:p>
          <a:p>
            <a:endParaRPr lang="de-DE" sz="2500" dirty="0"/>
          </a:p>
          <a:p>
            <a:r>
              <a:rPr lang="de-DE" sz="2500" dirty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Gesamtkosten</a:t>
            </a:r>
          </a:p>
          <a:p>
            <a:endParaRPr lang="de-DE" sz="2500" dirty="0"/>
          </a:p>
          <a:p>
            <a:r>
              <a:rPr lang="de-DE" sz="2500" dirty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Rolle (…)</a:t>
            </a:r>
          </a:p>
          <a:p>
            <a:endParaRPr lang="de-DE" sz="2500" dirty="0"/>
          </a:p>
          <a:p>
            <a:r>
              <a:rPr lang="de-DE" sz="2500" dirty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/>
              <a:t>Soll-Ist2 Kostenart (…)</a:t>
            </a:r>
          </a:p>
          <a:p>
            <a:endParaRPr lang="de-DE" sz="2500" dirty="0"/>
          </a:p>
          <a:p>
            <a:r>
              <a:rPr lang="de-DE" sz="2500" dirty="0"/>
              <a:t>Ampel-Farbe</a:t>
            </a:r>
          </a:p>
          <a:p>
            <a:r>
              <a:rPr lang="de-DE" sz="2500" dirty="0"/>
              <a:t>Beschreibung</a:t>
            </a:r>
          </a:p>
          <a:p>
            <a:r>
              <a:rPr lang="de-DE" sz="2500" dirty="0"/>
              <a:t>Stand:</a:t>
            </a:r>
          </a:p>
          <a:p>
            <a:r>
              <a:rPr lang="de-DE" sz="2500" dirty="0"/>
              <a:t>Laufzeit:</a:t>
            </a:r>
          </a:p>
          <a:p>
            <a:r>
              <a:rPr lang="de-DE" sz="2500" dirty="0"/>
              <a:t>Verantwortlich: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Aktueller Planungstand Termine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Projektzie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6324"/>
              </p:ext>
            </p:extLst>
          </p:nvPr>
        </p:nvGraphicFramePr>
        <p:xfrm>
          <a:off x="453728" y="3508649"/>
          <a:ext cx="12097344" cy="648072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76064"/>
                <a:gridCol w="1872208"/>
                <a:gridCol w="1080120"/>
                <a:gridCol w="8568952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kern="1200" dirty="0" smtClean="0"/>
                        <a:t>Datum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Erläuterung</a:t>
                      </a:r>
                      <a:r>
                        <a:rPr lang="de-DE" sz="1400" dirty="0" smtClean="0"/>
                        <a:t> </a:t>
                      </a:r>
                      <a:r>
                        <a:rPr lang="de-DE" sz="1400" kern="1200" dirty="0" smtClean="0"/>
                        <a:t>der</a:t>
                      </a:r>
                      <a:r>
                        <a:rPr lang="de-DE" sz="1400" baseline="0" dirty="0" smtClean="0"/>
                        <a:t> </a:t>
                      </a:r>
                      <a:r>
                        <a:rPr lang="de-DE" sz="1400" kern="1200" dirty="0" smtClean="0"/>
                        <a:t>Projektleitung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381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Plan Veränderungen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162715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änderung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3915106"/>
              </p:ext>
            </p:extLst>
          </p:nvPr>
        </p:nvGraphicFramePr>
        <p:xfrm>
          <a:off x="453730" y="3508649"/>
          <a:ext cx="12097341" cy="77738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373046"/>
                <a:gridCol w="2507272"/>
                <a:gridCol w="1728192"/>
                <a:gridCol w="720080"/>
                <a:gridCol w="1800200"/>
                <a:gridCol w="720080"/>
                <a:gridCol w="2016224"/>
                <a:gridCol w="720080"/>
                <a:gridCol w="1512167"/>
              </a:tblGrid>
              <a:tr h="38884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dirty="0" smtClean="0"/>
                        <a:t>ID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400" kern="1200" dirty="0" smtClean="0"/>
                        <a:t>Ergebnis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Beauftragt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 </a:t>
                      </a:r>
                      <a:endParaRPr lang="de-DE" sz="1400" b="1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/>
                        <a:t>Letzter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baseline="0" dirty="0" smtClean="0"/>
                        <a:t>#</a:t>
                      </a:r>
                      <a:endParaRPr lang="de-DE" sz="1400" b="1" kern="1200" dirty="0" smtClean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 </a:t>
                      </a: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Aktueller Stand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b="1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Ampel</a:t>
                      </a: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b="1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tx1">
                        <a:lumMod val="20000"/>
                        <a:lumOff val="80000"/>
                      </a:schemeClr>
                    </a:solidFill>
                  </a:tcPr>
                </a:tc>
              </a:tr>
              <a:tr h="25922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Lastenheft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100" dirty="0" smtClean="0">
                          <a:solidFill>
                            <a:schemeClr val="bg1"/>
                          </a:solidFill>
                        </a:rPr>
                        <a:t>14.12.2013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11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1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14.12.2013 </a:t>
                      </a:r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1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90325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18457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Meilenstein Trendanalyse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pSp>
        <p:nvGrpSpPr>
          <p:cNvPr id="9" name="Gruppieren 8"/>
          <p:cNvGrpSpPr/>
          <p:nvPr/>
        </p:nvGrpSpPr>
        <p:grpSpPr>
          <a:xfrm>
            <a:off x="381720" y="7181056"/>
            <a:ext cx="6140784" cy="553998"/>
            <a:chOff x="3582064" y="7824700"/>
            <a:chExt cx="6140784" cy="553998"/>
          </a:xfrm>
        </p:grpSpPr>
        <p:sp>
          <p:nvSpPr>
            <p:cNvPr id="11" name="Textfeld 10"/>
            <p:cNvSpPr txBox="1"/>
            <p:nvPr/>
          </p:nvSpPr>
          <p:spPr>
            <a:xfrm>
              <a:off x="3582064" y="7824700"/>
              <a:ext cx="614078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Farbe gibt die „Ampelbewertung“ des Meilensteins zum entsprechenden Planungs-Zeitpunkt wieder: </a:t>
              </a:r>
            </a:p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grün, gelb, rot oder ohne Bewertung</a:t>
              </a:r>
              <a:endParaRPr lang="de-DE" sz="1000" dirty="0"/>
            </a:p>
          </p:txBody>
        </p:sp>
        <p:grpSp>
          <p:nvGrpSpPr>
            <p:cNvPr id="12" name="Gruppieren 11"/>
            <p:cNvGrpSpPr/>
            <p:nvPr/>
          </p:nvGrpSpPr>
          <p:grpSpPr>
            <a:xfrm>
              <a:off x="5967040" y="8154149"/>
              <a:ext cx="774502" cy="144016"/>
              <a:chOff x="10840466" y="7986146"/>
              <a:chExt cx="774502" cy="144016"/>
            </a:xfrm>
          </p:grpSpPr>
          <p:sp>
            <p:nvSpPr>
              <p:cNvPr id="13" name="Ellipse 12"/>
              <p:cNvSpPr/>
              <p:nvPr/>
            </p:nvSpPr>
            <p:spPr bwMode="auto">
              <a:xfrm>
                <a:off x="10840466" y="7986146"/>
                <a:ext cx="144016" cy="144016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7" name="Ellipse 16"/>
              <p:cNvSpPr/>
              <p:nvPr/>
            </p:nvSpPr>
            <p:spPr bwMode="auto">
              <a:xfrm>
                <a:off x="11050628" y="7986146"/>
                <a:ext cx="144016" cy="144016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8" name="Ellipse 17"/>
              <p:cNvSpPr/>
              <p:nvPr/>
            </p:nvSpPr>
            <p:spPr bwMode="auto">
              <a:xfrm>
                <a:off x="11260790" y="7986146"/>
                <a:ext cx="144016" cy="14401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9" name="Ellipse 18"/>
              <p:cNvSpPr/>
              <p:nvPr/>
            </p:nvSpPr>
            <p:spPr bwMode="auto">
              <a:xfrm>
                <a:off x="11470952" y="7986146"/>
                <a:ext cx="144016" cy="144016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</p:grpSp>
      </p:grpSp>
      <p:grpSp>
        <p:nvGrpSpPr>
          <p:cNvPr id="20" name="Gruppieren 19"/>
          <p:cNvGrpSpPr/>
          <p:nvPr/>
        </p:nvGrpSpPr>
        <p:grpSpPr>
          <a:xfrm>
            <a:off x="381720" y="7829128"/>
            <a:ext cx="7348487" cy="784830"/>
            <a:chOff x="2819400" y="8340221"/>
            <a:chExt cx="7348487" cy="784830"/>
          </a:xfrm>
        </p:grpSpPr>
        <p:sp>
          <p:nvSpPr>
            <p:cNvPr id="21" name="Textfeld 20"/>
            <p:cNvSpPr txBox="1"/>
            <p:nvPr/>
          </p:nvSpPr>
          <p:spPr>
            <a:xfrm>
              <a:off x="2819400" y="8340221"/>
              <a:ext cx="7348487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Form gibt an, ob der Meilenstein zum jeweiligen Planungs-Stand bereits als abgeschlossen galt oder noch in der Zukunft lag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gilt als abgeschlossen (Ergebnis mit der Ampel-Farbe bewertet)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Prognose (Ergebnis mit der Ampel-Farbe prognostiziert)</a:t>
              </a:r>
              <a:endParaRPr lang="de-DE" sz="1000" dirty="0"/>
            </a:p>
          </p:txBody>
        </p:sp>
        <p:sp>
          <p:nvSpPr>
            <p:cNvPr id="22" name="Ellipse 21"/>
            <p:cNvSpPr/>
            <p:nvPr/>
          </p:nvSpPr>
          <p:spPr bwMode="auto">
            <a:xfrm>
              <a:off x="2902000" y="8881619"/>
              <a:ext cx="144016" cy="144016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  <p:sp>
          <p:nvSpPr>
            <p:cNvPr id="23" name="Rechteck 22"/>
            <p:cNvSpPr/>
            <p:nvPr/>
          </p:nvSpPr>
          <p:spPr bwMode="auto">
            <a:xfrm>
              <a:off x="2902000" y="8649595"/>
              <a:ext cx="144016" cy="1440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</p:grpSp>
      <p:grpSp>
        <p:nvGrpSpPr>
          <p:cNvPr id="24" name="Gruppieren 23"/>
          <p:cNvGrpSpPr/>
          <p:nvPr/>
        </p:nvGrpSpPr>
        <p:grpSpPr>
          <a:xfrm>
            <a:off x="8086576" y="7181056"/>
            <a:ext cx="4641014" cy="1015663"/>
            <a:chOff x="2819400" y="8340221"/>
            <a:chExt cx="4641014" cy="1015663"/>
          </a:xfrm>
        </p:grpSpPr>
        <p:sp>
          <p:nvSpPr>
            <p:cNvPr id="25" name="Textfeld 24"/>
            <p:cNvSpPr txBox="1"/>
            <p:nvPr/>
          </p:nvSpPr>
          <p:spPr>
            <a:xfrm>
              <a:off x="2819400" y="8340221"/>
              <a:ext cx="464101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</a:t>
              </a:r>
              <a:r>
                <a:rPr lang="de-DE" sz="1000" dirty="0" smtClean="0"/>
                <a:t>Größe der Form gibt an</a:t>
              </a:r>
              <a:r>
                <a:rPr lang="de-DE" sz="1000" dirty="0" smtClean="0"/>
                <a:t>, ob </a:t>
              </a:r>
              <a:r>
                <a:rPr lang="de-DE" sz="1000" dirty="0" smtClean="0"/>
                <a:t>der Status / die Bewertung aus dem Vormonat </a:t>
              </a:r>
              <a:br>
                <a:rPr lang="de-DE" sz="1000" dirty="0" smtClean="0"/>
              </a:br>
              <a:r>
                <a:rPr lang="de-DE" sz="1000" dirty="0" smtClean="0"/>
                <a:t>übernommen wurde oder ob es eine Bewertung in dem Berichtszeitraum gab</a:t>
              </a:r>
              <a:endParaRPr lang="de-DE" sz="1000" dirty="0" smtClean="0"/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Die Bewertung ist aus dem angegebenen Berichtszeitraum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Die Bewertung stammt aus dem Vormonat</a:t>
              </a:r>
              <a:endParaRPr lang="de-DE" sz="1000" dirty="0"/>
            </a:p>
          </p:txBody>
        </p:sp>
        <p:sp>
          <p:nvSpPr>
            <p:cNvPr id="26" name="Ellipse 25"/>
            <p:cNvSpPr/>
            <p:nvPr/>
          </p:nvSpPr>
          <p:spPr bwMode="auto">
            <a:xfrm>
              <a:off x="2902000" y="8881619"/>
              <a:ext cx="180000" cy="180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</p:grpSp>
      <p:sp>
        <p:nvSpPr>
          <p:cNvPr id="28" name="Ellipse 27"/>
          <p:cNvSpPr/>
          <p:nvPr/>
        </p:nvSpPr>
        <p:spPr bwMode="auto">
          <a:xfrm>
            <a:off x="8211412" y="7959192"/>
            <a:ext cx="108000" cy="1080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6635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Vergleich mit Projekt-</a:t>
            </a:r>
            <a:r>
              <a:rPr lang="de-DE" sz="4400" dirty="0" smtClean="0"/>
              <a:t>Generik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76064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Vergleich mit Vorlage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488661" y="7807271"/>
            <a:ext cx="555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identisch, wenn die Phasen jeweils in Grau dargestellt werden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unterschiedlich, wenn die Phasen in Ihrer Farbe dargestellt werden  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454176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Vergleich mit Beauftragungs-Stand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76064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Vergleich mit </a:t>
            </a:r>
            <a:r>
              <a:rPr lang="de-DE" sz="1400" dirty="0" smtClean="0"/>
              <a:t>Beauftragung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488661" y="7807271"/>
            <a:ext cx="555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identisch, wenn die Phasen jeweils in Grau dargestellt werden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unterschiedlich, wenn die Phasen in Ihrer Farbe dargestellt werden  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8042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6646416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Teilprojekte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Sonstige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Kosten</a:t>
            </a: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Gesamtkosten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92023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628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584</Words>
  <Application>Microsoft Office PowerPoint</Application>
  <PresentationFormat>Benutzerdefiniert</PresentationFormat>
  <Paragraphs>277</Paragraphs>
  <Slides>6</Slides>
  <Notes>6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7" baseType="lpstr">
      <vt:lpstr>Larissa</vt:lpstr>
      <vt:lpstr>Aktueller Planungstand Termine</vt:lpstr>
      <vt:lpstr>Plan Veränderungen</vt:lpstr>
      <vt:lpstr>Projekt-Name</vt:lpstr>
      <vt:lpstr>Vergleich mit Projekt-Generik</vt:lpstr>
      <vt:lpstr>Vergleich mit Beauftragungs-Stand</vt:lpstr>
      <vt:lpstr>Projekt-Name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93</cp:revision>
  <cp:lastPrinted>2013-11-11T22:44:44Z</cp:lastPrinted>
  <dcterms:modified xsi:type="dcterms:W3CDTF">2014-01-26T13:10:39Z</dcterms:modified>
</cp:coreProperties>
</file>