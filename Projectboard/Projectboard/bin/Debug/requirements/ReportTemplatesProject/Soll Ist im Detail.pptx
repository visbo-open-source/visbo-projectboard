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8"/>
  </p:notesMasterIdLst>
  <p:sldIdLst>
    <p:sldId id="282" r:id="rId2"/>
    <p:sldId id="281" r:id="rId3"/>
    <p:sldId id="277" r:id="rId4"/>
    <p:sldId id="280" r:id="rId5"/>
    <p:sldId id="278" r:id="rId6"/>
    <p:sldId id="279" r:id="rId7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7771" autoAdjust="0"/>
  </p:normalViewPr>
  <p:slideViewPr>
    <p:cSldViewPr>
      <p:cViewPr>
        <p:scale>
          <a:sx n="66" d="100"/>
          <a:sy n="66" d="100"/>
        </p:scale>
        <p:origin x="-2016" y="-72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 smtClean="0"/>
              <a:t>Projekt-Name</a:t>
            </a:r>
          </a:p>
          <a:p>
            <a:r>
              <a:rPr lang="de-DE" sz="2500" dirty="0" smtClean="0"/>
              <a:t>Ergebnis</a:t>
            </a:r>
          </a:p>
          <a:p>
            <a:r>
              <a:rPr lang="de-DE" sz="2500" dirty="0" smtClean="0"/>
              <a:t>Strategie/Risiko</a:t>
            </a:r>
          </a:p>
          <a:p>
            <a:r>
              <a:rPr lang="de-DE" sz="2500" dirty="0" smtClean="0"/>
              <a:t>Teilprojekte</a:t>
            </a:r>
          </a:p>
          <a:p>
            <a:r>
              <a:rPr lang="de-DE" sz="2500" dirty="0" smtClean="0"/>
              <a:t>Personalbedarf</a:t>
            </a:r>
          </a:p>
          <a:p>
            <a:r>
              <a:rPr lang="de-DE" sz="2500" dirty="0" smtClean="0"/>
              <a:t>Personalkosten</a:t>
            </a:r>
          </a:p>
          <a:p>
            <a:r>
              <a:rPr lang="de-DE" sz="2500" dirty="0" smtClean="0"/>
              <a:t>Sonstige Kosten</a:t>
            </a:r>
          </a:p>
          <a:p>
            <a:r>
              <a:rPr lang="de-DE" sz="2500" dirty="0" smtClean="0"/>
              <a:t>Gesamtkosten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3600" dirty="0" smtClean="0"/>
              <a:t>Vergleich mit Vorlage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4400" dirty="0" smtClean="0"/>
              <a:t>Vergleich mit Beauftragung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kumimoji="0" lang="de-DE" sz="5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4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r>
              <a:rPr lang="de-DE" sz="2500" dirty="0" smtClean="0"/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  <a:endParaRPr lang="de-DE" sz="2500" dirty="0" smtClean="0"/>
          </a:p>
          <a:p>
            <a:r>
              <a:rPr lang="de-DE" sz="2500" dirty="0" smtClean="0"/>
              <a:t>Tabelle Vergleich letzter Stand</a:t>
            </a:r>
          </a:p>
          <a:p>
            <a:r>
              <a:rPr lang="de-DE" sz="2500" dirty="0" smtClean="0"/>
              <a:t>Tabelle Vergleich Beauftragung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800" dirty="0" smtClean="0"/>
              <a:t>Meilenstein Trendanalyse(..)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Fortschritt Personalkosten</a:t>
            </a:r>
          </a:p>
          <a:p>
            <a:r>
              <a:rPr lang="de-DE" sz="2500" dirty="0" smtClean="0"/>
              <a:t>Fortschritt Sonstige Kosten</a:t>
            </a:r>
          </a:p>
          <a:p>
            <a:r>
              <a:rPr lang="de-DE" sz="2500" dirty="0" smtClean="0"/>
              <a:t>Fortschritt Gesamtkosten</a:t>
            </a:r>
          </a:p>
          <a:p>
            <a:r>
              <a:rPr lang="de-DE" sz="2500" dirty="0" smtClean="0"/>
              <a:t>Fortschritt Rolle(…)</a:t>
            </a:r>
          </a:p>
          <a:p>
            <a:r>
              <a:rPr lang="de-DE" sz="2500" dirty="0" smtClean="0"/>
              <a:t>Fortschritt Kostenart(…)</a:t>
            </a:r>
          </a:p>
          <a:p>
            <a:endParaRPr lang="de-DE" sz="25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Personalkosten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Sonstige 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Gesamtkosten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Rolle (…)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Kostenart (…)</a:t>
            </a:r>
          </a:p>
          <a:p>
            <a:endParaRPr lang="de-DE" sz="2500" dirty="0" smtClean="0"/>
          </a:p>
          <a:p>
            <a:r>
              <a:rPr lang="de-DE" sz="2500" dirty="0" smtClean="0"/>
              <a:t>Ampel-Farbe</a:t>
            </a:r>
          </a:p>
          <a:p>
            <a:r>
              <a:rPr lang="de-DE" sz="2500" dirty="0" smtClean="0"/>
              <a:t>Beschreibung</a:t>
            </a:r>
          </a:p>
          <a:p>
            <a:r>
              <a:rPr lang="de-DE" sz="2500" dirty="0" smtClean="0"/>
              <a:t>Stand:</a:t>
            </a:r>
          </a:p>
          <a:p>
            <a:r>
              <a:rPr lang="de-DE" sz="2500" dirty="0" smtClean="0"/>
              <a:t>Laufzeit:</a:t>
            </a:r>
          </a:p>
          <a:p>
            <a:r>
              <a:rPr lang="de-DE" sz="2500" dirty="0" smtClean="0"/>
              <a:t>Verantwortlich: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 smtClean="0"/>
              <a:t>Projekt-Name</a:t>
            </a:r>
          </a:p>
          <a:p>
            <a:r>
              <a:rPr lang="de-DE" sz="2500" dirty="0" smtClean="0"/>
              <a:t>Ergebnis</a:t>
            </a:r>
          </a:p>
          <a:p>
            <a:r>
              <a:rPr lang="de-DE" sz="2500" dirty="0" smtClean="0"/>
              <a:t>Strategie/Risiko</a:t>
            </a:r>
          </a:p>
          <a:p>
            <a:r>
              <a:rPr lang="de-DE" sz="2500" dirty="0" smtClean="0"/>
              <a:t>Teilprojekte</a:t>
            </a:r>
          </a:p>
          <a:p>
            <a:r>
              <a:rPr lang="de-DE" sz="2500" dirty="0" smtClean="0"/>
              <a:t>Personalbedarf</a:t>
            </a:r>
          </a:p>
          <a:p>
            <a:r>
              <a:rPr lang="de-DE" sz="2500" dirty="0" smtClean="0"/>
              <a:t>Personalkosten</a:t>
            </a:r>
          </a:p>
          <a:p>
            <a:r>
              <a:rPr lang="de-DE" sz="2500" dirty="0" smtClean="0"/>
              <a:t>Sonstige Kosten</a:t>
            </a:r>
          </a:p>
          <a:p>
            <a:r>
              <a:rPr lang="de-DE" sz="2500" dirty="0" smtClean="0"/>
              <a:t>Gesamtkosten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3600" dirty="0" smtClean="0"/>
              <a:t>Vergleich mit Vorlage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4400" dirty="0" smtClean="0"/>
              <a:t>Vergleich mit Beauftragung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kumimoji="0" lang="de-DE" sz="5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4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r>
              <a:rPr lang="de-DE" sz="2500" dirty="0" smtClean="0"/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  <a:endParaRPr lang="de-DE" sz="2500" dirty="0" smtClean="0"/>
          </a:p>
          <a:p>
            <a:r>
              <a:rPr lang="de-DE" sz="2500" dirty="0" smtClean="0"/>
              <a:t>Tabelle Vergleich letzter Stand</a:t>
            </a:r>
          </a:p>
          <a:p>
            <a:r>
              <a:rPr lang="de-DE" sz="2500" dirty="0" smtClean="0"/>
              <a:t>Tabelle Vergleich Beauftragung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800" dirty="0" smtClean="0"/>
              <a:t>Meilenstein Trendanalyse(..)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Fortschritt Personalkosten</a:t>
            </a:r>
          </a:p>
          <a:p>
            <a:r>
              <a:rPr lang="de-DE" sz="2500" dirty="0" smtClean="0"/>
              <a:t>Fortschritt Sonstige Kosten</a:t>
            </a:r>
          </a:p>
          <a:p>
            <a:r>
              <a:rPr lang="de-DE" sz="2500" dirty="0" smtClean="0"/>
              <a:t>Fortschritt Gesamtkosten</a:t>
            </a:r>
          </a:p>
          <a:p>
            <a:r>
              <a:rPr lang="de-DE" sz="2500" dirty="0" smtClean="0"/>
              <a:t>Fortschritt Rolle(…)</a:t>
            </a:r>
          </a:p>
          <a:p>
            <a:r>
              <a:rPr lang="de-DE" sz="2500" dirty="0" smtClean="0"/>
              <a:t>Fortschritt Kostenart(…)</a:t>
            </a:r>
          </a:p>
          <a:p>
            <a:endParaRPr lang="de-DE" sz="25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Personalkosten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Sonstige 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Gesamtkosten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Rolle (…)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Kostenart (…)</a:t>
            </a:r>
          </a:p>
          <a:p>
            <a:endParaRPr lang="de-DE" sz="2500" dirty="0" smtClean="0"/>
          </a:p>
          <a:p>
            <a:r>
              <a:rPr lang="de-DE" sz="2500" dirty="0" smtClean="0"/>
              <a:t>Ampel-Farbe</a:t>
            </a:r>
          </a:p>
          <a:p>
            <a:r>
              <a:rPr lang="de-DE" sz="2500" dirty="0" smtClean="0"/>
              <a:t>Beschreibung</a:t>
            </a:r>
          </a:p>
          <a:p>
            <a:r>
              <a:rPr lang="de-DE" sz="2500" dirty="0" smtClean="0"/>
              <a:t>Stand:</a:t>
            </a:r>
          </a:p>
          <a:p>
            <a:r>
              <a:rPr lang="de-DE" sz="2500" dirty="0" smtClean="0"/>
              <a:t>Laufzeit:</a:t>
            </a:r>
          </a:p>
          <a:p>
            <a:r>
              <a:rPr lang="de-DE" sz="2500" dirty="0" smtClean="0"/>
              <a:t>Verantwortlich: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 smtClean="0"/>
              <a:t>Projekt-Name</a:t>
            </a:r>
          </a:p>
          <a:p>
            <a:r>
              <a:rPr lang="de-DE" sz="2500" dirty="0" smtClean="0"/>
              <a:t>Ergebnis</a:t>
            </a:r>
          </a:p>
          <a:p>
            <a:r>
              <a:rPr lang="de-DE" sz="2500" dirty="0" smtClean="0"/>
              <a:t>Strategie/Risiko</a:t>
            </a:r>
          </a:p>
          <a:p>
            <a:r>
              <a:rPr lang="de-DE" sz="2500" dirty="0" smtClean="0"/>
              <a:t>Teilprojekte</a:t>
            </a:r>
          </a:p>
          <a:p>
            <a:r>
              <a:rPr lang="de-DE" sz="2500" dirty="0" smtClean="0"/>
              <a:t>Personalbedarf</a:t>
            </a:r>
          </a:p>
          <a:p>
            <a:r>
              <a:rPr lang="de-DE" sz="2500" dirty="0" smtClean="0"/>
              <a:t>Personalkosten</a:t>
            </a:r>
          </a:p>
          <a:p>
            <a:r>
              <a:rPr lang="de-DE" sz="2500" dirty="0" smtClean="0"/>
              <a:t>Sonstige Kosten</a:t>
            </a:r>
          </a:p>
          <a:p>
            <a:r>
              <a:rPr lang="de-DE" sz="2500" dirty="0" smtClean="0"/>
              <a:t>Gesamtkosten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3600" dirty="0" smtClean="0"/>
              <a:t>Vergleich mit Vorlage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4400" dirty="0" smtClean="0"/>
              <a:t>Vergleich mit Beauftragung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kumimoji="0" lang="de-DE" sz="5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4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r>
              <a:rPr lang="de-DE" sz="2500" dirty="0" smtClean="0"/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  <a:endParaRPr lang="de-DE" sz="2500" dirty="0" smtClean="0"/>
          </a:p>
          <a:p>
            <a:r>
              <a:rPr lang="de-DE" sz="2500" dirty="0" smtClean="0"/>
              <a:t>Tabelle Vergleich letzter Stand</a:t>
            </a:r>
          </a:p>
          <a:p>
            <a:r>
              <a:rPr lang="de-DE" sz="2500" dirty="0" smtClean="0"/>
              <a:t>Tabelle Vergleich Beauftragung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800" dirty="0" smtClean="0"/>
              <a:t>Meilenstein Trendanalyse(..)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Fortschritt Personalkosten</a:t>
            </a:r>
          </a:p>
          <a:p>
            <a:r>
              <a:rPr lang="de-DE" sz="2500" dirty="0" smtClean="0"/>
              <a:t>Fortschritt Sonstige Kosten</a:t>
            </a:r>
          </a:p>
          <a:p>
            <a:r>
              <a:rPr lang="de-DE" sz="2500" dirty="0" smtClean="0"/>
              <a:t>Fortschritt Gesamtkosten</a:t>
            </a:r>
          </a:p>
          <a:p>
            <a:r>
              <a:rPr lang="de-DE" sz="2500" dirty="0" smtClean="0"/>
              <a:t>Fortschritt Rolle(…)</a:t>
            </a:r>
          </a:p>
          <a:p>
            <a:r>
              <a:rPr lang="de-DE" sz="2500" dirty="0" smtClean="0"/>
              <a:t>Fortschritt Kostenart(…)</a:t>
            </a:r>
          </a:p>
          <a:p>
            <a:endParaRPr lang="de-DE" sz="25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Personalkosten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Sonstige 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Gesamtkosten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Rolle (…)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Kostenart (…)</a:t>
            </a:r>
          </a:p>
          <a:p>
            <a:endParaRPr lang="de-DE" sz="2500" dirty="0" smtClean="0"/>
          </a:p>
          <a:p>
            <a:r>
              <a:rPr lang="de-DE" sz="2500" dirty="0" smtClean="0"/>
              <a:t>Ampel-Farbe</a:t>
            </a:r>
          </a:p>
          <a:p>
            <a:r>
              <a:rPr lang="de-DE" sz="2500" dirty="0" smtClean="0"/>
              <a:t>Beschreibung</a:t>
            </a:r>
          </a:p>
          <a:p>
            <a:r>
              <a:rPr lang="de-DE" sz="2500" dirty="0" smtClean="0"/>
              <a:t>Stand:</a:t>
            </a:r>
          </a:p>
          <a:p>
            <a:r>
              <a:rPr lang="de-DE" sz="2500" dirty="0" smtClean="0"/>
              <a:t>Laufzeit:</a:t>
            </a:r>
          </a:p>
          <a:p>
            <a:r>
              <a:rPr lang="de-DE" sz="2500" dirty="0" smtClean="0"/>
              <a:t>Verantwortlich: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 smtClean="0"/>
              <a:t>Projekt-Name</a:t>
            </a:r>
          </a:p>
          <a:p>
            <a:r>
              <a:rPr lang="de-DE" sz="2500" dirty="0" smtClean="0"/>
              <a:t>Ergebnis</a:t>
            </a:r>
          </a:p>
          <a:p>
            <a:r>
              <a:rPr lang="de-DE" sz="2500" dirty="0" smtClean="0"/>
              <a:t>Strategie/Risiko</a:t>
            </a:r>
          </a:p>
          <a:p>
            <a:r>
              <a:rPr lang="de-DE" sz="2500" dirty="0" smtClean="0"/>
              <a:t>Teilprojekte</a:t>
            </a:r>
          </a:p>
          <a:p>
            <a:r>
              <a:rPr lang="de-DE" sz="2500" dirty="0" smtClean="0"/>
              <a:t>Personalbedarf</a:t>
            </a:r>
          </a:p>
          <a:p>
            <a:r>
              <a:rPr lang="de-DE" sz="2500" dirty="0" smtClean="0"/>
              <a:t>Personalkosten</a:t>
            </a:r>
          </a:p>
          <a:p>
            <a:r>
              <a:rPr lang="de-DE" sz="2500" dirty="0" smtClean="0"/>
              <a:t>Sonstige Kosten</a:t>
            </a:r>
          </a:p>
          <a:p>
            <a:r>
              <a:rPr lang="de-DE" sz="2500" dirty="0" smtClean="0"/>
              <a:t>Gesamtkosten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3600" dirty="0" smtClean="0"/>
              <a:t>Vergleich mit Vorlage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4400" dirty="0" smtClean="0"/>
              <a:t>Vergleich mit Beauftragung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kumimoji="0" lang="de-DE" sz="5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4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r>
              <a:rPr lang="de-DE" sz="2500" dirty="0" smtClean="0"/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  <a:endParaRPr lang="de-DE" sz="2500" dirty="0" smtClean="0"/>
          </a:p>
          <a:p>
            <a:r>
              <a:rPr lang="de-DE" sz="2500" dirty="0" smtClean="0"/>
              <a:t>Tabelle Vergleich letzter Stand</a:t>
            </a:r>
          </a:p>
          <a:p>
            <a:r>
              <a:rPr lang="de-DE" sz="2500" dirty="0" smtClean="0"/>
              <a:t>Tabelle Vergleich Beauftragung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800" dirty="0" smtClean="0"/>
              <a:t>Meilenstein Trendanalyse(..)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Fortschritt Personalkosten</a:t>
            </a:r>
          </a:p>
          <a:p>
            <a:r>
              <a:rPr lang="de-DE" sz="2500" dirty="0" smtClean="0"/>
              <a:t>Fortschritt Sonstige Kosten</a:t>
            </a:r>
          </a:p>
          <a:p>
            <a:r>
              <a:rPr lang="de-DE" sz="2500" dirty="0" smtClean="0"/>
              <a:t>Fortschritt Gesamtkosten</a:t>
            </a:r>
          </a:p>
          <a:p>
            <a:r>
              <a:rPr lang="de-DE" sz="2500" dirty="0" smtClean="0"/>
              <a:t>Fortschritt Rolle(…)</a:t>
            </a:r>
          </a:p>
          <a:p>
            <a:r>
              <a:rPr lang="de-DE" sz="2500" dirty="0" smtClean="0"/>
              <a:t>Fortschritt Kostenart(…)</a:t>
            </a:r>
          </a:p>
          <a:p>
            <a:endParaRPr lang="de-DE" sz="25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Personalkosten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Sonstige 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Gesamtkosten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Rolle (…)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Kostenart (…)</a:t>
            </a:r>
          </a:p>
          <a:p>
            <a:endParaRPr lang="de-DE" sz="2500" dirty="0" smtClean="0"/>
          </a:p>
          <a:p>
            <a:r>
              <a:rPr lang="de-DE" sz="2500" dirty="0" smtClean="0"/>
              <a:t>Ampel-Farbe</a:t>
            </a:r>
          </a:p>
          <a:p>
            <a:r>
              <a:rPr lang="de-DE" sz="2500" dirty="0" smtClean="0"/>
              <a:t>Beschreibung</a:t>
            </a:r>
          </a:p>
          <a:p>
            <a:r>
              <a:rPr lang="de-DE" sz="2500" dirty="0" smtClean="0"/>
              <a:t>Stand:</a:t>
            </a:r>
          </a:p>
          <a:p>
            <a:r>
              <a:rPr lang="de-DE" sz="2500" dirty="0" smtClean="0"/>
              <a:t>Laufzeit:</a:t>
            </a:r>
          </a:p>
          <a:p>
            <a:r>
              <a:rPr lang="de-DE" sz="2500" dirty="0" smtClean="0"/>
              <a:t>Verantwortlich: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 smtClean="0"/>
              <a:t>Projekt-Name</a:t>
            </a:r>
          </a:p>
          <a:p>
            <a:r>
              <a:rPr lang="de-DE" sz="2500" dirty="0" smtClean="0"/>
              <a:t>Ergebnis</a:t>
            </a:r>
          </a:p>
          <a:p>
            <a:r>
              <a:rPr lang="de-DE" sz="2500" dirty="0" smtClean="0"/>
              <a:t>Strategie/Risiko</a:t>
            </a:r>
          </a:p>
          <a:p>
            <a:r>
              <a:rPr lang="de-DE" sz="2500" dirty="0" smtClean="0"/>
              <a:t>Teilprojekte</a:t>
            </a:r>
          </a:p>
          <a:p>
            <a:r>
              <a:rPr lang="de-DE" sz="2500" dirty="0" smtClean="0"/>
              <a:t>Personalbedarf</a:t>
            </a:r>
          </a:p>
          <a:p>
            <a:r>
              <a:rPr lang="de-DE" sz="2500" dirty="0" smtClean="0"/>
              <a:t>Personalkosten</a:t>
            </a:r>
          </a:p>
          <a:p>
            <a:r>
              <a:rPr lang="de-DE" sz="2500" dirty="0" smtClean="0"/>
              <a:t>Sonstige Kosten</a:t>
            </a:r>
          </a:p>
          <a:p>
            <a:r>
              <a:rPr lang="de-DE" sz="2500" dirty="0" smtClean="0"/>
              <a:t>Gesamtkosten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3600" dirty="0" smtClean="0"/>
              <a:t>Vergleich mit Vorlage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4400" dirty="0" smtClean="0"/>
              <a:t>Vergleich mit Beauftragung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kumimoji="0" lang="de-DE" sz="5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4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r>
              <a:rPr lang="de-DE" sz="2500" dirty="0" smtClean="0"/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  <a:endParaRPr lang="de-DE" sz="2500" dirty="0" smtClean="0"/>
          </a:p>
          <a:p>
            <a:r>
              <a:rPr lang="de-DE" sz="2500" dirty="0" smtClean="0"/>
              <a:t>Tabelle Vergleich letzter Stand</a:t>
            </a:r>
          </a:p>
          <a:p>
            <a:r>
              <a:rPr lang="de-DE" sz="2500" dirty="0" smtClean="0"/>
              <a:t>Tabelle Vergleich Beauftragung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800" dirty="0" smtClean="0"/>
              <a:t>Meilenstein Trendanalyse(..)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Fortschritt Personalkosten</a:t>
            </a:r>
          </a:p>
          <a:p>
            <a:r>
              <a:rPr lang="de-DE" sz="2500" dirty="0" smtClean="0"/>
              <a:t>Fortschritt Sonstige Kosten</a:t>
            </a:r>
          </a:p>
          <a:p>
            <a:r>
              <a:rPr lang="de-DE" sz="2500" dirty="0" smtClean="0"/>
              <a:t>Fortschritt Gesamtkosten</a:t>
            </a:r>
          </a:p>
          <a:p>
            <a:r>
              <a:rPr lang="de-DE" sz="2500" dirty="0" smtClean="0"/>
              <a:t>Fortschritt Rolle(…)</a:t>
            </a:r>
          </a:p>
          <a:p>
            <a:r>
              <a:rPr lang="de-DE" sz="2500" dirty="0" smtClean="0"/>
              <a:t>Fortschritt Kostenart(…)</a:t>
            </a:r>
          </a:p>
          <a:p>
            <a:endParaRPr lang="de-DE" sz="25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Personalkosten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Sonstige 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Gesamtkosten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Rolle (…)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Kostenart (…)</a:t>
            </a:r>
          </a:p>
          <a:p>
            <a:endParaRPr lang="de-DE" sz="2500" dirty="0" smtClean="0"/>
          </a:p>
          <a:p>
            <a:r>
              <a:rPr lang="de-DE" sz="2500" dirty="0" smtClean="0"/>
              <a:t>Ampel-Farbe</a:t>
            </a:r>
          </a:p>
          <a:p>
            <a:r>
              <a:rPr lang="de-DE" sz="2500" dirty="0" smtClean="0"/>
              <a:t>Beschreibung</a:t>
            </a:r>
          </a:p>
          <a:p>
            <a:r>
              <a:rPr lang="de-DE" sz="2500" dirty="0" smtClean="0"/>
              <a:t>Stand:</a:t>
            </a:r>
          </a:p>
          <a:p>
            <a:r>
              <a:rPr lang="de-DE" sz="2500" dirty="0" smtClean="0"/>
              <a:t>Laufzeit:</a:t>
            </a:r>
          </a:p>
          <a:p>
            <a:r>
              <a:rPr lang="de-DE" sz="2500" dirty="0" smtClean="0"/>
              <a:t>Verantwortlich: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 smtClean="0"/>
              <a:t>Projekt-Name</a:t>
            </a:r>
          </a:p>
          <a:p>
            <a:r>
              <a:rPr lang="de-DE" sz="2500" dirty="0" smtClean="0"/>
              <a:t>Ergebnis</a:t>
            </a:r>
          </a:p>
          <a:p>
            <a:r>
              <a:rPr lang="de-DE" sz="2500" dirty="0" smtClean="0"/>
              <a:t>Strategie/Risiko</a:t>
            </a:r>
          </a:p>
          <a:p>
            <a:r>
              <a:rPr lang="de-DE" sz="2500" dirty="0" smtClean="0"/>
              <a:t>Teilprojekte</a:t>
            </a:r>
          </a:p>
          <a:p>
            <a:r>
              <a:rPr lang="de-DE" sz="2500" dirty="0" smtClean="0"/>
              <a:t>Personalbedarf</a:t>
            </a:r>
          </a:p>
          <a:p>
            <a:r>
              <a:rPr lang="de-DE" sz="2500" dirty="0" smtClean="0"/>
              <a:t>Personalkosten</a:t>
            </a:r>
          </a:p>
          <a:p>
            <a:r>
              <a:rPr lang="de-DE" sz="2500" dirty="0" smtClean="0"/>
              <a:t>Sonstige Kosten</a:t>
            </a:r>
          </a:p>
          <a:p>
            <a:r>
              <a:rPr lang="de-DE" sz="2500" dirty="0" smtClean="0"/>
              <a:t>Gesamtkosten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3600" dirty="0" smtClean="0"/>
              <a:t>Vergleich mit Vorlage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4400" dirty="0" smtClean="0"/>
              <a:t>Vergleich mit Beauftragung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kumimoji="0" lang="de-DE" sz="5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4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r>
              <a:rPr lang="de-DE" sz="2500" dirty="0" smtClean="0"/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  <a:endParaRPr lang="de-DE" sz="2500" dirty="0" smtClean="0"/>
          </a:p>
          <a:p>
            <a:r>
              <a:rPr lang="de-DE" sz="2500" dirty="0" smtClean="0"/>
              <a:t>Tabelle Vergleich letzter Stand</a:t>
            </a:r>
          </a:p>
          <a:p>
            <a:r>
              <a:rPr lang="de-DE" sz="2500" dirty="0" smtClean="0"/>
              <a:t>Tabelle Vergleich Beauftragung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800" dirty="0" smtClean="0"/>
              <a:t>Meilenstein Trendanalyse(..)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Fortschritt Personalkosten</a:t>
            </a:r>
          </a:p>
          <a:p>
            <a:r>
              <a:rPr lang="de-DE" sz="2500" dirty="0" smtClean="0"/>
              <a:t>Fortschritt Sonstige Kosten</a:t>
            </a:r>
          </a:p>
          <a:p>
            <a:r>
              <a:rPr lang="de-DE" sz="2500" dirty="0" smtClean="0"/>
              <a:t>Fortschritt Gesamtkosten</a:t>
            </a:r>
          </a:p>
          <a:p>
            <a:r>
              <a:rPr lang="de-DE" sz="2500" dirty="0" smtClean="0"/>
              <a:t>Fortschritt Rolle(…)</a:t>
            </a:r>
          </a:p>
          <a:p>
            <a:r>
              <a:rPr lang="de-DE" sz="2500" dirty="0" smtClean="0"/>
              <a:t>Fortschritt Kostenart(…)</a:t>
            </a:r>
          </a:p>
          <a:p>
            <a:endParaRPr lang="de-DE" sz="25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Personalkosten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Sonstige 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Gesamtkosten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Rolle (…)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Kostenart (…)</a:t>
            </a:r>
          </a:p>
          <a:p>
            <a:endParaRPr lang="de-DE" sz="2500" dirty="0" smtClean="0"/>
          </a:p>
          <a:p>
            <a:r>
              <a:rPr lang="de-DE" sz="2500" dirty="0" smtClean="0"/>
              <a:t>Ampel-Farbe</a:t>
            </a:r>
          </a:p>
          <a:p>
            <a:r>
              <a:rPr lang="de-DE" sz="2500" dirty="0" smtClean="0"/>
              <a:t>Beschreibung</a:t>
            </a:r>
          </a:p>
          <a:p>
            <a:r>
              <a:rPr lang="de-DE" sz="2500" dirty="0" smtClean="0"/>
              <a:t>Stand:</a:t>
            </a:r>
          </a:p>
          <a:p>
            <a:r>
              <a:rPr lang="de-DE" sz="2500" dirty="0" smtClean="0"/>
              <a:t>Laufzeit:</a:t>
            </a:r>
          </a:p>
          <a:p>
            <a:r>
              <a:rPr lang="de-DE" sz="2500" dirty="0" smtClean="0"/>
              <a:t>Verantwortlich: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timing>
    <p:tnLst>
      <p:par>
        <p:cTn id="1" dur="indefinite" restart="never" nodeType="tmRoot"/>
      </p:par>
    </p:tnLst>
  </p:timing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Soll-Ist Überblick (aktuell vs. Beauftragung) 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Ergebnis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8" name="Rechteck 17"/>
          <p:cNvSpPr/>
          <p:nvPr/>
        </p:nvSpPr>
        <p:spPr bwMode="auto">
          <a:xfrm>
            <a:off x="6646416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 smtClean="0">
                <a:solidFill>
                  <a:schemeClr val="bg2"/>
                </a:solidFill>
              </a:rPr>
              <a:t>Ergebnis (Beauftragung)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558184" y="4804792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Personalkosten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0" name="Rechteck 19"/>
          <p:cNvSpPr/>
          <p:nvPr/>
        </p:nvSpPr>
        <p:spPr bwMode="auto">
          <a:xfrm>
            <a:off x="453728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Gesamtkosten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8659422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Sonstige Kosten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6296842" y="7562190"/>
            <a:ext cx="65277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Werte sind auf ganze Zahlen gerundet – deswegen kann es zu kleinen Unterschieden zwischen Detail- und Summenbetrachtung kommen </a:t>
            </a:r>
            <a:endParaRPr lang="de-DE" sz="800" dirty="0"/>
          </a:p>
        </p:txBody>
      </p:sp>
      <p:graphicFrame>
        <p:nvGraphicFramePr>
          <p:cNvPr id="13" name="Tabelle 12" title="Tabelle Projekt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86554"/>
              </p:ext>
            </p:extLst>
          </p:nvPr>
        </p:nvGraphicFramePr>
        <p:xfrm>
          <a:off x="453728" y="7829128"/>
          <a:ext cx="12241360" cy="8053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10057"/>
                <a:gridCol w="11731303"/>
              </a:tblGrid>
              <a:tr h="360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800" kern="1200" dirty="0" smtClean="0"/>
                        <a:t>Aktuelle Gesamt-Einschätzung</a:t>
                      </a:r>
                      <a:r>
                        <a:rPr lang="de-DE" sz="1800" kern="1200" baseline="0" dirty="0" smtClean="0"/>
                        <a:t> des Projekts</a:t>
                      </a:r>
                      <a:endParaRPr lang="de-DE" sz="18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4395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  <a:latin typeface="+mn-lt"/>
                        </a:rPr>
                        <a:t>Erläuterung</a:t>
                      </a:r>
                      <a:endParaRPr lang="de-DE" sz="11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791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Soll-Ist Überblick (aktuell vs. </a:t>
            </a:r>
            <a:r>
              <a:rPr lang="de-DE" sz="4400" dirty="0" smtClean="0"/>
              <a:t>letzter </a:t>
            </a:r>
            <a:r>
              <a:rPr lang="de-DE" sz="4400" dirty="0" smtClean="0"/>
              <a:t>Stand) 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Ergebnis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8" name="Rechteck 17"/>
          <p:cNvSpPr/>
          <p:nvPr/>
        </p:nvSpPr>
        <p:spPr bwMode="auto">
          <a:xfrm>
            <a:off x="6646416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 smtClean="0">
                <a:solidFill>
                  <a:schemeClr val="bg2"/>
                </a:solidFill>
              </a:rPr>
              <a:t>Ergebnis (last)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558184" y="4804792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Soll-Ist2 Personalkosten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0" name="Rechteck 19"/>
          <p:cNvSpPr/>
          <p:nvPr/>
        </p:nvSpPr>
        <p:spPr bwMode="auto">
          <a:xfrm>
            <a:off x="453728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Soll-Ist2 Gesamtkosten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8659422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Soll-Ist2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Sonstige Kosten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6296842" y="7562190"/>
            <a:ext cx="65277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Werte sind auf ganze Zahlen gerundet – deswegen kann es zu kleinen Unterschieden zwischen Detail- und Summenbetrachtung kommen </a:t>
            </a:r>
            <a:endParaRPr lang="de-DE" sz="800" dirty="0"/>
          </a:p>
        </p:txBody>
      </p:sp>
      <p:sp>
        <p:nvSpPr>
          <p:cNvPr id="16" name="Textfeld 15"/>
          <p:cNvSpPr txBox="1"/>
          <p:nvPr/>
        </p:nvSpPr>
        <p:spPr>
          <a:xfrm>
            <a:off x="1509637" y="8339481"/>
            <a:ext cx="1752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Projekt-Name</a:t>
            </a:r>
            <a:endParaRPr lang="de-DE" sz="2000" dirty="0"/>
          </a:p>
        </p:txBody>
      </p:sp>
      <p:sp>
        <p:nvSpPr>
          <p:cNvPr id="17" name="Textfeld 16"/>
          <p:cNvSpPr txBox="1"/>
          <p:nvPr/>
        </p:nvSpPr>
        <p:spPr>
          <a:xfrm>
            <a:off x="381720" y="8339481"/>
            <a:ext cx="11240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Projekt: 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4002259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Soll-Ist Ressourcen Planung </a:t>
            </a:r>
            <a:br>
              <a:rPr lang="de-DE" sz="4400" dirty="0" smtClean="0"/>
            </a:br>
            <a:r>
              <a:rPr lang="de-DE" sz="4400" dirty="0" smtClean="0"/>
              <a:t> </a:t>
            </a:r>
            <a:r>
              <a:rPr lang="de-DE" sz="4400" dirty="0" smtClean="0"/>
              <a:t>(aktuell vs. Beauftragung)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0" name="Rechteck 19"/>
          <p:cNvSpPr/>
          <p:nvPr/>
        </p:nvSpPr>
        <p:spPr bwMode="auto">
          <a:xfrm>
            <a:off x="8647166" y="47766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Soll-Ist1 Rolle(Tester)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1509637" y="8339481"/>
            <a:ext cx="1752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Projekt-Name</a:t>
            </a:r>
            <a:endParaRPr lang="de-DE" sz="2000" dirty="0"/>
          </a:p>
        </p:txBody>
      </p:sp>
      <p:sp>
        <p:nvSpPr>
          <p:cNvPr id="16" name="Rechteck 15"/>
          <p:cNvSpPr/>
          <p:nvPr/>
        </p:nvSpPr>
        <p:spPr bwMode="auto">
          <a:xfrm>
            <a:off x="453728" y="197641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Rolle(Projektleiter)</a:t>
            </a:r>
          </a:p>
        </p:txBody>
      </p:sp>
      <p:sp>
        <p:nvSpPr>
          <p:cNvPr id="17" name="Rechteck 16"/>
          <p:cNvSpPr/>
          <p:nvPr/>
        </p:nvSpPr>
        <p:spPr bwMode="auto">
          <a:xfrm>
            <a:off x="4558184" y="196922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Rolle(GUI Spezialist)</a:t>
            </a:r>
          </a:p>
        </p:txBody>
      </p:sp>
      <p:sp>
        <p:nvSpPr>
          <p:cNvPr id="21" name="Rechteck 20"/>
          <p:cNvSpPr/>
          <p:nvPr/>
        </p:nvSpPr>
        <p:spPr bwMode="auto">
          <a:xfrm>
            <a:off x="8662640" y="196034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Soll-Ist1 Rolle(Analyst)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2" name="Textfeld 21"/>
          <p:cNvSpPr txBox="1"/>
          <p:nvPr/>
        </p:nvSpPr>
        <p:spPr>
          <a:xfrm>
            <a:off x="381720" y="8339481"/>
            <a:ext cx="11240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Projekt: </a:t>
            </a:r>
            <a:endParaRPr lang="de-DE" sz="2000" dirty="0"/>
          </a:p>
        </p:txBody>
      </p:sp>
      <p:sp>
        <p:nvSpPr>
          <p:cNvPr id="12" name="Rechteck 11"/>
          <p:cNvSpPr/>
          <p:nvPr/>
        </p:nvSpPr>
        <p:spPr bwMode="auto">
          <a:xfrm>
            <a:off x="4558184" y="4784723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Rolle(Entwickler)</a:t>
            </a:r>
          </a:p>
        </p:txBody>
      </p:sp>
      <p:sp>
        <p:nvSpPr>
          <p:cNvPr id="13" name="Rechteck 12"/>
          <p:cNvSpPr/>
          <p:nvPr/>
        </p:nvSpPr>
        <p:spPr bwMode="auto">
          <a:xfrm>
            <a:off x="453728" y="4784723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Rolle(Architekt)</a:t>
            </a:r>
          </a:p>
        </p:txBody>
      </p:sp>
    </p:spTree>
    <p:extLst>
      <p:ext uri="{BB962C8B-B14F-4D97-AF65-F5344CB8AC3E}">
        <p14:creationId xmlns:p14="http://schemas.microsoft.com/office/powerpoint/2010/main" val="3688781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Soll-Ist Ressourcen Planung </a:t>
            </a:r>
            <a:br>
              <a:rPr lang="de-DE" sz="4400" dirty="0" smtClean="0"/>
            </a:br>
            <a:r>
              <a:rPr lang="de-DE" sz="4400" dirty="0" smtClean="0"/>
              <a:t> </a:t>
            </a:r>
            <a:r>
              <a:rPr lang="de-DE" sz="4400" dirty="0" smtClean="0"/>
              <a:t>(aktuell vs. letzter Stand)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0" name="Rechteck 19"/>
          <p:cNvSpPr/>
          <p:nvPr/>
        </p:nvSpPr>
        <p:spPr bwMode="auto">
          <a:xfrm>
            <a:off x="8647166" y="4784723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Soll-Ist2 Rolle(Tester)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1509637" y="8339481"/>
            <a:ext cx="1752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Projekt-Name</a:t>
            </a:r>
            <a:endParaRPr lang="de-DE" sz="2000" dirty="0"/>
          </a:p>
        </p:txBody>
      </p:sp>
      <p:sp>
        <p:nvSpPr>
          <p:cNvPr id="16" name="Rechteck 15"/>
          <p:cNvSpPr/>
          <p:nvPr/>
        </p:nvSpPr>
        <p:spPr bwMode="auto">
          <a:xfrm>
            <a:off x="453728" y="197641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Soll-Ist2 Rolle(Projektleiter)</a:t>
            </a:r>
          </a:p>
        </p:txBody>
      </p:sp>
      <p:sp>
        <p:nvSpPr>
          <p:cNvPr id="17" name="Rechteck 16"/>
          <p:cNvSpPr/>
          <p:nvPr/>
        </p:nvSpPr>
        <p:spPr bwMode="auto">
          <a:xfrm>
            <a:off x="4558184" y="196922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Soll-Ist2 Rolle(GUI Spezialist)</a:t>
            </a:r>
          </a:p>
        </p:txBody>
      </p:sp>
      <p:sp>
        <p:nvSpPr>
          <p:cNvPr id="21" name="Rechteck 20"/>
          <p:cNvSpPr/>
          <p:nvPr/>
        </p:nvSpPr>
        <p:spPr bwMode="auto">
          <a:xfrm>
            <a:off x="8662640" y="196034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Soll-Ist2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Rolle(Analyst)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2" name="Textfeld 21"/>
          <p:cNvSpPr txBox="1"/>
          <p:nvPr/>
        </p:nvSpPr>
        <p:spPr>
          <a:xfrm>
            <a:off x="381720" y="8339481"/>
            <a:ext cx="11240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Projekt: </a:t>
            </a:r>
            <a:endParaRPr lang="de-DE" sz="2000" dirty="0"/>
          </a:p>
        </p:txBody>
      </p:sp>
      <p:sp>
        <p:nvSpPr>
          <p:cNvPr id="12" name="Rechteck 11"/>
          <p:cNvSpPr/>
          <p:nvPr/>
        </p:nvSpPr>
        <p:spPr bwMode="auto">
          <a:xfrm>
            <a:off x="4558184" y="4784723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Soll-Ist2 Rolle(Entwickler)</a:t>
            </a:r>
          </a:p>
        </p:txBody>
      </p:sp>
      <p:sp>
        <p:nvSpPr>
          <p:cNvPr id="13" name="Rechteck 12"/>
          <p:cNvSpPr/>
          <p:nvPr/>
        </p:nvSpPr>
        <p:spPr bwMode="auto">
          <a:xfrm>
            <a:off x="453728" y="4784723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Soll-Ist2 Rolle(Architekt)</a:t>
            </a:r>
          </a:p>
        </p:txBody>
      </p:sp>
    </p:spTree>
    <p:extLst>
      <p:ext uri="{BB962C8B-B14F-4D97-AF65-F5344CB8AC3E}">
        <p14:creationId xmlns:p14="http://schemas.microsoft.com/office/powerpoint/2010/main" val="321202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Soll-Ist Kosten Planung </a:t>
            </a:r>
            <a:br>
              <a:rPr lang="de-DE" sz="4400" dirty="0" smtClean="0"/>
            </a:br>
            <a:r>
              <a:rPr lang="de-DE" sz="4400" dirty="0" smtClean="0"/>
              <a:t> </a:t>
            </a:r>
            <a:r>
              <a:rPr lang="de-DE" sz="4400" dirty="0"/>
              <a:t>(aktuell vs. Beauftragung)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1509637" y="8339481"/>
            <a:ext cx="1752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Projekt-Name</a:t>
            </a:r>
            <a:endParaRPr lang="de-DE" sz="2000" dirty="0"/>
          </a:p>
        </p:txBody>
      </p:sp>
      <p:sp>
        <p:nvSpPr>
          <p:cNvPr id="16" name="Rechteck 15"/>
          <p:cNvSpPr/>
          <p:nvPr/>
        </p:nvSpPr>
        <p:spPr bwMode="auto">
          <a:xfrm>
            <a:off x="453728" y="197641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/>
              <a:t>Kostenart </a:t>
            </a:r>
            <a:r>
              <a:rPr lang="de-DE" sz="1400" dirty="0" smtClean="0"/>
              <a:t>(IT-Kosten)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7" name="Rechteck 16"/>
          <p:cNvSpPr/>
          <p:nvPr/>
        </p:nvSpPr>
        <p:spPr bwMode="auto">
          <a:xfrm>
            <a:off x="4558184" y="196922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/>
              <a:t>Kostenart </a:t>
            </a:r>
            <a:r>
              <a:rPr lang="de-DE" sz="1400" dirty="0" smtClean="0"/>
              <a:t>(Reise-Kosten</a:t>
            </a:r>
            <a:r>
              <a:rPr lang="de-DE" sz="1400" dirty="0"/>
              <a:t>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1" name="Rechteck 20"/>
          <p:cNvSpPr/>
          <p:nvPr/>
        </p:nvSpPr>
        <p:spPr bwMode="auto">
          <a:xfrm>
            <a:off x="8662640" y="196034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</a:t>
            </a:r>
            <a:r>
              <a:rPr lang="de-DE" sz="1400" dirty="0"/>
              <a:t>Kostenart (Trainings-Kosten)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2" name="Textfeld 21"/>
          <p:cNvSpPr txBox="1"/>
          <p:nvPr/>
        </p:nvSpPr>
        <p:spPr>
          <a:xfrm>
            <a:off x="381720" y="8339481"/>
            <a:ext cx="11240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Projekt: 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854364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Soll-Ist Kosten Planung </a:t>
            </a:r>
            <a:br>
              <a:rPr lang="de-DE" sz="4400" dirty="0" smtClean="0"/>
            </a:br>
            <a:r>
              <a:rPr lang="de-DE" sz="4400" dirty="0" smtClean="0"/>
              <a:t> </a:t>
            </a:r>
            <a:r>
              <a:rPr lang="de-DE" sz="4400" dirty="0"/>
              <a:t>(aktuell vs. letzter Stand)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1509637" y="8339481"/>
            <a:ext cx="1752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Projekt-Name</a:t>
            </a:r>
            <a:endParaRPr lang="de-DE" sz="2000" dirty="0"/>
          </a:p>
        </p:txBody>
      </p:sp>
      <p:sp>
        <p:nvSpPr>
          <p:cNvPr id="16" name="Rechteck 15"/>
          <p:cNvSpPr/>
          <p:nvPr/>
        </p:nvSpPr>
        <p:spPr bwMode="auto">
          <a:xfrm>
            <a:off x="453728" y="197641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Soll-Ist2 </a:t>
            </a:r>
            <a:r>
              <a:rPr lang="de-DE" sz="1400" dirty="0"/>
              <a:t>Kostenart </a:t>
            </a:r>
            <a:r>
              <a:rPr lang="de-DE" sz="1400" dirty="0" smtClean="0"/>
              <a:t>(IT-Kosten)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7" name="Rechteck 16"/>
          <p:cNvSpPr/>
          <p:nvPr/>
        </p:nvSpPr>
        <p:spPr bwMode="auto">
          <a:xfrm>
            <a:off x="4558184" y="196922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Soll-Ist2 </a:t>
            </a:r>
            <a:r>
              <a:rPr lang="de-DE" sz="1400" dirty="0"/>
              <a:t>Kostenart </a:t>
            </a:r>
            <a:r>
              <a:rPr lang="de-DE" sz="1400" dirty="0" smtClean="0"/>
              <a:t>(Reise-Kosten</a:t>
            </a:r>
            <a:r>
              <a:rPr lang="de-DE" sz="1400" dirty="0"/>
              <a:t>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1" name="Rechteck 20"/>
          <p:cNvSpPr/>
          <p:nvPr/>
        </p:nvSpPr>
        <p:spPr bwMode="auto">
          <a:xfrm>
            <a:off x="8662640" y="1960341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Soll-Ist2 </a:t>
            </a:r>
            <a:r>
              <a:rPr lang="de-DE" sz="1400" dirty="0"/>
              <a:t>Kostenart (Trainings-Kosten)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22" name="Textfeld 21"/>
          <p:cNvSpPr txBox="1"/>
          <p:nvPr/>
        </p:nvSpPr>
        <p:spPr>
          <a:xfrm>
            <a:off x="381720" y="8339481"/>
            <a:ext cx="11240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smtClean="0"/>
              <a:t>Projekt: 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271158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759</Words>
  <Application>Microsoft Office PowerPoint</Application>
  <PresentationFormat>Benutzerdefiniert</PresentationFormat>
  <Paragraphs>396</Paragraphs>
  <Slides>6</Slides>
  <Notes>6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7" baseType="lpstr">
      <vt:lpstr>Larissa</vt:lpstr>
      <vt:lpstr>Soll-Ist Überblick (aktuell vs. Beauftragung) </vt:lpstr>
      <vt:lpstr>Soll-Ist Überblick (aktuell vs. letzter Stand) </vt:lpstr>
      <vt:lpstr>Soll-Ist Ressourcen Planung   (aktuell vs. Beauftragung)</vt:lpstr>
      <vt:lpstr>Soll-Ist Ressourcen Planung   (aktuell vs. letzter Stand)</vt:lpstr>
      <vt:lpstr>Soll-Ist Kosten Planung   (aktuell vs. Beauftragung)</vt:lpstr>
      <vt:lpstr>Soll-Ist Kosten Planung   (aktuell vs. letzter Stand)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105</cp:revision>
  <cp:lastPrinted>2013-11-11T22:44:44Z</cp:lastPrinted>
  <dcterms:modified xsi:type="dcterms:W3CDTF">2014-02-11T12:48:58Z</dcterms:modified>
</cp:coreProperties>
</file>