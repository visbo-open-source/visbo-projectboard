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48" r:id="rId1"/>
  </p:sldMasterIdLst>
  <p:notesMasterIdLst>
    <p:notesMasterId r:id="rId8"/>
  </p:notesMasterIdLst>
  <p:sldIdLst>
    <p:sldId id="282" r:id="rId2"/>
    <p:sldId id="281" r:id="rId3"/>
    <p:sldId id="277" r:id="rId4"/>
    <p:sldId id="280" r:id="rId5"/>
    <p:sldId id="278" r:id="rId6"/>
    <p:sldId id="279" r:id="rId7"/>
  </p:sldIdLst>
  <p:sldSz cx="13004800" cy="9753600"/>
  <p:notesSz cx="6864350" cy="9996488"/>
  <p:defaultTextStyle>
    <a:defPPr>
      <a:defRPr lang="de-DE"/>
    </a:defPPr>
    <a:lvl1pPr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1pPr>
    <a:lvl2pPr marL="3429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2pPr>
    <a:lvl3pPr marL="6858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3pPr>
    <a:lvl4pPr marL="10287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4pPr>
    <a:lvl5pPr marL="13716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5pPr>
    <a:lvl6pPr marL="22860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6pPr>
    <a:lvl7pPr marL="27432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7pPr>
    <a:lvl8pPr marL="32004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8pPr>
    <a:lvl9pPr marL="36576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5659" autoAdjust="0"/>
  </p:normalViewPr>
  <p:slideViewPr>
    <p:cSldViewPr>
      <p:cViewPr>
        <p:scale>
          <a:sx n="66" d="100"/>
          <a:sy n="66" d="100"/>
        </p:scale>
        <p:origin x="-2016" y="-72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806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933450" y="749300"/>
            <a:ext cx="4997450" cy="374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4" name="Rectangle 2"/>
          <p:cNvSpPr>
            <a:spLocks noGrp="1"/>
          </p:cNvSpPr>
          <p:nvPr>
            <p:ph type="body" sz="quarter" idx="3"/>
          </p:nvPr>
        </p:nvSpPr>
        <p:spPr bwMode="auto">
          <a:xfrm>
            <a:off x="915247" y="4748332"/>
            <a:ext cx="5033857" cy="4498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6341" tIns="48171" rIns="96341" bIns="481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>
                <a:sym typeface="Noteworthy Bold" charset="0"/>
              </a:rPr>
              <a:t>Click to edit Master text styles</a:t>
            </a:r>
          </a:p>
          <a:p>
            <a:pPr lvl="1"/>
            <a:r>
              <a:rPr lang="de-DE" smtClean="0">
                <a:sym typeface="Noteworthy Bold" charset="0"/>
              </a:rPr>
              <a:t>Second level</a:t>
            </a:r>
          </a:p>
          <a:p>
            <a:pPr lvl="2"/>
            <a:r>
              <a:rPr lang="de-DE" smtClean="0">
                <a:sym typeface="Noteworthy Bold" charset="0"/>
              </a:rPr>
              <a:t>Third level</a:t>
            </a:r>
          </a:p>
          <a:p>
            <a:pPr lvl="3"/>
            <a:r>
              <a:rPr lang="de-DE" smtClean="0">
                <a:sym typeface="Noteworthy Bold" charset="0"/>
              </a:rPr>
              <a:t>Fourth level</a:t>
            </a:r>
          </a:p>
          <a:p>
            <a:pPr lvl="4"/>
            <a:r>
              <a:rPr lang="de-DE" smtClean="0">
                <a:sym typeface="Noteworthy Bold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167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1pPr>
    <a:lvl2pPr marL="3429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2pPr>
    <a:lvl3pPr marL="6858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3pPr>
    <a:lvl4pPr marL="10287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4pPr>
    <a:lvl5pPr marL="13716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Projekt-Name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 &amp; Prognose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Projekt-Grafik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Trendanalyse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letztem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Vorlage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Projektziele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Veränderungen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letzter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Teilprojekte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Personalbedarf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Strategischer Fit/Risiko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Kennzahlen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Rolle(..)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Kostenart(..)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Ampel-Farbe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Beschreibung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Laufzeit: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Verantwortlich: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--------------------------------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800" dirty="0" smtClean="0"/>
              <a:t> </a:t>
            </a:r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Projekt-Name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 &amp; Prognose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Projekt-Grafik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Trendanalyse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letztem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Vorlage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Projektziele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Veränderungen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letzter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Teilprojekte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Personalbedarf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Strategischer Fit/Risiko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Kennzahlen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Rolle(..)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Kostenart(..)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Ampel-Farbe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Beschreibung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Laufzeit: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Verantwortlich: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--------------------------------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800" dirty="0" smtClean="0"/>
              <a:t> </a:t>
            </a:r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Projekt-Name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 &amp; Prognose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Projekt-Grafik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Trendanalyse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letztem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Vorlage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Projektziele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Veränderungen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letzter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Teilprojekte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Personalbedarf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Strategischer Fit/Risiko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Kennzahlen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Rolle(..)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Kostenart(..)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Ampel-Farbe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Beschreibung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Laufzeit: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Verantwortlich: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--------------------------------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800" dirty="0" smtClean="0"/>
              <a:t> </a:t>
            </a:r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Projekt-Name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 &amp; Prognose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Projekt-Grafik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Trendanalyse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letztem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Vorlage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Projektziele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Veränderungen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letzter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Teilprojekte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Personalbedarf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Strategischer Fit/Risiko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Kennzahlen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Rolle(..)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Kostenart(..)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Ampel-Farbe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Beschreibung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Laufzeit: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Verantwortlich: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--------------------------------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800" dirty="0" smtClean="0"/>
              <a:t> </a:t>
            </a:r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Projekt-Name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 &amp; Prognose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Projekt-Grafik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Trendanalyse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letztem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Vorlage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Projektziele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Veränderungen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letzter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Teilprojekte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Personalbedarf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Strategischer Fit/Risiko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Kennzahlen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Rolle(..)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Kostenart(..)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Ampel-Farbe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Beschreibung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Laufzeit: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Verantwortlich: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--------------------------------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800" dirty="0" smtClean="0"/>
              <a:t> </a:t>
            </a:r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Projekt-Name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 &amp; Prognose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Projekt-Grafik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Trendanalyse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letztem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Vorlage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Projektziele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Veränderungen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letzter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Teilprojekte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Personalbedarf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Strategischer Fit/Risiko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Kennzahlen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Rolle(..)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Kostenart(..)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Ampel-Farbe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Beschreibung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Laufzeit: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Verantwortlich: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--------------------------------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800" smtClean="0"/>
              <a:t> </a:t>
            </a:r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684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355600" y="484312"/>
            <a:ext cx="12293600" cy="12827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/>
          </p:cNvSpPr>
          <p:nvPr>
            <p:ph type="title"/>
          </p:nvPr>
        </p:nvSpPr>
        <p:spPr bwMode="auto">
          <a:xfrm>
            <a:off x="355600" y="7416800"/>
            <a:ext cx="122936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>
                <a:sym typeface="Gill Sans Light" charset="0"/>
              </a:rPr>
              <a:t>Click </a:t>
            </a:r>
            <a:r>
              <a:rPr lang="de-DE" dirty="0" err="1" smtClean="0">
                <a:sym typeface="Gill Sans Light" charset="0"/>
              </a:rPr>
              <a:t>to</a:t>
            </a:r>
            <a:r>
              <a:rPr lang="de-DE" dirty="0" smtClean="0">
                <a:sym typeface="Gill Sans Light" charset="0"/>
              </a:rPr>
              <a:t> </a:t>
            </a:r>
            <a:r>
              <a:rPr lang="de-DE" dirty="0" err="1" smtClean="0">
                <a:sym typeface="Gill Sans Light" charset="0"/>
              </a:rPr>
              <a:t>edit</a:t>
            </a:r>
            <a:r>
              <a:rPr lang="de-DE" dirty="0" smtClean="0">
                <a:sym typeface="Gill Sans Light" charset="0"/>
              </a:rPr>
              <a:t> Master title style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2412" y="9316381"/>
            <a:ext cx="963712" cy="400031"/>
          </a:xfrm>
          <a:prstGeom prst="rect">
            <a:avLst/>
          </a:prstGeom>
        </p:spPr>
      </p:pic>
      <p:sp>
        <p:nvSpPr>
          <p:cNvPr id="4" name="Textfeld 3"/>
          <p:cNvSpPr txBox="1"/>
          <p:nvPr userDrawn="1"/>
        </p:nvSpPr>
        <p:spPr>
          <a:xfrm>
            <a:off x="10900492" y="9414811"/>
            <a:ext cx="1075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 err="1" smtClean="0"/>
              <a:t>Generated</a:t>
            </a:r>
            <a:r>
              <a:rPr lang="de-DE" sz="1050" dirty="0" smtClean="0"/>
              <a:t> by </a:t>
            </a:r>
            <a:endParaRPr lang="de-DE" sz="1050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4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+mj-lt"/>
          <a:ea typeface="+mj-ea"/>
          <a:cs typeface="+mj-cs"/>
          <a:sym typeface="Gill Sans Light" charset="0"/>
        </a:defRPr>
      </a:lvl1pPr>
      <a:lvl2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2pPr>
      <a:lvl3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3pPr>
      <a:lvl4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4pPr>
      <a:lvl5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9pPr>
    </p:titleStyle>
    <p:bodyStyle>
      <a:lvl1pPr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1pPr>
      <a:lvl2pPr marL="3429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2pPr>
      <a:lvl3pPr marL="685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3pPr>
      <a:lvl4pPr marL="10287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4pPr>
      <a:lvl5pPr marL="13716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5pPr>
      <a:lvl6pPr marL="1828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6pPr>
      <a:lvl7pPr marL="22860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7pPr>
      <a:lvl8pPr marL="27432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8pPr>
      <a:lvl9pPr marL="32004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Soll-Ist Überblick (aktuell vs. Beauftragung) 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 bwMode="auto">
          <a:xfrm>
            <a:off x="453728" y="1492424"/>
            <a:ext cx="6048672" cy="324036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Ergebnis</a:t>
            </a:r>
            <a:endParaRPr kumimoji="0" lang="de-DE" sz="1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8" name="Rechteck 17"/>
          <p:cNvSpPr/>
          <p:nvPr/>
        </p:nvSpPr>
        <p:spPr bwMode="auto">
          <a:xfrm>
            <a:off x="6646416" y="1492424"/>
            <a:ext cx="6048672" cy="324036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400" dirty="0" smtClean="0">
                <a:solidFill>
                  <a:schemeClr val="bg2"/>
                </a:solidFill>
              </a:rPr>
              <a:t>Ergebnis (Beauftragung)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9" name="Rechteck 18"/>
          <p:cNvSpPr/>
          <p:nvPr/>
        </p:nvSpPr>
        <p:spPr bwMode="auto">
          <a:xfrm>
            <a:off x="4558184" y="4804792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Soll-Ist1 </a:t>
            </a:r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Personalkosten</a:t>
            </a:r>
            <a:endParaRPr lang="de-DE" sz="1400" dirty="0">
              <a:solidFill>
                <a:schemeClr val="bg2"/>
              </a:solidFill>
              <a:sym typeface="Noteworthy Bold" charset="0"/>
            </a:endParaRPr>
          </a:p>
        </p:txBody>
      </p:sp>
      <p:sp>
        <p:nvSpPr>
          <p:cNvPr id="20" name="Rechteck 19"/>
          <p:cNvSpPr/>
          <p:nvPr/>
        </p:nvSpPr>
        <p:spPr bwMode="auto">
          <a:xfrm>
            <a:off x="453728" y="4805237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Soll-Ist1 </a:t>
            </a:r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Gesamtkosten</a:t>
            </a:r>
            <a:endParaRPr lang="de-DE" sz="1400" dirty="0">
              <a:solidFill>
                <a:schemeClr val="bg2"/>
              </a:solidFill>
              <a:sym typeface="Noteworthy Bold" charset="0"/>
            </a:endParaRPr>
          </a:p>
        </p:txBody>
      </p:sp>
      <p:sp>
        <p:nvSpPr>
          <p:cNvPr id="11" name="Rechteck 10"/>
          <p:cNvSpPr/>
          <p:nvPr/>
        </p:nvSpPr>
        <p:spPr bwMode="auto">
          <a:xfrm>
            <a:off x="8659422" y="4805237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Soll-Ist1 Sonstige Kosten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6296842" y="7562190"/>
            <a:ext cx="65277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/>
              <a:t>Werte sind auf ganze Zahlen gerundet – deswegen kann es zu kleinen Unterschieden zwischen Detail- und Summenbetrachtung kommen </a:t>
            </a:r>
            <a:endParaRPr lang="de-DE" sz="800" dirty="0"/>
          </a:p>
        </p:txBody>
      </p:sp>
      <p:graphicFrame>
        <p:nvGraphicFramePr>
          <p:cNvPr id="13" name="Tabelle 12" title="Tabelle Projektstatu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86554"/>
              </p:ext>
            </p:extLst>
          </p:nvPr>
        </p:nvGraphicFramePr>
        <p:xfrm>
          <a:off x="453728" y="7829128"/>
          <a:ext cx="12241360" cy="8053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10057"/>
                <a:gridCol w="11731303"/>
              </a:tblGrid>
              <a:tr h="3600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endParaRPr lang="de-DE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r>
                        <a:rPr lang="de-DE" sz="1800" kern="1200" dirty="0" smtClean="0"/>
                        <a:t>Aktuelle Gesamt-Einschätzung</a:t>
                      </a:r>
                      <a:r>
                        <a:rPr lang="de-DE" sz="1800" kern="1200" baseline="0" dirty="0" smtClean="0"/>
                        <a:t> des Projekts</a:t>
                      </a:r>
                      <a:endParaRPr lang="de-DE" sz="18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395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endParaRPr lang="de-DE" sz="1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r>
                        <a:rPr lang="de-DE" sz="1100" dirty="0" smtClean="0">
                          <a:solidFill>
                            <a:schemeClr val="bg1"/>
                          </a:solidFill>
                          <a:latin typeface="+mn-lt"/>
                        </a:rPr>
                        <a:t>Erläuterung</a:t>
                      </a:r>
                      <a:endParaRPr lang="de-DE" sz="11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791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Soll-Ist Überblick (aktuell vs. letzter Stand) 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 bwMode="auto">
          <a:xfrm>
            <a:off x="453728" y="1492424"/>
            <a:ext cx="6048672" cy="324036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Ergebnis</a:t>
            </a:r>
            <a:endParaRPr kumimoji="0" lang="de-DE" sz="1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8" name="Rechteck 17"/>
          <p:cNvSpPr/>
          <p:nvPr/>
        </p:nvSpPr>
        <p:spPr bwMode="auto">
          <a:xfrm>
            <a:off x="6646416" y="1492424"/>
            <a:ext cx="6048672" cy="324036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400" dirty="0" smtClean="0">
                <a:solidFill>
                  <a:schemeClr val="bg2"/>
                </a:solidFill>
              </a:rPr>
              <a:t>Ergebnis (last)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9" name="Rechteck 18"/>
          <p:cNvSpPr/>
          <p:nvPr/>
        </p:nvSpPr>
        <p:spPr bwMode="auto">
          <a:xfrm>
            <a:off x="4558184" y="4804792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Soll-Ist2 Personalkosten</a:t>
            </a:r>
            <a:endParaRPr lang="de-DE" sz="1400" dirty="0">
              <a:solidFill>
                <a:schemeClr val="bg2"/>
              </a:solidFill>
              <a:sym typeface="Noteworthy Bold" charset="0"/>
            </a:endParaRPr>
          </a:p>
        </p:txBody>
      </p:sp>
      <p:sp>
        <p:nvSpPr>
          <p:cNvPr id="20" name="Rechteck 19"/>
          <p:cNvSpPr/>
          <p:nvPr/>
        </p:nvSpPr>
        <p:spPr bwMode="auto">
          <a:xfrm>
            <a:off x="453728" y="4805237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Soll-Ist2 Gesamtkosten</a:t>
            </a:r>
            <a:endParaRPr lang="de-DE" sz="1400" dirty="0">
              <a:solidFill>
                <a:schemeClr val="bg2"/>
              </a:solidFill>
              <a:sym typeface="Noteworthy Bold" charset="0"/>
            </a:endParaRPr>
          </a:p>
        </p:txBody>
      </p:sp>
      <p:sp>
        <p:nvSpPr>
          <p:cNvPr id="11" name="Rechteck 10"/>
          <p:cNvSpPr/>
          <p:nvPr/>
        </p:nvSpPr>
        <p:spPr bwMode="auto">
          <a:xfrm>
            <a:off x="8659422" y="4805237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Soll-Ist2 </a:t>
            </a:r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Sonstige Kosten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6296842" y="7562190"/>
            <a:ext cx="65277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/>
              <a:t>Werte sind auf ganze Zahlen gerundet – deswegen kann es zu kleinen Unterschieden zwischen Detail- und Summenbetrachtung kommen </a:t>
            </a:r>
            <a:endParaRPr lang="de-DE" sz="800" dirty="0"/>
          </a:p>
        </p:txBody>
      </p:sp>
      <p:sp>
        <p:nvSpPr>
          <p:cNvPr id="16" name="Textfeld 15"/>
          <p:cNvSpPr txBox="1"/>
          <p:nvPr/>
        </p:nvSpPr>
        <p:spPr>
          <a:xfrm>
            <a:off x="1509637" y="8339481"/>
            <a:ext cx="1752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/>
              <a:t>Projekt-Name</a:t>
            </a:r>
            <a:endParaRPr lang="de-DE" sz="2000" dirty="0"/>
          </a:p>
        </p:txBody>
      </p:sp>
      <p:sp>
        <p:nvSpPr>
          <p:cNvPr id="17" name="Textfeld 16"/>
          <p:cNvSpPr txBox="1"/>
          <p:nvPr/>
        </p:nvSpPr>
        <p:spPr>
          <a:xfrm>
            <a:off x="381720" y="8339481"/>
            <a:ext cx="1124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/>
              <a:t>Projekt: 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4002259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Soll-Ist Ressourcen Planung </a:t>
            </a:r>
            <a:br>
              <a:rPr lang="de-DE" sz="4400" dirty="0" smtClean="0"/>
            </a:br>
            <a:r>
              <a:rPr lang="de-DE" sz="4400" dirty="0" smtClean="0"/>
              <a:t> (aktuell vs. Beauftragung)</a:t>
            </a:r>
            <a:endParaRPr lang="de-DE" dirty="0"/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20" name="Rechteck 19"/>
          <p:cNvSpPr/>
          <p:nvPr/>
        </p:nvSpPr>
        <p:spPr bwMode="auto">
          <a:xfrm>
            <a:off x="8647166" y="4776637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Soll-Ist1 Rolle(Tester)</a:t>
            </a:r>
            <a:endParaRPr lang="de-DE" sz="1400" dirty="0">
              <a:solidFill>
                <a:schemeClr val="bg2"/>
              </a:solidFill>
              <a:sym typeface="Noteworthy Bold" charset="0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1509637" y="8339481"/>
            <a:ext cx="1752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/>
              <a:t>Projekt-Name</a:t>
            </a:r>
            <a:endParaRPr lang="de-DE" sz="2000" dirty="0"/>
          </a:p>
        </p:txBody>
      </p:sp>
      <p:sp>
        <p:nvSpPr>
          <p:cNvPr id="16" name="Rechteck 15"/>
          <p:cNvSpPr/>
          <p:nvPr/>
        </p:nvSpPr>
        <p:spPr bwMode="auto">
          <a:xfrm>
            <a:off x="453728" y="1976411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Soll-Ist1 </a:t>
            </a:r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Rolle(Projektleiter)</a:t>
            </a:r>
          </a:p>
        </p:txBody>
      </p:sp>
      <p:sp>
        <p:nvSpPr>
          <p:cNvPr id="17" name="Rechteck 16"/>
          <p:cNvSpPr/>
          <p:nvPr/>
        </p:nvSpPr>
        <p:spPr bwMode="auto">
          <a:xfrm>
            <a:off x="4558184" y="1969221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Soll-Ist1 </a:t>
            </a:r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Rolle(GUI Spezialist)</a:t>
            </a:r>
          </a:p>
        </p:txBody>
      </p:sp>
      <p:sp>
        <p:nvSpPr>
          <p:cNvPr id="21" name="Rechteck 20"/>
          <p:cNvSpPr/>
          <p:nvPr/>
        </p:nvSpPr>
        <p:spPr bwMode="auto">
          <a:xfrm>
            <a:off x="8662640" y="1960341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Soll-Ist1 Rolle(Analyst)</a:t>
            </a:r>
            <a:endParaRPr lang="de-DE" sz="1400" dirty="0">
              <a:solidFill>
                <a:schemeClr val="bg2"/>
              </a:solidFill>
              <a:sym typeface="Noteworthy Bold" charset="0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381720" y="8339481"/>
            <a:ext cx="1124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/>
              <a:t>Projekt: </a:t>
            </a:r>
            <a:endParaRPr lang="de-DE" sz="2000" dirty="0"/>
          </a:p>
        </p:txBody>
      </p:sp>
      <p:sp>
        <p:nvSpPr>
          <p:cNvPr id="12" name="Rechteck 11"/>
          <p:cNvSpPr/>
          <p:nvPr/>
        </p:nvSpPr>
        <p:spPr bwMode="auto">
          <a:xfrm>
            <a:off x="4558184" y="4784723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Soll-Ist1 </a:t>
            </a:r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Rolle(Entwickler)</a:t>
            </a:r>
          </a:p>
        </p:txBody>
      </p:sp>
      <p:sp>
        <p:nvSpPr>
          <p:cNvPr id="13" name="Rechteck 12"/>
          <p:cNvSpPr/>
          <p:nvPr/>
        </p:nvSpPr>
        <p:spPr bwMode="auto">
          <a:xfrm>
            <a:off x="453728" y="4784723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Soll-Ist1 </a:t>
            </a:r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Rolle(Architekt)</a:t>
            </a:r>
          </a:p>
        </p:txBody>
      </p:sp>
    </p:spTree>
    <p:extLst>
      <p:ext uri="{BB962C8B-B14F-4D97-AF65-F5344CB8AC3E}">
        <p14:creationId xmlns:p14="http://schemas.microsoft.com/office/powerpoint/2010/main" val="3688781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Soll-Ist Ressourcen Planung </a:t>
            </a:r>
            <a:br>
              <a:rPr lang="de-DE" sz="4400" dirty="0" smtClean="0"/>
            </a:br>
            <a:r>
              <a:rPr lang="de-DE" sz="4400" dirty="0" smtClean="0"/>
              <a:t> (aktuell vs. letzter Stand)</a:t>
            </a:r>
            <a:endParaRPr lang="de-DE" dirty="0"/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20" name="Rechteck 19"/>
          <p:cNvSpPr/>
          <p:nvPr/>
        </p:nvSpPr>
        <p:spPr bwMode="auto">
          <a:xfrm>
            <a:off x="8647166" y="4784723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Soll-Ist2 Rolle(Tester)</a:t>
            </a:r>
            <a:endParaRPr lang="de-DE" sz="1400" dirty="0">
              <a:solidFill>
                <a:schemeClr val="bg2"/>
              </a:solidFill>
              <a:sym typeface="Noteworthy Bold" charset="0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1509637" y="8339481"/>
            <a:ext cx="1752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/>
              <a:t>Projekt-Name</a:t>
            </a:r>
            <a:endParaRPr lang="de-DE" sz="2000" dirty="0"/>
          </a:p>
        </p:txBody>
      </p:sp>
      <p:sp>
        <p:nvSpPr>
          <p:cNvPr id="16" name="Rechteck 15"/>
          <p:cNvSpPr/>
          <p:nvPr/>
        </p:nvSpPr>
        <p:spPr bwMode="auto">
          <a:xfrm>
            <a:off x="453728" y="1976411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Soll-Ist2 Rolle(Projektleiter)</a:t>
            </a:r>
          </a:p>
        </p:txBody>
      </p:sp>
      <p:sp>
        <p:nvSpPr>
          <p:cNvPr id="17" name="Rechteck 16"/>
          <p:cNvSpPr/>
          <p:nvPr/>
        </p:nvSpPr>
        <p:spPr bwMode="auto">
          <a:xfrm>
            <a:off x="4558184" y="1969221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Soll-Ist2 Rolle(GUI Spezialist)</a:t>
            </a:r>
          </a:p>
        </p:txBody>
      </p:sp>
      <p:sp>
        <p:nvSpPr>
          <p:cNvPr id="21" name="Rechteck 20"/>
          <p:cNvSpPr/>
          <p:nvPr/>
        </p:nvSpPr>
        <p:spPr bwMode="auto">
          <a:xfrm>
            <a:off x="8662640" y="1960341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Soll-Ist2 </a:t>
            </a:r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Rolle(Analyst)</a:t>
            </a:r>
            <a:endParaRPr lang="de-DE" sz="1400" dirty="0">
              <a:solidFill>
                <a:schemeClr val="bg2"/>
              </a:solidFill>
              <a:sym typeface="Noteworthy Bold" charset="0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381720" y="8339481"/>
            <a:ext cx="1124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/>
              <a:t>Projekt: </a:t>
            </a:r>
            <a:endParaRPr lang="de-DE" sz="2000" dirty="0"/>
          </a:p>
        </p:txBody>
      </p:sp>
      <p:sp>
        <p:nvSpPr>
          <p:cNvPr id="12" name="Rechteck 11"/>
          <p:cNvSpPr/>
          <p:nvPr/>
        </p:nvSpPr>
        <p:spPr bwMode="auto">
          <a:xfrm>
            <a:off x="4558184" y="4784723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Soll-Ist2 Rolle(Entwickler)</a:t>
            </a:r>
          </a:p>
        </p:txBody>
      </p:sp>
      <p:sp>
        <p:nvSpPr>
          <p:cNvPr id="13" name="Rechteck 12"/>
          <p:cNvSpPr/>
          <p:nvPr/>
        </p:nvSpPr>
        <p:spPr bwMode="auto">
          <a:xfrm>
            <a:off x="453728" y="4784723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Soll-Ist2 Rolle(Architekt)</a:t>
            </a:r>
          </a:p>
        </p:txBody>
      </p:sp>
    </p:spTree>
    <p:extLst>
      <p:ext uri="{BB962C8B-B14F-4D97-AF65-F5344CB8AC3E}">
        <p14:creationId xmlns:p14="http://schemas.microsoft.com/office/powerpoint/2010/main" val="321202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Soll-Ist Kosten Planung </a:t>
            </a:r>
            <a:br>
              <a:rPr lang="de-DE" sz="4400" dirty="0" smtClean="0"/>
            </a:br>
            <a:r>
              <a:rPr lang="de-DE" sz="4400" dirty="0" smtClean="0"/>
              <a:t> </a:t>
            </a:r>
            <a:r>
              <a:rPr lang="de-DE" sz="4400" dirty="0"/>
              <a:t>(aktuell vs. Beauftragung)</a:t>
            </a:r>
            <a:endParaRPr lang="de-DE" dirty="0"/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1509637" y="8339481"/>
            <a:ext cx="1752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/>
              <a:t>Projekt-Name</a:t>
            </a:r>
            <a:endParaRPr lang="de-DE" sz="2000" dirty="0"/>
          </a:p>
        </p:txBody>
      </p:sp>
      <p:sp>
        <p:nvSpPr>
          <p:cNvPr id="16" name="Rechteck 15"/>
          <p:cNvSpPr/>
          <p:nvPr/>
        </p:nvSpPr>
        <p:spPr bwMode="auto">
          <a:xfrm>
            <a:off x="453728" y="1976411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Soll-Ist1 </a:t>
            </a:r>
            <a:r>
              <a:rPr lang="de-DE" sz="1400" dirty="0"/>
              <a:t>Kostenart </a:t>
            </a:r>
            <a:r>
              <a:rPr lang="de-DE" sz="1400" dirty="0" smtClean="0"/>
              <a:t>(IT-Kosten)</a:t>
            </a:r>
            <a:endParaRPr lang="de-DE" sz="1400" dirty="0">
              <a:solidFill>
                <a:schemeClr val="bg2"/>
              </a:solidFill>
              <a:sym typeface="Noteworthy Bold" charset="0"/>
            </a:endParaRPr>
          </a:p>
        </p:txBody>
      </p:sp>
      <p:sp>
        <p:nvSpPr>
          <p:cNvPr id="17" name="Rechteck 16"/>
          <p:cNvSpPr/>
          <p:nvPr/>
        </p:nvSpPr>
        <p:spPr bwMode="auto">
          <a:xfrm>
            <a:off x="4558184" y="1969221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Soll-Ist1 </a:t>
            </a:r>
            <a:r>
              <a:rPr lang="de-DE" sz="1400" dirty="0"/>
              <a:t>Kostenart </a:t>
            </a:r>
            <a:r>
              <a:rPr lang="de-DE" sz="1400" dirty="0" smtClean="0"/>
              <a:t>(Reise-Kosten</a:t>
            </a:r>
            <a:r>
              <a:rPr lang="de-DE" sz="1400" dirty="0"/>
              <a:t>)</a:t>
            </a:r>
            <a:endParaRPr lang="de-DE" sz="1400" dirty="0">
              <a:solidFill>
                <a:schemeClr val="bg2"/>
              </a:solidFill>
              <a:sym typeface="Noteworthy Bold" charset="0"/>
            </a:endParaRPr>
          </a:p>
        </p:txBody>
      </p:sp>
      <p:sp>
        <p:nvSpPr>
          <p:cNvPr id="21" name="Rechteck 20"/>
          <p:cNvSpPr/>
          <p:nvPr/>
        </p:nvSpPr>
        <p:spPr bwMode="auto">
          <a:xfrm>
            <a:off x="8662640" y="1960341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Soll-Ist1 </a:t>
            </a:r>
            <a:r>
              <a:rPr lang="de-DE" sz="1400" dirty="0"/>
              <a:t>Kostenart (Trainings-Kosten)</a:t>
            </a:r>
            <a:endParaRPr lang="de-DE" sz="1400" dirty="0">
              <a:solidFill>
                <a:schemeClr val="bg2"/>
              </a:solidFill>
              <a:sym typeface="Noteworthy Bold" charset="0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381720" y="8339481"/>
            <a:ext cx="1124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/>
              <a:t>Projekt: 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854364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Soll-Ist Kosten Planung </a:t>
            </a:r>
            <a:br>
              <a:rPr lang="de-DE" sz="4400" dirty="0" smtClean="0"/>
            </a:br>
            <a:r>
              <a:rPr lang="de-DE" sz="4400" dirty="0" smtClean="0"/>
              <a:t> </a:t>
            </a:r>
            <a:r>
              <a:rPr lang="de-DE" sz="4400" dirty="0"/>
              <a:t>(aktuell vs. letzter Stand)</a:t>
            </a:r>
            <a:endParaRPr lang="de-DE" dirty="0"/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1509637" y="8339481"/>
            <a:ext cx="1752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/>
              <a:t>Projekt-Name</a:t>
            </a:r>
            <a:endParaRPr lang="de-DE" sz="2000" dirty="0"/>
          </a:p>
        </p:txBody>
      </p:sp>
      <p:sp>
        <p:nvSpPr>
          <p:cNvPr id="16" name="Rechteck 15"/>
          <p:cNvSpPr/>
          <p:nvPr/>
        </p:nvSpPr>
        <p:spPr bwMode="auto">
          <a:xfrm>
            <a:off x="453728" y="1976411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Soll-Ist2 </a:t>
            </a:r>
            <a:r>
              <a:rPr lang="de-DE" sz="1400" dirty="0"/>
              <a:t>Kostenart </a:t>
            </a:r>
            <a:r>
              <a:rPr lang="de-DE" sz="1400" dirty="0" smtClean="0"/>
              <a:t>(IT-Kosten)</a:t>
            </a:r>
            <a:endParaRPr lang="de-DE" sz="1400" dirty="0">
              <a:solidFill>
                <a:schemeClr val="bg2"/>
              </a:solidFill>
              <a:sym typeface="Noteworthy Bold" charset="0"/>
            </a:endParaRPr>
          </a:p>
        </p:txBody>
      </p:sp>
      <p:sp>
        <p:nvSpPr>
          <p:cNvPr id="17" name="Rechteck 16"/>
          <p:cNvSpPr/>
          <p:nvPr/>
        </p:nvSpPr>
        <p:spPr bwMode="auto">
          <a:xfrm>
            <a:off x="4558184" y="1969221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Soll-Ist2 </a:t>
            </a:r>
            <a:r>
              <a:rPr lang="de-DE" sz="1400" dirty="0"/>
              <a:t>Kostenart </a:t>
            </a:r>
            <a:r>
              <a:rPr lang="de-DE" sz="1400" dirty="0" smtClean="0"/>
              <a:t>(Reise-Kosten</a:t>
            </a:r>
            <a:r>
              <a:rPr lang="de-DE" sz="1400" dirty="0"/>
              <a:t>)</a:t>
            </a:r>
            <a:endParaRPr lang="de-DE" sz="1400" dirty="0">
              <a:solidFill>
                <a:schemeClr val="bg2"/>
              </a:solidFill>
              <a:sym typeface="Noteworthy Bold" charset="0"/>
            </a:endParaRPr>
          </a:p>
        </p:txBody>
      </p:sp>
      <p:sp>
        <p:nvSpPr>
          <p:cNvPr id="21" name="Rechteck 20"/>
          <p:cNvSpPr/>
          <p:nvPr/>
        </p:nvSpPr>
        <p:spPr bwMode="auto">
          <a:xfrm>
            <a:off x="8662640" y="1960341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Soll-Ist2 </a:t>
            </a:r>
            <a:r>
              <a:rPr lang="de-DE" sz="1400" dirty="0"/>
              <a:t>Kostenart (Trainings-Kosten)</a:t>
            </a:r>
            <a:endParaRPr lang="de-DE" sz="1400" dirty="0">
              <a:solidFill>
                <a:schemeClr val="bg2"/>
              </a:solidFill>
              <a:sym typeface="Noteworthy Bold" charset="0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381720" y="8339481"/>
            <a:ext cx="1124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/>
              <a:t>Projekt: 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271158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">
  <a:themeElements>
    <a:clrScheme name="">
      <a:dk1>
        <a:srgbClr val="A5A5A5"/>
      </a:dk1>
      <a:lt1>
        <a:srgbClr val="414141"/>
      </a:lt1>
      <a:dk2>
        <a:srgbClr val="240041"/>
      </a:dk2>
      <a:lt2>
        <a:srgbClr val="484D4B"/>
      </a:lt2>
      <a:accent1>
        <a:srgbClr val="669AA4"/>
      </a:accent1>
      <a:accent2>
        <a:srgbClr val="930706"/>
      </a:accent2>
      <a:accent3>
        <a:srgbClr val="ACAAB0"/>
      </a:accent3>
      <a:accent4>
        <a:srgbClr val="363636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572E2D"/>
      </a:dk1>
      <a:lt1>
        <a:srgbClr val="2A5657"/>
      </a:lt1>
      <a:dk2>
        <a:srgbClr val="484D4B"/>
      </a:dk2>
      <a:lt2>
        <a:srgbClr val="A5A5A5"/>
      </a:lt2>
      <a:accent1>
        <a:srgbClr val="669AA4"/>
      </a:accent1>
      <a:accent2>
        <a:srgbClr val="930706"/>
      </a:accent2>
      <a:accent3>
        <a:srgbClr val="ACB4B4"/>
      </a:accent3>
      <a:accent4>
        <a:srgbClr val="492625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1239</Words>
  <Application>Microsoft Office PowerPoint</Application>
  <PresentationFormat>Benutzerdefiniert</PresentationFormat>
  <Paragraphs>618</Paragraphs>
  <Slides>6</Slides>
  <Notes>6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7" baseType="lpstr">
      <vt:lpstr>Larissa</vt:lpstr>
      <vt:lpstr>Soll-Ist Überblick (aktuell vs. Beauftragung) </vt:lpstr>
      <vt:lpstr>Soll-Ist Überblick (aktuell vs. letzter Stand) </vt:lpstr>
      <vt:lpstr>Soll-Ist Ressourcen Planung   (aktuell vs. Beauftragung)</vt:lpstr>
      <vt:lpstr>Soll-Ist Ressourcen Planung   (aktuell vs. letzter Stand)</vt:lpstr>
      <vt:lpstr>Soll-Ist Kosten Planung   (aktuell vs. Beauftragung)</vt:lpstr>
      <vt:lpstr>Soll-Ist Kosten Planung   (aktuell vs. letzter Stand)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tom</dc:creator>
  <cp:lastModifiedBy>tom</cp:lastModifiedBy>
  <cp:revision>106</cp:revision>
  <cp:lastPrinted>2013-11-11T22:44:44Z</cp:lastPrinted>
  <dcterms:modified xsi:type="dcterms:W3CDTF">2014-03-02T11:43:13Z</dcterms:modified>
</cp:coreProperties>
</file>