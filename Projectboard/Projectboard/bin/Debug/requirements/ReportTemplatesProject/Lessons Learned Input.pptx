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erverZoom="100000" strictFirstAndLastChars="0" saveSubsetFonts="1">
  <p:sldMasterIdLst>
    <p:sldMasterId id="2147483648" r:id="rId1"/>
  </p:sldMasterIdLst>
  <p:notesMasterIdLst>
    <p:notesMasterId r:id="rId8"/>
  </p:notesMasterIdLst>
  <p:sldIdLst>
    <p:sldId id="272" r:id="rId2"/>
    <p:sldId id="273" r:id="rId3"/>
    <p:sldId id="274" r:id="rId4"/>
    <p:sldId id="270" r:id="rId5"/>
    <p:sldId id="271" r:id="rId6"/>
    <p:sldId id="275" r:id="rId7"/>
  </p:sldIdLst>
  <p:sldSz cx="13004800" cy="9753600"/>
  <p:notesSz cx="6864350" cy="9996488"/>
  <p:defaultTextStyle>
    <a:defPPr>
      <a:defRPr lang="de-DE"/>
    </a:defPPr>
    <a:lvl1pPr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1pPr>
    <a:lvl2pPr marL="3429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2pPr>
    <a:lvl3pPr marL="6858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3pPr>
    <a:lvl4pPr marL="10287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4pPr>
    <a:lvl5pPr marL="1371600" algn="ctr" defTabSz="584200" rtl="0" fontAlgn="base" hangingPunct="0">
      <a:spcBef>
        <a:spcPct val="0"/>
      </a:spcBef>
      <a:spcAft>
        <a:spcPct val="0"/>
      </a:spcAft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5pPr>
    <a:lvl6pPr marL="22860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6pPr>
    <a:lvl7pPr marL="27432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7pPr>
    <a:lvl8pPr marL="32004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8pPr>
    <a:lvl9pPr marL="3657600" algn="l" defTabSz="914400" rtl="0" eaLnBrk="1" latinLnBrk="0" hangingPunct="1">
      <a:defRPr sz="3600" kern="1200">
        <a:solidFill>
          <a:srgbClr val="414141"/>
        </a:solidFill>
        <a:latin typeface="Gill Sans Light" charset="0"/>
        <a:ea typeface="Gill Sans Light" charset="0"/>
        <a:cs typeface="Gill Sans Light" charset="0"/>
        <a:sym typeface="Gill Sans Light" charset="0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5758FB7-9AC5-4552-8A53-C91805E547FA}" styleName="Designformatvorlage 1 - Akz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Helle Formatvorlage 1 - Akz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A111915-BE36-4E01-A7E5-04B1672EAD32}" styleName="Helle Formatvorlage 2 - Akz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43314" autoAdjust="0"/>
  </p:normalViewPr>
  <p:slideViewPr>
    <p:cSldViewPr>
      <p:cViewPr>
        <p:scale>
          <a:sx n="66" d="100"/>
          <a:sy n="66" d="100"/>
        </p:scale>
        <p:origin x="-2016" y="1080"/>
      </p:cViewPr>
      <p:guideLst>
        <p:guide orient="horz" pos="3072"/>
        <p:guide pos="4096"/>
      </p:guideLst>
    </p:cSldViewPr>
  </p:slideViewPr>
  <p:notesTextViewPr>
    <p:cViewPr>
      <p:scale>
        <a:sx n="1" d="1"/>
        <a:sy n="1" d="1"/>
      </p:scale>
      <p:origin x="0" y="738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3" name="Rectangle 1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933450" y="749300"/>
            <a:ext cx="4997450" cy="37496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3074" name="Rectangle 2"/>
          <p:cNvSpPr>
            <a:spLocks noGrp="1"/>
          </p:cNvSpPr>
          <p:nvPr>
            <p:ph type="body" sz="quarter" idx="3"/>
          </p:nvPr>
        </p:nvSpPr>
        <p:spPr bwMode="auto">
          <a:xfrm>
            <a:off x="915247" y="4748332"/>
            <a:ext cx="5033857" cy="44984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square" lIns="96341" tIns="48171" rIns="96341" bIns="4817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smtClean="0">
                <a:sym typeface="Noteworthy Bold" charset="0"/>
              </a:rPr>
              <a:t>Click to edit Master text styles</a:t>
            </a:r>
          </a:p>
          <a:p>
            <a:pPr lvl="1"/>
            <a:r>
              <a:rPr lang="de-DE" smtClean="0">
                <a:sym typeface="Noteworthy Bold" charset="0"/>
              </a:rPr>
              <a:t>Second level</a:t>
            </a:r>
          </a:p>
          <a:p>
            <a:pPr lvl="2"/>
            <a:r>
              <a:rPr lang="de-DE" smtClean="0">
                <a:sym typeface="Noteworthy Bold" charset="0"/>
              </a:rPr>
              <a:t>Third level</a:t>
            </a:r>
          </a:p>
          <a:p>
            <a:pPr lvl="3"/>
            <a:r>
              <a:rPr lang="de-DE" smtClean="0">
                <a:sym typeface="Noteworthy Bold" charset="0"/>
              </a:rPr>
              <a:t>Fourth level</a:t>
            </a:r>
          </a:p>
          <a:p>
            <a:pPr lvl="4"/>
            <a:r>
              <a:rPr lang="de-DE" smtClean="0">
                <a:sym typeface="Noteworthy Bold" charset="0"/>
              </a:rPr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941673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1pPr>
    <a:lvl2pPr marL="3429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2pPr>
    <a:lvl3pPr marL="6858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3pPr>
    <a:lvl4pPr marL="10287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4pPr>
    <a:lvl5pPr marL="1371600" algn="l" defTabSz="457200" rtl="0" fontAlgn="base" hangingPunct="0">
      <a:lnSpc>
        <a:spcPts val="3500"/>
      </a:lnSpc>
      <a:spcBef>
        <a:spcPct val="0"/>
      </a:spcBef>
      <a:spcAft>
        <a:spcPct val="0"/>
      </a:spcAft>
      <a:defRPr sz="2400" kern="1200">
        <a:solidFill>
          <a:srgbClr val="572E2D"/>
        </a:solidFill>
        <a:latin typeface="Noteworthy Bold" charset="0"/>
        <a:ea typeface="Noteworthy Bold" charset="0"/>
        <a:cs typeface="Noteworthy Bold" charset="0"/>
        <a:sym typeface="Noteworthy Bold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Projekt-Name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 &amp; Prognose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Projekt-Grafik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Meilenstein Trendanalyse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Vergleich mit Beauftragung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Vergleich mit letztem Stand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Vergleich mit Vorlage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Projektziele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Projektstatus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Veränderungen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Vergleich letzter Stand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Vergleich Beauftragung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Ergebnis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Strategie/Risiko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Teilprojekte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Personalbedarf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Personalkosten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Sonstige Kosten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Gesamtkosten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Trend Strategischer Fit/Risiko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Trend Kennzahlen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Fortschritt Personalkosten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Fortschritt Sonstige Kosten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Fortschritt Rolle(..)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Fortschritt Kostenart(..)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 Personalkosten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 Personalkosten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Soll-Ist1C Personalkosten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Soll-Ist2C Personalkosten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 Sonstige Kosten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 Sonstige Kosten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Soll-Ist1C Sonstige Kosten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Soll-Ist2C Sonstige Kosten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 Gesamtkosten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 Gesamtkosten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Soll-Ist1C Gesamtkosten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Soll-Ist2C Gesamtkosten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 Rolle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 Rolle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Soll-Ist1C Rolle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Soll-Ist2C Rolle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 Kostenart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 Kostenart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Soll-Ist1C Kostenart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Soll-Ist2C Kostenart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Ampel-Farbe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Beschreibung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Stand: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Laufzeit:</a:t>
            </a: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Verantwortlich:</a:t>
            </a:r>
          </a:p>
          <a:p>
            <a:endParaRPr lang="de-DE" sz="2800" kern="1200" dirty="0" smtClean="0">
              <a:solidFill>
                <a:srgbClr val="572E2D"/>
              </a:solidFill>
              <a:latin typeface="Noteworthy Bold" charset="0"/>
              <a:ea typeface="Noteworthy Bold" charset="0"/>
              <a:cs typeface="Noteworthy Bold" charset="0"/>
              <a:sym typeface="Noteworthy Bold" charset="0"/>
            </a:endParaRP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--------------------------------</a:t>
            </a:r>
          </a:p>
          <a:p>
            <a:endParaRPr lang="de-DE" sz="2800" kern="1200" dirty="0" smtClean="0">
              <a:solidFill>
                <a:srgbClr val="572E2D"/>
              </a:solidFill>
              <a:latin typeface="Noteworthy Bold" charset="0"/>
              <a:ea typeface="Noteworthy Bold" charset="0"/>
              <a:cs typeface="Noteworthy Bold" charset="0"/>
              <a:sym typeface="Noteworthy Bold" charset="0"/>
            </a:endParaRPr>
          </a:p>
          <a:p>
            <a:r>
              <a:rPr lang="de-DE" sz="28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Phasen: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Business Case</a:t>
            </a:r>
            <a:endParaRPr lang="de-DE" sz="2800" dirty="0" smtClean="0"/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Konzept</a:t>
            </a:r>
            <a:endParaRPr lang="de-DE" sz="2800" dirty="0" smtClean="0"/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Entwicklung</a:t>
            </a:r>
            <a:endParaRPr lang="de-DE" sz="2800" dirty="0" smtClean="0"/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Prototyp</a:t>
            </a:r>
            <a:endParaRPr lang="de-DE" sz="2800" dirty="0" smtClean="0"/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Test</a:t>
            </a:r>
            <a:endParaRPr lang="de-DE" sz="2800" dirty="0" smtClean="0"/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Rollout</a:t>
            </a:r>
          </a:p>
          <a:p>
            <a:endParaRPr lang="de-DE" sz="24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sym typeface="Noteworthy Bold" charset="0"/>
              </a:rPr>
              <a:t>Meilensteine: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Projektskizze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Kosten-/Nutzen Analyse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Wettbewerbsanalyse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Analyse Marktpotential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Grob-Konzept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Liste der erfolgskritischen Merkmale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Anbieter Shortlist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Benchmark Dokumentation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Empfehlung Anbieter</a:t>
            </a:r>
          </a:p>
          <a:p>
            <a:r>
              <a:rPr lang="de-DE" sz="2400" b="0" i="0" u="none" strike="noStrike" kern="1200" dirty="0" err="1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Use</a:t>
            </a:r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 Cases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Architektur Dokument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Datenmodell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Funktionsfähigkeit der erfolgskritischen Merkmale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Testfall Dokumentation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90% Muss-Testfälle erfolgreich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Einführungsplan</a:t>
            </a:r>
            <a:r>
              <a:rPr lang="de-DE" dirty="0" smtClean="0"/>
              <a:t>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70% Anwender-Abdeckung</a:t>
            </a:r>
            <a:r>
              <a:rPr lang="de-DE" dirty="0" smtClean="0"/>
              <a:t> </a:t>
            </a:r>
            <a:endParaRPr lang="de-DE" sz="24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endParaRPr lang="de-DE" sz="24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sym typeface="Noteworthy Bold" charset="0"/>
              </a:rPr>
              <a:t>Rollen: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Projektleiter</a:t>
            </a:r>
            <a:endParaRPr lang="de-DE" dirty="0" smtClean="0"/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GUI Spezialist</a:t>
            </a:r>
            <a:endParaRPr lang="de-DE" dirty="0" smtClean="0"/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Analyst</a:t>
            </a:r>
            <a:r>
              <a:rPr lang="de-DE" dirty="0" smtClean="0"/>
              <a:t> </a:t>
            </a:r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Architekt</a:t>
            </a:r>
            <a:endParaRPr lang="de-DE" dirty="0" smtClean="0"/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Entwickler</a:t>
            </a:r>
            <a:endParaRPr lang="de-DE" dirty="0" smtClean="0"/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Tester</a:t>
            </a:r>
            <a:endParaRPr lang="de-DE" sz="24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endParaRPr lang="de-DE" sz="24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sym typeface="Noteworthy Bold" charset="0"/>
              </a:rPr>
              <a:t>Kostenarten: 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IT-Kosten</a:t>
            </a:r>
            <a:endParaRPr lang="de-DE" dirty="0" smtClean="0"/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Reise-Kosten</a:t>
            </a:r>
          </a:p>
          <a:p>
            <a:r>
              <a:rPr lang="de-DE" sz="24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Trainings-Kosten</a:t>
            </a:r>
            <a:r>
              <a:rPr lang="de-DE" dirty="0" smtClean="0"/>
              <a:t> </a:t>
            </a:r>
            <a:endParaRPr lang="de-DE" sz="24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r>
              <a:rPr lang="de-DE" sz="2800" dirty="0" smtClean="0"/>
              <a:t> </a:t>
            </a:r>
            <a:endParaRPr lang="de-DE" sz="2800" kern="1200" dirty="0" smtClean="0">
              <a:solidFill>
                <a:srgbClr val="572E2D"/>
              </a:solidFill>
              <a:latin typeface="Noteworthy Bold" charset="0"/>
              <a:ea typeface="Noteworthy Bold" charset="0"/>
              <a:cs typeface="Noteworthy Bold" charset="0"/>
              <a:sym typeface="Noteworthy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Projekt-Name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 &amp; Prognose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Projekt-Grafik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Meilenstein Trendanalyse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Vergleich mit Beauftragung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Vergleich mit letztem Stand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Vergleich mit Vorlage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Projektziele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Projektstatus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Veränderungen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Vergleich letzter Stand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Vergleich Beauftragung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Ergebnis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Strategie/Risiko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Teilprojekte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Personalbedarf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Personalkosten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Sonstige 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Gesamtkosten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Trend Strategischer Fit/Risiko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Trend Kennzahlen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Fortschritt Personalkosten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Fortschritt Sonstige 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Fortschritt Rolle(..)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Fortschritt Kostenart(..)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 Personalkosten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 Personalkosten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Soll-Ist1C Personalkosten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Soll-Ist2C Personalkosten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 Sonstige 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 Sonstige 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Soll-Ist1C Sonstige 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Soll-Ist2C Sonstige 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 Gesamtkosten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 Gesamtkosten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Soll-Ist1C Gesamtkosten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Soll-Ist2C Gesamtkosten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 Rolle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 Rolle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Soll-Ist1C Rolle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Soll-Ist2C Rolle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 Kostenart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 Kostenart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Soll-Ist1C Kostenart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Soll-Ist2C Kostenart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Ampel-Farbe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Beschreibung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Stand: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Laufzeit: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Verantwortlich:</a:t>
            </a:r>
          </a:p>
          <a:p>
            <a:endParaRPr lang="de-DE" sz="2400" kern="1200" dirty="0" smtClean="0">
              <a:solidFill>
                <a:srgbClr val="572E2D"/>
              </a:solidFill>
              <a:latin typeface="Noteworthy Bold" charset="0"/>
              <a:ea typeface="Noteworthy Bold" charset="0"/>
              <a:cs typeface="Noteworthy Bold" charset="0"/>
              <a:sym typeface="Noteworthy Bold" charset="0"/>
            </a:endParaRP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--------------------------------</a:t>
            </a:r>
          </a:p>
          <a:p>
            <a:endParaRPr lang="de-DE" sz="2400" kern="1200" dirty="0" smtClean="0">
              <a:solidFill>
                <a:srgbClr val="572E2D"/>
              </a:solidFill>
              <a:latin typeface="Noteworthy Bold" charset="0"/>
              <a:ea typeface="Noteworthy Bold" charset="0"/>
              <a:cs typeface="Noteworthy Bold" charset="0"/>
              <a:sym typeface="Noteworthy Bold" charset="0"/>
            </a:endParaRP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Phasen: 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Business Case</a:t>
            </a:r>
            <a:endParaRPr lang="de-DE" sz="24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Konzept</a:t>
            </a:r>
            <a:endParaRPr lang="de-DE" sz="24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Entwicklung</a:t>
            </a:r>
            <a:endParaRPr lang="de-DE" sz="24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Prototyp</a:t>
            </a:r>
            <a:endParaRPr lang="de-DE" sz="24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Test</a:t>
            </a:r>
            <a:endParaRPr lang="de-DE" sz="24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Rollout</a:t>
            </a:r>
          </a:p>
          <a:p>
            <a:endParaRPr lang="de-DE" sz="20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sym typeface="Noteworthy Bold" charset="0"/>
              </a:rPr>
              <a:t>Meilensteine: 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Projektskizze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Kosten-/Nutzen Analyse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Wettbewerbsanalyse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Analyse Marktpotential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Grob-Konzept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Liste der erfolgskritischen Merkmale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Anbieter Shortlist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Benchmark Dokumentation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Empfehlung Anbieter</a:t>
            </a:r>
          </a:p>
          <a:p>
            <a:r>
              <a:rPr lang="de-DE" sz="2000" b="0" i="0" u="none" strike="noStrike" kern="1200" dirty="0" err="1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Use</a:t>
            </a:r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 Cases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Architektur Dokument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Datenmodell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Funktionsfähigkeit der erfolgskritischen Merkmale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Testfall Dokumentation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90% Muss-Testfälle erfolgreich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Einführungsplan</a:t>
            </a:r>
            <a:r>
              <a:rPr lang="de-DE" sz="2800" dirty="0" smtClean="0"/>
              <a:t> 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70% Anwender-Abdeckung</a:t>
            </a:r>
            <a:r>
              <a:rPr lang="de-DE" sz="2800" dirty="0" smtClean="0"/>
              <a:t> </a:t>
            </a:r>
            <a:endParaRPr lang="de-DE" sz="20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endParaRPr lang="de-DE" sz="20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sym typeface="Noteworthy Bold" charset="0"/>
              </a:rPr>
              <a:t>Rollen: 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Projektleiter</a:t>
            </a:r>
            <a:endParaRPr lang="de-DE" sz="28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GUI Spezialist</a:t>
            </a:r>
            <a:endParaRPr lang="de-DE" sz="28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Analyst</a:t>
            </a:r>
            <a:r>
              <a:rPr lang="de-DE" sz="2800" dirty="0" smtClean="0"/>
              <a:t> </a:t>
            </a:r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Architekt</a:t>
            </a:r>
            <a:endParaRPr lang="de-DE" sz="28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Entwickler</a:t>
            </a:r>
            <a:endParaRPr lang="de-DE" sz="28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Tester</a:t>
            </a:r>
            <a:endParaRPr lang="de-DE" sz="20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endParaRPr lang="de-DE" sz="20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sym typeface="Noteworthy Bold" charset="0"/>
              </a:rPr>
              <a:t>Kostenarten: 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IT-Kosten</a:t>
            </a:r>
            <a:endParaRPr lang="de-DE" sz="28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Reise-Kosten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Trainings-Kosten</a:t>
            </a:r>
            <a:r>
              <a:rPr lang="de-DE" sz="2800" dirty="0" smtClean="0"/>
              <a:t> </a:t>
            </a:r>
            <a:endParaRPr lang="de-DE" sz="20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r>
              <a:rPr lang="de-DE" sz="2400" dirty="0" smtClean="0"/>
              <a:t> </a:t>
            </a:r>
            <a:endParaRPr lang="de-DE" sz="2400" kern="1200" dirty="0" smtClean="0">
              <a:solidFill>
                <a:srgbClr val="572E2D"/>
              </a:solidFill>
              <a:latin typeface="Noteworthy Bold" charset="0"/>
              <a:ea typeface="Noteworthy Bold" charset="0"/>
              <a:cs typeface="Noteworthy Bold" charset="0"/>
              <a:sym typeface="Noteworthy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Projekt-Name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 &amp; Prognose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Projekt-Grafik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Meilenstein Trendanalyse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Vergleich mit Beauftragung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Vergleich mit letztem Stand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Vergleich mit Vorlage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Projektziele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Projektstatus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Veränderungen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Vergleich letzter Stand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Vergleich Beauftragung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Ergebnis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Strategie/Risiko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Teilprojekte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Personalbedarf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Personalkosten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Sonstige 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Gesamtkosten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Trend Strategischer Fit/Risiko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Trend Kennzahlen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Fortschritt Personalkosten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Fortschritt Sonstige 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Fortschritt Rolle(..)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Fortschritt Kostenart(..)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 Personalkosten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 Personalkosten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Soll-Ist1C Personalkosten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Soll-Ist2C Personalkosten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 Sonstige 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 Sonstige 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Soll-Ist1C Sonstige 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Soll-Ist2C Sonstige 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 Gesamtkosten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 Gesamtkosten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Soll-Ist1C Gesamtkosten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Soll-Ist2C Gesamtkosten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 Rolle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 Rolle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Soll-Ist1C Rolle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Soll-Ist2C Rolle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 Kostenart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 Kostenart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Soll-Ist1C Kostenart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Soll-Ist2C Kostenart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Ampel-Farbe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Beschreibung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Stand: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Laufzeit: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Verantwortlich:</a:t>
            </a:r>
          </a:p>
          <a:p>
            <a:endParaRPr lang="de-DE" sz="2400" kern="1200" dirty="0" smtClean="0">
              <a:solidFill>
                <a:srgbClr val="572E2D"/>
              </a:solidFill>
              <a:latin typeface="Noteworthy Bold" charset="0"/>
              <a:ea typeface="Noteworthy Bold" charset="0"/>
              <a:cs typeface="Noteworthy Bold" charset="0"/>
              <a:sym typeface="Noteworthy Bold" charset="0"/>
            </a:endParaRP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--------------------------------</a:t>
            </a:r>
          </a:p>
          <a:p>
            <a:endParaRPr lang="de-DE" sz="2400" kern="1200" dirty="0" smtClean="0">
              <a:solidFill>
                <a:srgbClr val="572E2D"/>
              </a:solidFill>
              <a:latin typeface="Noteworthy Bold" charset="0"/>
              <a:ea typeface="Noteworthy Bold" charset="0"/>
              <a:cs typeface="Noteworthy Bold" charset="0"/>
              <a:sym typeface="Noteworthy Bold" charset="0"/>
            </a:endParaRP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Phasen: 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Business Case</a:t>
            </a:r>
            <a:endParaRPr lang="de-DE" sz="24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Konzept</a:t>
            </a:r>
            <a:endParaRPr lang="de-DE" sz="24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Entwicklung</a:t>
            </a:r>
            <a:endParaRPr lang="de-DE" sz="24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Prototyp</a:t>
            </a:r>
            <a:endParaRPr lang="de-DE" sz="24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Test</a:t>
            </a:r>
            <a:endParaRPr lang="de-DE" sz="24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Rollout</a:t>
            </a:r>
          </a:p>
          <a:p>
            <a:endParaRPr lang="de-DE" sz="20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sym typeface="Noteworthy Bold" charset="0"/>
              </a:rPr>
              <a:t>Meilensteine: 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Projektskizze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Kosten-/Nutzen Analyse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Wettbewerbsanalyse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Analyse Marktpotential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Grob-Konzept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Liste der erfolgskritischen Merkmale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Anbieter Shortlist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Benchmark Dokumentation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Empfehlung Anbieter</a:t>
            </a:r>
          </a:p>
          <a:p>
            <a:r>
              <a:rPr lang="de-DE" sz="2000" b="0" i="0" u="none" strike="noStrike" kern="1200" dirty="0" err="1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Use</a:t>
            </a:r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 Cases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Architektur Dokument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Datenmodell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Funktionsfähigkeit der erfolgskritischen Merkmale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Testfall Dokumentation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90% Muss-Testfälle erfolgreich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Einführungsplan</a:t>
            </a:r>
            <a:r>
              <a:rPr lang="de-DE" sz="2800" dirty="0" smtClean="0"/>
              <a:t> 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70% Anwender-Abdeckung</a:t>
            </a:r>
            <a:r>
              <a:rPr lang="de-DE" sz="2800" dirty="0" smtClean="0"/>
              <a:t> </a:t>
            </a:r>
            <a:endParaRPr lang="de-DE" sz="20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endParaRPr lang="de-DE" sz="20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sym typeface="Noteworthy Bold" charset="0"/>
              </a:rPr>
              <a:t>Rollen: 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Projektleiter</a:t>
            </a:r>
            <a:endParaRPr lang="de-DE" sz="28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GUI Spezialist</a:t>
            </a:r>
            <a:endParaRPr lang="de-DE" sz="28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Analyst</a:t>
            </a:r>
            <a:r>
              <a:rPr lang="de-DE" sz="2800" dirty="0" smtClean="0"/>
              <a:t> </a:t>
            </a:r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Architekt</a:t>
            </a:r>
            <a:endParaRPr lang="de-DE" sz="28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Entwickler</a:t>
            </a:r>
            <a:endParaRPr lang="de-DE" sz="28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Tester</a:t>
            </a:r>
            <a:endParaRPr lang="de-DE" sz="20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endParaRPr lang="de-DE" sz="20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sym typeface="Noteworthy Bold" charset="0"/>
              </a:rPr>
              <a:t>Kostenarten: 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IT-Kosten</a:t>
            </a:r>
            <a:endParaRPr lang="de-DE" sz="28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Reise-Kosten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Trainings-Kosten</a:t>
            </a:r>
            <a:r>
              <a:rPr lang="de-DE" sz="2800" dirty="0" smtClean="0"/>
              <a:t> </a:t>
            </a:r>
            <a:endParaRPr lang="de-DE" sz="20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r>
              <a:rPr lang="de-DE" sz="2400" dirty="0" smtClean="0"/>
              <a:t> </a:t>
            </a:r>
            <a:endParaRPr lang="de-DE" sz="2400" kern="1200" dirty="0" smtClean="0">
              <a:solidFill>
                <a:srgbClr val="572E2D"/>
              </a:solidFill>
              <a:latin typeface="Noteworthy Bold" charset="0"/>
              <a:ea typeface="Noteworthy Bold" charset="0"/>
              <a:cs typeface="Noteworthy Bold" charset="0"/>
              <a:sym typeface="Noteworthy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Projekt-Name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 &amp; Prognose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Projekt-Grafik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Meilenstein Trendanalyse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Vergleich mit Beauftragung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Vergleich mit letztem Stand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Vergleich mit Vorlage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Projektziele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Projektstatus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Veränderungen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Vergleich letzter Stand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Vergleich Beauftragung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Ergebnis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Strategie/Risiko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Teilprojekte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Personalbedarf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Personalkosten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Sonstige 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Gesamtkosten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Trend Strategischer Fit/Risiko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Trend Kennzahlen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Fortschritt Personalkosten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Fortschritt Sonstige 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Fortschritt Rolle(..)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Fortschritt Kostenart(..)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 Personalkosten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 Personalkosten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Soll-Ist1C Personalkosten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Soll-Ist2C Personalkosten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 Sonstige 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 Sonstige 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Soll-Ist1C Sonstige 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Soll-Ist2C Sonstige 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 Gesamtkosten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 Gesamtkosten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Soll-Ist1C Gesamtkosten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Soll-Ist2C Gesamtkosten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 Rolle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 Rolle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Soll-Ist1C Rolle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Soll-Ist2C Rolle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 Kostenart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 Kostenart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Soll-Ist1C Kostenart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Soll-Ist2C Kostenart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Ampel-Farbe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Beschreibung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Stand: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Laufzeit: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Verantwortlich:</a:t>
            </a:r>
          </a:p>
          <a:p>
            <a:endParaRPr lang="de-DE" sz="2400" kern="1200" dirty="0" smtClean="0">
              <a:solidFill>
                <a:srgbClr val="572E2D"/>
              </a:solidFill>
              <a:latin typeface="Noteworthy Bold" charset="0"/>
              <a:ea typeface="Noteworthy Bold" charset="0"/>
              <a:cs typeface="Noteworthy Bold" charset="0"/>
              <a:sym typeface="Noteworthy Bold" charset="0"/>
            </a:endParaRP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--------------------------------</a:t>
            </a:r>
          </a:p>
          <a:p>
            <a:endParaRPr lang="de-DE" sz="2400" kern="1200" dirty="0" smtClean="0">
              <a:solidFill>
                <a:srgbClr val="572E2D"/>
              </a:solidFill>
              <a:latin typeface="Noteworthy Bold" charset="0"/>
              <a:ea typeface="Noteworthy Bold" charset="0"/>
              <a:cs typeface="Noteworthy Bold" charset="0"/>
              <a:sym typeface="Noteworthy Bold" charset="0"/>
            </a:endParaRP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Phasen: 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Business Case</a:t>
            </a:r>
            <a:endParaRPr lang="de-DE" sz="24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Konzept</a:t>
            </a:r>
            <a:endParaRPr lang="de-DE" sz="24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Entwicklung</a:t>
            </a:r>
            <a:endParaRPr lang="de-DE" sz="24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Prototyp</a:t>
            </a:r>
            <a:endParaRPr lang="de-DE" sz="24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Test</a:t>
            </a:r>
            <a:endParaRPr lang="de-DE" sz="24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Rollout</a:t>
            </a:r>
          </a:p>
          <a:p>
            <a:endParaRPr lang="de-DE" sz="20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sym typeface="Noteworthy Bold" charset="0"/>
              </a:rPr>
              <a:t>Meilensteine: 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Projektskizze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Kosten-/Nutzen Analyse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Wettbewerbsanalyse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Analyse Marktpotential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Grob-Konzept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Liste der erfolgskritischen Merkmale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Anbieter Shortlist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Benchmark Dokumentation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Empfehlung Anbieter</a:t>
            </a:r>
          </a:p>
          <a:p>
            <a:r>
              <a:rPr lang="de-DE" sz="2000" b="0" i="0" u="none" strike="noStrike" kern="1200" dirty="0" err="1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Use</a:t>
            </a:r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 Cases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Architektur Dokument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Datenmodell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Funktionsfähigkeit der erfolgskritischen Merkmale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Testfall Dokumentation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90% Muss-Testfälle erfolgreich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Einführungsplan</a:t>
            </a:r>
            <a:r>
              <a:rPr lang="de-DE" sz="2800" dirty="0" smtClean="0"/>
              <a:t> 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70% Anwender-Abdeckung</a:t>
            </a:r>
            <a:r>
              <a:rPr lang="de-DE" sz="2800" dirty="0" smtClean="0"/>
              <a:t> </a:t>
            </a:r>
            <a:endParaRPr lang="de-DE" sz="20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endParaRPr lang="de-DE" sz="20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sym typeface="Noteworthy Bold" charset="0"/>
              </a:rPr>
              <a:t>Rollen: 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Projektleiter</a:t>
            </a:r>
            <a:endParaRPr lang="de-DE" sz="28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GUI Spezialist</a:t>
            </a:r>
            <a:endParaRPr lang="de-DE" sz="28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Analyst</a:t>
            </a:r>
            <a:r>
              <a:rPr lang="de-DE" sz="2800" dirty="0" smtClean="0"/>
              <a:t> </a:t>
            </a:r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Architekt</a:t>
            </a:r>
            <a:endParaRPr lang="de-DE" sz="28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Entwickler</a:t>
            </a:r>
            <a:endParaRPr lang="de-DE" sz="28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Tester</a:t>
            </a:r>
            <a:endParaRPr lang="de-DE" sz="20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endParaRPr lang="de-DE" sz="20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sym typeface="Noteworthy Bold" charset="0"/>
              </a:rPr>
              <a:t>Kostenarten: 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IT-Kosten</a:t>
            </a:r>
            <a:endParaRPr lang="de-DE" sz="28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Reise-Kosten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Trainings-Kosten</a:t>
            </a:r>
            <a:r>
              <a:rPr lang="de-DE" sz="2800" dirty="0" smtClean="0"/>
              <a:t> </a:t>
            </a:r>
            <a:endParaRPr lang="de-DE" sz="20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r>
              <a:rPr lang="de-DE" sz="2400" dirty="0" smtClean="0"/>
              <a:t> </a:t>
            </a:r>
            <a:endParaRPr lang="de-DE" sz="2400" kern="1200" dirty="0" smtClean="0">
              <a:solidFill>
                <a:srgbClr val="572E2D"/>
              </a:solidFill>
              <a:latin typeface="Noteworthy Bold" charset="0"/>
              <a:ea typeface="Noteworthy Bold" charset="0"/>
              <a:cs typeface="Noteworthy Bold" charset="0"/>
              <a:sym typeface="Noteworthy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Projekt-Name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 &amp; Prognose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Projekt-Grafik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Meilenstein Trendanalyse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Vergleich mit Beauftragung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Vergleich mit letztem Stand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Vergleich mit Vorlage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Projektziele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Projektstatus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Veränderungen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Vergleich letzter Stand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Vergleich Beauftragung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Ergebnis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Strategie/Risiko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Teilprojekte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Personalbedarf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Personalkosten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Sonstige 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Gesamtkosten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Trend Strategischer Fit/Risiko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Trend Kennzahlen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Fortschritt Personalkosten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Fortschritt Sonstige 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Fortschritt Rolle(..)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Fortschritt Kostenart(..)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 Personalkosten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 Personalkosten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Soll-Ist1C Personalkosten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Soll-Ist2C Personalkosten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 Sonstige 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 Sonstige 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Soll-Ist1C Sonstige 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Soll-Ist2C Sonstige 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 Gesamtkosten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 Gesamtkosten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Soll-Ist1C Gesamtkosten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Soll-Ist2C Gesamtkosten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 Rolle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 Rolle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Soll-Ist1C Rolle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Soll-Ist2C Rolle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 Kostenart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 Kostenart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Soll-Ist1C Kostenart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Soll-Ist2C Kostenart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Ampel-Farbe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Beschreibung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Stand: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Laufzeit: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Verantwortlich:</a:t>
            </a:r>
          </a:p>
          <a:p>
            <a:endParaRPr lang="de-DE" sz="2400" kern="1200" dirty="0" smtClean="0">
              <a:solidFill>
                <a:srgbClr val="572E2D"/>
              </a:solidFill>
              <a:latin typeface="Noteworthy Bold" charset="0"/>
              <a:ea typeface="Noteworthy Bold" charset="0"/>
              <a:cs typeface="Noteworthy Bold" charset="0"/>
              <a:sym typeface="Noteworthy Bold" charset="0"/>
            </a:endParaRP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--------------------------------</a:t>
            </a:r>
          </a:p>
          <a:p>
            <a:endParaRPr lang="de-DE" sz="2400" kern="1200" dirty="0" smtClean="0">
              <a:solidFill>
                <a:srgbClr val="572E2D"/>
              </a:solidFill>
              <a:latin typeface="Noteworthy Bold" charset="0"/>
              <a:ea typeface="Noteworthy Bold" charset="0"/>
              <a:cs typeface="Noteworthy Bold" charset="0"/>
              <a:sym typeface="Noteworthy Bold" charset="0"/>
            </a:endParaRP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Phasen: 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Business Case</a:t>
            </a:r>
            <a:endParaRPr lang="de-DE" sz="24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Konzept</a:t>
            </a:r>
            <a:endParaRPr lang="de-DE" sz="24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Entwicklung</a:t>
            </a:r>
            <a:endParaRPr lang="de-DE" sz="24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Prototyp</a:t>
            </a:r>
            <a:endParaRPr lang="de-DE" sz="24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Test</a:t>
            </a:r>
            <a:endParaRPr lang="de-DE" sz="24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Rollout</a:t>
            </a:r>
          </a:p>
          <a:p>
            <a:endParaRPr lang="de-DE" sz="20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sym typeface="Noteworthy Bold" charset="0"/>
              </a:rPr>
              <a:t>Meilensteine: 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Projektskizze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Kosten-/Nutzen Analyse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Wettbewerbsanalyse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Analyse Marktpotential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Grob-Konzept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Liste der erfolgskritischen Merkmale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Anbieter Shortlist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Benchmark Dokumentation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Empfehlung Anbieter</a:t>
            </a:r>
          </a:p>
          <a:p>
            <a:r>
              <a:rPr lang="de-DE" sz="2000" b="0" i="0" u="none" strike="noStrike" kern="1200" dirty="0" err="1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Use</a:t>
            </a:r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 Cases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Architektur Dokument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Datenmodell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Funktionsfähigkeit der erfolgskritischen Merkmale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Testfall Dokumentation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90% Muss-Testfälle erfolgreich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Einführungsplan</a:t>
            </a:r>
            <a:r>
              <a:rPr lang="de-DE" sz="2800" dirty="0" smtClean="0"/>
              <a:t> 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70% Anwender-Abdeckung</a:t>
            </a:r>
            <a:r>
              <a:rPr lang="de-DE" sz="2800" dirty="0" smtClean="0"/>
              <a:t> </a:t>
            </a:r>
            <a:endParaRPr lang="de-DE" sz="20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endParaRPr lang="de-DE" sz="20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sym typeface="Noteworthy Bold" charset="0"/>
              </a:rPr>
              <a:t>Rollen: 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Projektleiter</a:t>
            </a:r>
            <a:endParaRPr lang="de-DE" sz="28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GUI Spezialist</a:t>
            </a:r>
            <a:endParaRPr lang="de-DE" sz="28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Analyst</a:t>
            </a:r>
            <a:r>
              <a:rPr lang="de-DE" sz="2800" dirty="0" smtClean="0"/>
              <a:t> </a:t>
            </a:r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Architekt</a:t>
            </a:r>
            <a:endParaRPr lang="de-DE" sz="28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Entwickler</a:t>
            </a:r>
            <a:endParaRPr lang="de-DE" sz="28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Tester</a:t>
            </a:r>
            <a:endParaRPr lang="de-DE" sz="20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endParaRPr lang="de-DE" sz="20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sym typeface="Noteworthy Bold" charset="0"/>
              </a:rPr>
              <a:t>Kostenarten: 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IT-Kosten</a:t>
            </a:r>
            <a:endParaRPr lang="de-DE" sz="28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Reise-Kosten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Trainings-Kosten</a:t>
            </a:r>
            <a:r>
              <a:rPr lang="de-DE" sz="2800" dirty="0" smtClean="0"/>
              <a:t> </a:t>
            </a:r>
            <a:endParaRPr lang="de-DE" sz="20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r>
              <a:rPr lang="de-DE" sz="2400" dirty="0" smtClean="0"/>
              <a:t> </a:t>
            </a:r>
            <a:endParaRPr lang="de-DE" sz="2400" kern="1200" dirty="0" smtClean="0">
              <a:solidFill>
                <a:srgbClr val="572E2D"/>
              </a:solidFill>
              <a:latin typeface="Noteworthy Bold" charset="0"/>
              <a:ea typeface="Noteworthy Bold" charset="0"/>
              <a:cs typeface="Noteworthy Bold" charset="0"/>
              <a:sym typeface="Noteworthy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Projekt-Name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 &amp; Prognose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Projekt-Grafik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Meilenstein Trendanalyse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Vergleich mit Beauftragung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Vergleich mit letztem Stand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Vergleich mit Vorlage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Projektziele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Projektstatus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Veränderungen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Vergleich letzter Stand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Tabelle Vergleich Beauftragung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Ergebnis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Strategie/Risiko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Teilprojekte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Personalbedarf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Personalkosten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Sonstige 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Gesamtkosten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Trend Strategischer Fit/Risiko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Trend Kennzahlen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Fortschritt Personalkosten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Fortschritt Sonstige 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Fortschritt Rolle(..)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Fortschritt Kostenart(..)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 Personalkosten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 Personalkosten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Soll-Ist1C Personalkosten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Soll-Ist2C Personalkosten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 Sonstige 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 Sonstige 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Soll-Ist1C Sonstige 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Soll-Ist2C Sonstige 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 Gesamtkosten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 Gesamtkosten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Soll-Ist1C Gesamtkosten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Soll-Ist2C Gesamtkosten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 Rolle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 Rolle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Soll-Ist1C Rolle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Soll-Ist2C Rolle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 Kostenart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 Kostenart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Soll-Ist1C Kostenart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Soll-Ist2C Kostenart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Ampel-Farbe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Beschreibung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Stand: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Laufzeit:</a:t>
            </a: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Verantwortlich:</a:t>
            </a:r>
          </a:p>
          <a:p>
            <a:endParaRPr lang="de-DE" sz="2400" kern="1200" dirty="0" smtClean="0">
              <a:solidFill>
                <a:srgbClr val="572E2D"/>
              </a:solidFill>
              <a:latin typeface="Noteworthy Bold" charset="0"/>
              <a:ea typeface="Noteworthy Bold" charset="0"/>
              <a:cs typeface="Noteworthy Bold" charset="0"/>
              <a:sym typeface="Noteworthy Bold" charset="0"/>
            </a:endParaRP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--------------------------------</a:t>
            </a:r>
          </a:p>
          <a:p>
            <a:endParaRPr lang="de-DE" sz="2400" kern="1200" dirty="0" smtClean="0">
              <a:solidFill>
                <a:srgbClr val="572E2D"/>
              </a:solidFill>
              <a:latin typeface="Noteworthy Bold" charset="0"/>
              <a:ea typeface="Noteworthy Bold" charset="0"/>
              <a:cs typeface="Noteworthy Bold" charset="0"/>
              <a:sym typeface="Noteworthy Bold" charset="0"/>
            </a:endParaRPr>
          </a:p>
          <a:p>
            <a:r>
              <a:rPr lang="de-DE" sz="2400" kern="1200" dirty="0" smtClean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Phasen: 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Business Case</a:t>
            </a:r>
            <a:endParaRPr lang="de-DE" sz="24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Konzept</a:t>
            </a:r>
            <a:endParaRPr lang="de-DE" sz="24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Entwicklung</a:t>
            </a:r>
            <a:endParaRPr lang="de-DE" sz="24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Prototyp</a:t>
            </a:r>
            <a:endParaRPr lang="de-DE" sz="24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Test</a:t>
            </a:r>
            <a:endParaRPr lang="de-DE" sz="24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Rollout</a:t>
            </a:r>
          </a:p>
          <a:p>
            <a:endParaRPr lang="de-DE" sz="20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sym typeface="Noteworthy Bold" charset="0"/>
              </a:rPr>
              <a:t>Meilensteine: 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Projektskizze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Kosten-/Nutzen Analyse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Wettbewerbsanalyse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Analyse Marktpotential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Grob-Konzept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Liste der erfolgskritischen Merkmale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Anbieter Shortlist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Benchmark Dokumentation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Empfehlung Anbieter</a:t>
            </a:r>
          </a:p>
          <a:p>
            <a:r>
              <a:rPr lang="de-DE" sz="2000" b="0" i="0" u="none" strike="noStrike" kern="1200" dirty="0" err="1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Use</a:t>
            </a:r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 Cases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Architektur Dokument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Datenmodell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Funktionsfähigkeit der erfolgskritischen Merkmale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Testfall Dokumentation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90% Muss-Testfälle erfolgreich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Einführungsplan</a:t>
            </a:r>
            <a:r>
              <a:rPr lang="de-DE" sz="2800" dirty="0" smtClean="0"/>
              <a:t> 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70% Anwender-Abdeckung</a:t>
            </a:r>
            <a:r>
              <a:rPr lang="de-DE" sz="2800" dirty="0" smtClean="0"/>
              <a:t> </a:t>
            </a:r>
            <a:endParaRPr lang="de-DE" sz="20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endParaRPr lang="de-DE" sz="20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sym typeface="Noteworthy Bold" charset="0"/>
              </a:rPr>
              <a:t>Rollen: 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Projektleiter</a:t>
            </a:r>
            <a:endParaRPr lang="de-DE" sz="28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GUI Spezialist</a:t>
            </a:r>
            <a:endParaRPr lang="de-DE" sz="28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Analyst</a:t>
            </a:r>
            <a:r>
              <a:rPr lang="de-DE" sz="2800" dirty="0" smtClean="0"/>
              <a:t> </a:t>
            </a:r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Architekt</a:t>
            </a:r>
            <a:endParaRPr lang="de-DE" sz="28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Entwickler</a:t>
            </a:r>
            <a:endParaRPr lang="de-DE" sz="28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Tester</a:t>
            </a:r>
            <a:endParaRPr lang="de-DE" sz="20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endParaRPr lang="de-DE" sz="20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sym typeface="Noteworthy Bold" charset="0"/>
              </a:rPr>
              <a:t>Kostenarten: 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IT-Kosten</a:t>
            </a:r>
            <a:endParaRPr lang="de-DE" sz="2800" dirty="0" smtClean="0"/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Reise-Kosten</a:t>
            </a:r>
          </a:p>
          <a:p>
            <a:r>
              <a:rPr lang="de-DE" sz="2000" b="0" i="0" u="none" strike="noStrike" kern="1200" dirty="0" smtClean="0">
                <a:solidFill>
                  <a:srgbClr val="572E2D"/>
                </a:solidFill>
                <a:effectLst/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Trainings-Kosten</a:t>
            </a:r>
            <a:r>
              <a:rPr lang="de-DE" sz="2800" dirty="0" smtClean="0"/>
              <a:t> </a:t>
            </a:r>
            <a:endParaRPr lang="de-DE" sz="2000" b="0" i="0" u="none" strike="noStrike" kern="1200" dirty="0" smtClean="0">
              <a:solidFill>
                <a:srgbClr val="572E2D"/>
              </a:solidFill>
              <a:effectLst/>
              <a:latin typeface="Noteworthy Bold" charset="0"/>
              <a:sym typeface="Noteworthy Bold" charset="0"/>
            </a:endParaRPr>
          </a:p>
          <a:p>
            <a:r>
              <a:rPr lang="de-DE" sz="2400" dirty="0" smtClean="0"/>
              <a:t> </a:t>
            </a:r>
            <a:endParaRPr lang="de-DE" sz="2400" kern="1200" dirty="0" smtClean="0">
              <a:solidFill>
                <a:srgbClr val="572E2D"/>
              </a:solidFill>
              <a:latin typeface="Noteworthy Bold" charset="0"/>
              <a:ea typeface="Noteworthy Bold" charset="0"/>
              <a:cs typeface="Noteworthy Bold" charset="0"/>
              <a:sym typeface="Noteworthy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20322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974725" y="3030538"/>
            <a:ext cx="11055350" cy="2090737"/>
          </a:xfrm>
        </p:spPr>
        <p:txBody>
          <a:bodyPr/>
          <a:lstStyle/>
          <a:p>
            <a:r>
              <a:rPr lang="de-DE" dirty="0" smtClean="0"/>
              <a:t>Titelmasterformat durch Klicken bearbeiten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951038" y="5527675"/>
            <a:ext cx="9102725" cy="2492375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de-DE" smtClean="0"/>
              <a:t>Formatvorlage des Untertitelmasters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868434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355600" y="484312"/>
            <a:ext cx="12293600" cy="1282700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77279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blipFill dpi="0" rotWithShape="0">
          <a:blip r:embed="rId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5" name="Rectangle 1"/>
          <p:cNvSpPr>
            <a:spLocks noGrp="1"/>
          </p:cNvSpPr>
          <p:nvPr>
            <p:ph type="title"/>
          </p:nvPr>
        </p:nvSpPr>
        <p:spPr bwMode="auto">
          <a:xfrm>
            <a:off x="355600" y="7416800"/>
            <a:ext cx="12293600" cy="12827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rgbClr val="000000"/>
                </a:solidFill>
                <a:prstDash val="solid"/>
                <a:miter lim="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 smtClean="0">
                <a:sym typeface="Gill Sans Light" charset="0"/>
              </a:rPr>
              <a:t>Click </a:t>
            </a:r>
            <a:r>
              <a:rPr lang="de-DE" dirty="0" err="1" smtClean="0">
                <a:sym typeface="Gill Sans Light" charset="0"/>
              </a:rPr>
              <a:t>to</a:t>
            </a:r>
            <a:r>
              <a:rPr lang="de-DE" dirty="0" smtClean="0">
                <a:sym typeface="Gill Sans Light" charset="0"/>
              </a:rPr>
              <a:t> </a:t>
            </a:r>
            <a:r>
              <a:rPr lang="de-DE" dirty="0" err="1" smtClean="0">
                <a:sym typeface="Gill Sans Light" charset="0"/>
              </a:rPr>
              <a:t>edit</a:t>
            </a:r>
            <a:r>
              <a:rPr lang="de-DE" dirty="0" smtClean="0">
                <a:sym typeface="Gill Sans Light" charset="0"/>
              </a:rPr>
              <a:t> Master title style</a:t>
            </a:r>
          </a:p>
        </p:txBody>
      </p:sp>
      <p:pic>
        <p:nvPicPr>
          <p:cNvPr id="3" name="Grafik 2"/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2412" y="9316381"/>
            <a:ext cx="963712" cy="400031"/>
          </a:xfrm>
          <a:prstGeom prst="rect">
            <a:avLst/>
          </a:prstGeom>
        </p:spPr>
      </p:pic>
      <p:sp>
        <p:nvSpPr>
          <p:cNvPr id="4" name="Textfeld 3"/>
          <p:cNvSpPr txBox="1"/>
          <p:nvPr userDrawn="1"/>
        </p:nvSpPr>
        <p:spPr>
          <a:xfrm>
            <a:off x="10900492" y="9414811"/>
            <a:ext cx="107593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dirty="0" err="1" smtClean="0"/>
              <a:t>Generated</a:t>
            </a:r>
            <a:r>
              <a:rPr lang="de-DE" sz="1050" dirty="0" smtClean="0"/>
              <a:t> by </a:t>
            </a:r>
            <a:endParaRPr lang="de-DE" sz="1050" dirty="0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0" r:id="rId1"/>
    <p:sldLayoutId id="2147483654" r:id="rId2"/>
  </p:sldLayoutIdLst>
  <p:timing>
    <p:tnLst>
      <p:par>
        <p:cTn id="1" dur="indefinite" restart="never" nodeType="tmRoot"/>
      </p:par>
    </p:tnLst>
  </p:timing>
  <p:hf hdr="0" dt="0"/>
  <p:txStyles>
    <p:titleStyle>
      <a:lvl1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+mj-lt"/>
          <a:ea typeface="+mj-ea"/>
          <a:cs typeface="+mj-cs"/>
          <a:sym typeface="Gill Sans Light" charset="0"/>
        </a:defRPr>
      </a:lvl1pPr>
      <a:lvl2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2pPr>
      <a:lvl3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3pPr>
      <a:lvl4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4pPr>
      <a:lvl5pPr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5pPr>
      <a:lvl6pPr marL="4572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6pPr>
      <a:lvl7pPr marL="9144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7pPr>
      <a:lvl8pPr marL="13716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8pPr>
      <a:lvl9pPr marL="1828800" algn="ctr" defTabSz="584200" rtl="0" fontAlgn="base" hangingPunct="0">
        <a:spcBef>
          <a:spcPct val="0"/>
        </a:spcBef>
        <a:spcAft>
          <a:spcPct val="0"/>
        </a:spcAft>
        <a:defRPr sz="7200">
          <a:solidFill>
            <a:srgbClr val="414141"/>
          </a:solidFill>
          <a:latin typeface="Gill Sans Light" charset="0"/>
          <a:ea typeface="Gill Sans Light" charset="0"/>
          <a:cs typeface="Gill Sans Light" charset="0"/>
          <a:sym typeface="Gill Sans Light" charset="0"/>
        </a:defRPr>
      </a:lvl9pPr>
    </p:titleStyle>
    <p:bodyStyle>
      <a:lvl1pPr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1pPr>
      <a:lvl2pPr marL="3429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2pPr>
      <a:lvl3pPr marL="6858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3pPr>
      <a:lvl4pPr marL="10287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4pPr>
      <a:lvl5pPr marL="13716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5pPr>
      <a:lvl6pPr marL="18288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6pPr>
      <a:lvl7pPr marL="22860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7pPr>
      <a:lvl8pPr marL="27432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8pPr>
      <a:lvl9pPr marL="3200400" algn="ctr" defTabSz="584200" rtl="0" fontAlgn="base" hangingPunct="0">
        <a:spcBef>
          <a:spcPct val="0"/>
        </a:spcBef>
        <a:spcAft>
          <a:spcPct val="0"/>
        </a:spcAft>
        <a:defRPr sz="3600">
          <a:solidFill>
            <a:srgbClr val="414141"/>
          </a:solidFill>
          <a:latin typeface="+mn-lt"/>
          <a:ea typeface="+mn-ea"/>
          <a:cs typeface="+mn-cs"/>
          <a:sym typeface="Gill Sans Light" charset="0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 smtClean="0"/>
              <a:t>Übersicht: Vergleich mit letztem Stand</a:t>
            </a:r>
            <a:endParaRPr lang="de-DE" dirty="0"/>
          </a:p>
        </p:txBody>
      </p:sp>
      <p:sp>
        <p:nvSpPr>
          <p:cNvPr id="10" name="Rechteck 9"/>
          <p:cNvSpPr/>
          <p:nvPr/>
        </p:nvSpPr>
        <p:spPr bwMode="auto">
          <a:xfrm>
            <a:off x="45372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Stand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4" name="Rechteck 13"/>
          <p:cNvSpPr/>
          <p:nvPr/>
        </p:nvSpPr>
        <p:spPr bwMode="auto">
          <a:xfrm>
            <a:off x="921696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Verantwortlich:</a:t>
            </a:r>
          </a:p>
        </p:txBody>
      </p:sp>
      <p:sp>
        <p:nvSpPr>
          <p:cNvPr id="15" name="Rechteck 14"/>
          <p:cNvSpPr/>
          <p:nvPr/>
        </p:nvSpPr>
        <p:spPr bwMode="auto">
          <a:xfrm>
            <a:off x="483534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Laufzeit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graphicFrame>
        <p:nvGraphicFramePr>
          <p:cNvPr id="16" name="Tabelle 15" title="Tabelle Vergleich letzter Stan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9505423"/>
              </p:ext>
            </p:extLst>
          </p:nvPr>
        </p:nvGraphicFramePr>
        <p:xfrm>
          <a:off x="453728" y="1780456"/>
          <a:ext cx="12097343" cy="5616619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592288"/>
                <a:gridCol w="1224136"/>
                <a:gridCol w="3888432"/>
                <a:gridCol w="4392487"/>
              </a:tblGrid>
              <a:tr h="89235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algn="ctr"/>
                      <a:r>
                        <a:rPr lang="de-DE" sz="1400" dirty="0" smtClean="0"/>
                        <a:t>Charakteristik</a:t>
                      </a:r>
                      <a:endParaRPr lang="de-DE" sz="1400" dirty="0">
                        <a:solidFill>
                          <a:srgbClr val="FFFFFF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400" b="1" kern="1200" dirty="0" smtClean="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rPr>
                        <a:t>Trend</a:t>
                      </a:r>
                      <a:endParaRPr lang="de-DE" sz="1400" b="1" kern="1200" dirty="0">
                        <a:solidFill>
                          <a:schemeClr val="lt1"/>
                        </a:solidFill>
                        <a:latin typeface="Gill Sans Light"/>
                        <a:ea typeface="ヒラギノ角ゴ ProN W3"/>
                        <a:cs typeface="ヒラギノ角ゴ ProN W3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algn="ctr"/>
                      <a:r>
                        <a:rPr lang="de-DE" sz="1400" b="1" kern="1200" dirty="0" smtClean="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rPr>
                        <a:t>Letzter Stand in Datenbank</a:t>
                      </a:r>
                      <a:endParaRPr lang="de-DE" sz="1400" b="1" kern="1200" dirty="0">
                        <a:solidFill>
                          <a:schemeClr val="lt1"/>
                        </a:solidFill>
                        <a:latin typeface="Gill Sans Light"/>
                        <a:ea typeface="ヒラギノ角ゴ ProN W3"/>
                        <a:cs typeface="ヒラギノ角ゴ ProN W3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de-DE" sz="1400" b="1" kern="1200" dirty="0" smtClean="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rPr>
                        <a:t>Aktueller Stand</a:t>
                      </a:r>
                    </a:p>
                  </a:txBody>
                  <a:tcPr anchor="ctr"/>
                </a:tc>
              </a:tr>
              <a:tr h="47242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algn="l" defTabSz="914400" rtl="0" eaLnBrk="1" latinLnBrk="0" hangingPunct="1"/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Ergebnis</a:t>
                      </a:r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50 T€</a:t>
                      </a:r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400" dirty="0" smtClean="0">
                          <a:solidFill>
                            <a:schemeClr val="bg1"/>
                          </a:solidFill>
                        </a:rPr>
                        <a:t>-10 T€</a:t>
                      </a:r>
                      <a:endParaRPr lang="de-DE" sz="1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47242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Budget</a:t>
                      </a:r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 kern="120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Wert</a:t>
                      </a:r>
                      <a:r>
                        <a:rPr lang="de-DE" sz="1400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 alt </a:t>
                      </a:r>
                      <a:endParaRPr lang="de-DE" sz="1400" kern="120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Wert neu</a:t>
                      </a:r>
                      <a:endParaRPr lang="de-DE" sz="1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47242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Personalkosten</a:t>
                      </a:r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 kern="120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Wert</a:t>
                      </a:r>
                      <a:r>
                        <a:rPr lang="de-DE" sz="1400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 alt </a:t>
                      </a:r>
                      <a:endParaRPr lang="de-DE" sz="1400" kern="120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Wert neu</a:t>
                      </a:r>
                      <a:endParaRPr lang="de-DE" sz="1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47242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Sonstige Kosten</a:t>
                      </a:r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 kern="120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Wert</a:t>
                      </a:r>
                      <a:r>
                        <a:rPr lang="de-DE" sz="1400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 alt </a:t>
                      </a:r>
                      <a:endParaRPr lang="de-DE" sz="1400" kern="120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Wert neu</a:t>
                      </a:r>
                      <a:endParaRPr lang="de-DE" sz="1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47242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Termine Phasen</a:t>
                      </a:r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 kern="120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Keine Änderung / oder siehe Chart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Keine Änderung / oder siehe Chart</a:t>
                      </a:r>
                    </a:p>
                  </a:txBody>
                  <a:tcPr anchor="ctr"/>
                </a:tc>
              </a:tr>
              <a:tr h="47242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Termine Meilensteine</a:t>
                      </a:r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Keine Änderung / oder siehe Chart</a:t>
                      </a:r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Keine Änderung / oder siehe Chart</a:t>
                      </a:r>
                    </a:p>
                  </a:txBody>
                  <a:tcPr anchor="ctr"/>
                </a:tc>
              </a:tr>
              <a:tr h="47242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Einschätzung</a:t>
                      </a:r>
                      <a:r>
                        <a:rPr lang="de-DE" sz="1400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 strategischer Fit </a:t>
                      </a:r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Wert</a:t>
                      </a:r>
                      <a:r>
                        <a:rPr lang="de-DE" sz="1400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 alt </a:t>
                      </a:r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Wert neu </a:t>
                      </a:r>
                    </a:p>
                  </a:txBody>
                  <a:tcPr anchor="ctr"/>
                </a:tc>
              </a:tr>
              <a:tr h="47242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Einschätzung Risiko</a:t>
                      </a:r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Wert alt </a:t>
                      </a:r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Wert neu</a:t>
                      </a:r>
                    </a:p>
                  </a:txBody>
                  <a:tcPr anchor="ctr"/>
                </a:tc>
              </a:tr>
              <a:tr h="47242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Projekt-Ampel</a:t>
                      </a:r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 kern="120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47242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Projekt-Ampel Erläuterung</a:t>
                      </a:r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de-DE" sz="12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Erläuterung</a:t>
                      </a:r>
                      <a:endParaRPr lang="de-DE" sz="12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Erläuterung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3" name="Pfeil nach rechts 2" title="gleich"/>
          <p:cNvSpPr/>
          <p:nvPr/>
        </p:nvSpPr>
        <p:spPr bwMode="auto">
          <a:xfrm>
            <a:off x="597744" y="484312"/>
            <a:ext cx="216000" cy="216024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noFill/>
          </a:ln>
          <a:effectLst/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marR="0" indent="0" algn="ctr" defTabSz="58420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3600" b="0" i="0" u="none" strike="noStrike" cap="none" normalizeH="0" baseline="0" dirty="0" smtClean="0">
              <a:ln>
                <a:noFill/>
              </a:ln>
              <a:solidFill>
                <a:srgbClr val="414141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</p:txBody>
      </p:sp>
      <p:sp>
        <p:nvSpPr>
          <p:cNvPr id="9" name="Pfeil nach rechts 8" title="steigend"/>
          <p:cNvSpPr/>
          <p:nvPr/>
        </p:nvSpPr>
        <p:spPr bwMode="auto">
          <a:xfrm>
            <a:off x="597744" y="844352"/>
            <a:ext cx="216000" cy="216024"/>
          </a:xfrm>
          <a:prstGeom prst="rightArrow">
            <a:avLst/>
          </a:prstGeom>
          <a:solidFill>
            <a:srgbClr val="00B050"/>
          </a:solidFill>
          <a:ln>
            <a:noFill/>
          </a:ln>
          <a:effectLst/>
          <a:scene3d>
            <a:camera prst="orthographicFront">
              <a:rot lat="0" lon="0" rev="3000000"/>
            </a:camera>
            <a:lightRig rig="threePt" dir="t"/>
          </a:scene3d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marR="0" indent="0" algn="ctr" defTabSz="58420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3600" b="0" i="0" u="none" strike="noStrike" cap="none" normalizeH="0" baseline="0" dirty="0" smtClean="0">
              <a:ln>
                <a:noFill/>
              </a:ln>
              <a:solidFill>
                <a:srgbClr val="414141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</p:txBody>
      </p:sp>
      <p:sp>
        <p:nvSpPr>
          <p:cNvPr id="11" name="Pfeil nach rechts 10" title="fallend"/>
          <p:cNvSpPr/>
          <p:nvPr/>
        </p:nvSpPr>
        <p:spPr bwMode="auto">
          <a:xfrm>
            <a:off x="597744" y="1204392"/>
            <a:ext cx="216000" cy="216024"/>
          </a:xfrm>
          <a:prstGeom prst="rightArrow">
            <a:avLst/>
          </a:prstGeom>
          <a:solidFill>
            <a:srgbClr val="FF0000"/>
          </a:solidFill>
          <a:ln>
            <a:noFill/>
          </a:ln>
          <a:effectLst/>
          <a:scene3d>
            <a:camera prst="orthographicFront">
              <a:rot lat="0" lon="0" rev="18600000"/>
            </a:camera>
            <a:lightRig rig="threePt" dir="t"/>
          </a:scene3d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marR="0" indent="0" algn="ctr" defTabSz="58420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3600" b="0" i="0" u="none" strike="noStrike" cap="none" normalizeH="0" baseline="0" dirty="0" smtClean="0">
              <a:ln>
                <a:noFill/>
              </a:ln>
              <a:solidFill>
                <a:srgbClr val="414141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</p:txBody>
      </p:sp>
      <p:sp>
        <p:nvSpPr>
          <p:cNvPr id="4" name="Ellipse 3" title="ampel"/>
          <p:cNvSpPr/>
          <p:nvPr/>
        </p:nvSpPr>
        <p:spPr bwMode="auto">
          <a:xfrm>
            <a:off x="1173808" y="606545"/>
            <a:ext cx="288032" cy="288032"/>
          </a:xfrm>
          <a:prstGeom prst="ellipse">
            <a:avLst/>
          </a:prstGeom>
          <a:solidFill>
            <a:srgbClr val="00B050"/>
          </a:solidFill>
          <a:ln>
            <a:noFill/>
          </a:ln>
          <a:effectLst/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marR="0" indent="0" algn="ctr" defTabSz="58420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3600" b="0" i="0" u="none" strike="noStrike" cap="none" normalizeH="0" baseline="0" dirty="0" smtClean="0">
              <a:ln>
                <a:noFill/>
              </a:ln>
              <a:solidFill>
                <a:srgbClr val="414141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</p:txBody>
      </p:sp>
      <p:sp>
        <p:nvSpPr>
          <p:cNvPr id="12" name="Stern mit 5 Zacken 11" title="stern"/>
          <p:cNvSpPr/>
          <p:nvPr/>
        </p:nvSpPr>
        <p:spPr bwMode="auto">
          <a:xfrm>
            <a:off x="453728" y="8498983"/>
            <a:ext cx="298900" cy="266249"/>
          </a:xfrm>
          <a:prstGeom prst="star5">
            <a:avLst/>
          </a:prstGeom>
          <a:solidFill>
            <a:srgbClr val="FFC000"/>
          </a:solidFill>
          <a:ln>
            <a:noFill/>
          </a:ln>
          <a:effectLst/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marR="0" indent="0" algn="ctr" defTabSz="58420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3600" b="0" i="0" u="none" strike="noStrike" cap="none" normalizeH="0" baseline="0" smtClean="0">
              <a:ln>
                <a:noFill/>
              </a:ln>
              <a:solidFill>
                <a:srgbClr val="414141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</p:txBody>
      </p:sp>
      <p:sp>
        <p:nvSpPr>
          <p:cNvPr id="5" name="Textfeld 4"/>
          <p:cNvSpPr txBox="1"/>
          <p:nvPr/>
        </p:nvSpPr>
        <p:spPr>
          <a:xfrm>
            <a:off x="752628" y="8532963"/>
            <a:ext cx="41264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 smtClean="0"/>
              <a:t>Es gibt Änderungen. Weitere Informationen auf nachfolgenden Folien 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001981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/>
              <a:t>Übersicht: Vergleich mit Beauftragung</a:t>
            </a:r>
            <a:endParaRPr lang="de-DE" dirty="0"/>
          </a:p>
        </p:txBody>
      </p:sp>
      <p:sp>
        <p:nvSpPr>
          <p:cNvPr id="10" name="Rechteck 9"/>
          <p:cNvSpPr/>
          <p:nvPr/>
        </p:nvSpPr>
        <p:spPr bwMode="auto">
          <a:xfrm>
            <a:off x="45372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Stand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4" name="Rechteck 13"/>
          <p:cNvSpPr/>
          <p:nvPr/>
        </p:nvSpPr>
        <p:spPr bwMode="auto">
          <a:xfrm>
            <a:off x="921696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Verantwortlich:</a:t>
            </a:r>
          </a:p>
        </p:txBody>
      </p:sp>
      <p:sp>
        <p:nvSpPr>
          <p:cNvPr id="15" name="Rechteck 14"/>
          <p:cNvSpPr/>
          <p:nvPr/>
        </p:nvSpPr>
        <p:spPr bwMode="auto">
          <a:xfrm>
            <a:off x="483534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Laufzeit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graphicFrame>
        <p:nvGraphicFramePr>
          <p:cNvPr id="16" name="Tabelle 15" title="Tabelle Vergleich Beauftrag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0095651"/>
              </p:ext>
            </p:extLst>
          </p:nvPr>
        </p:nvGraphicFramePr>
        <p:xfrm>
          <a:off x="453728" y="1780456"/>
          <a:ext cx="12097343" cy="5616619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2592288"/>
                <a:gridCol w="1224136"/>
                <a:gridCol w="3888432"/>
                <a:gridCol w="4392487"/>
              </a:tblGrid>
              <a:tr h="892359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algn="ctr"/>
                      <a:r>
                        <a:rPr lang="de-DE" sz="1400" dirty="0" smtClean="0"/>
                        <a:t>Charakteristik</a:t>
                      </a:r>
                      <a:endParaRPr lang="de-DE" sz="1400" dirty="0">
                        <a:solidFill>
                          <a:srgbClr val="FFFFFF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400" b="1" kern="1200" dirty="0" smtClean="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rPr>
                        <a:t>Trend</a:t>
                      </a:r>
                      <a:endParaRPr lang="de-DE" sz="1400" b="1" kern="1200" dirty="0">
                        <a:solidFill>
                          <a:schemeClr val="lt1"/>
                        </a:solidFill>
                        <a:latin typeface="Gill Sans Light"/>
                        <a:ea typeface="ヒラギノ角ゴ ProN W3"/>
                        <a:cs typeface="ヒラギノ角ゴ ProN W3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algn="ctr"/>
                      <a:r>
                        <a:rPr lang="de-DE" sz="1400" kern="1200" dirty="0" smtClean="0"/>
                        <a:t>Beauftragung in Datenbank</a:t>
                      </a:r>
                      <a:endParaRPr lang="de-DE" sz="1400" b="1" kern="1200" dirty="0">
                        <a:solidFill>
                          <a:srgbClr val="FFFFFF"/>
                        </a:solidFill>
                        <a:latin typeface="Gill Sans Light"/>
                        <a:ea typeface="ヒラギノ角ゴ ProN W3"/>
                        <a:cs typeface="ヒラギノ角ゴ ProN W3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de-DE" sz="1400" b="1" kern="1200" dirty="0" smtClean="0">
                          <a:solidFill>
                            <a:schemeClr val="lt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rPr>
                        <a:t>Aktueller Stand</a:t>
                      </a:r>
                    </a:p>
                  </a:txBody>
                  <a:tcPr anchor="ctr"/>
                </a:tc>
              </a:tr>
              <a:tr h="47242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algn="l" defTabSz="914400" rtl="0" eaLnBrk="1" latinLnBrk="0" hangingPunct="1"/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Ergebnis</a:t>
                      </a:r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Gill Sans Light"/>
                          <a:ea typeface="ヒラギノ角ゴ ProN W3"/>
                          <a:cs typeface="ヒラギノ角ゴ ProN W3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50 T€</a:t>
                      </a:r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400" dirty="0" smtClean="0">
                          <a:solidFill>
                            <a:schemeClr val="bg1"/>
                          </a:solidFill>
                        </a:rPr>
                        <a:t>-10 T€</a:t>
                      </a:r>
                      <a:endParaRPr lang="de-DE" sz="1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47242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Budget</a:t>
                      </a:r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 kern="120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Wert</a:t>
                      </a:r>
                      <a:r>
                        <a:rPr lang="de-DE" sz="1400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 alt </a:t>
                      </a:r>
                      <a:endParaRPr lang="de-DE" sz="1400" kern="120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Wert neu</a:t>
                      </a:r>
                      <a:endParaRPr lang="de-DE" sz="1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47242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Personalkosten</a:t>
                      </a:r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 kern="120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Wert</a:t>
                      </a:r>
                      <a:r>
                        <a:rPr lang="de-DE" sz="1400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 alt </a:t>
                      </a:r>
                      <a:endParaRPr lang="de-DE" sz="1400" kern="120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Wert neu</a:t>
                      </a:r>
                      <a:endParaRPr lang="de-DE" sz="1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47242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Sonstige Kosten</a:t>
                      </a:r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 kern="120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Wert</a:t>
                      </a:r>
                      <a:r>
                        <a:rPr lang="de-DE" sz="1400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 alt </a:t>
                      </a:r>
                      <a:endParaRPr lang="de-DE" sz="1400" kern="120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Wert neu</a:t>
                      </a:r>
                      <a:endParaRPr lang="de-DE" sz="1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47242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Termine Phasen</a:t>
                      </a:r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 kern="120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Keine Änderung / oder siehe Chart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Keine Änderung / oder siehe Chart</a:t>
                      </a:r>
                    </a:p>
                  </a:txBody>
                  <a:tcPr anchor="ctr"/>
                </a:tc>
              </a:tr>
              <a:tr h="47242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Termine Meilensteine</a:t>
                      </a:r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Keine Änderung / oder siehe Chart</a:t>
                      </a:r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Keine Änderung / oder siehe Chart</a:t>
                      </a:r>
                    </a:p>
                  </a:txBody>
                  <a:tcPr anchor="ctr"/>
                </a:tc>
              </a:tr>
              <a:tr h="47242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Einschätzung</a:t>
                      </a:r>
                      <a:r>
                        <a:rPr lang="de-DE" sz="1400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 strategischer Fit </a:t>
                      </a:r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Wert</a:t>
                      </a:r>
                      <a:r>
                        <a:rPr lang="de-DE" sz="1400" kern="1200" baseline="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 alt </a:t>
                      </a:r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Wert neu </a:t>
                      </a:r>
                    </a:p>
                  </a:txBody>
                  <a:tcPr anchor="ctr"/>
                </a:tc>
              </a:tr>
              <a:tr h="47242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Einschätzung Risiko</a:t>
                      </a:r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Wert alt </a:t>
                      </a:r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Wert neu</a:t>
                      </a:r>
                    </a:p>
                  </a:txBody>
                  <a:tcPr anchor="ctr"/>
                </a:tc>
              </a:tr>
              <a:tr h="47242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Projekt-Ampel</a:t>
                      </a:r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400" kern="1200" dirty="0" smtClean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472426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de-DE" sz="14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Projekt-Ampel Erläuterung</a:t>
                      </a:r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e-DE" sz="14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de-DE" sz="12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Erläuterung</a:t>
                      </a:r>
                      <a:endParaRPr lang="de-DE" sz="12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200" kern="1200" dirty="0" smtClean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Erläuterung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3" name="Pfeil nach rechts 2" title="gleich"/>
          <p:cNvSpPr/>
          <p:nvPr/>
        </p:nvSpPr>
        <p:spPr bwMode="auto">
          <a:xfrm>
            <a:off x="597744" y="484312"/>
            <a:ext cx="216000" cy="216024"/>
          </a:xfrm>
          <a:prstGeom prst="rightArrow">
            <a:avLst/>
          </a:prstGeom>
          <a:solidFill>
            <a:schemeClr val="bg2">
              <a:lumMod val="75000"/>
            </a:schemeClr>
          </a:solidFill>
          <a:ln>
            <a:noFill/>
          </a:ln>
          <a:effectLst/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marR="0" indent="0" algn="ctr" defTabSz="58420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3600" b="0" i="0" u="none" strike="noStrike" cap="none" normalizeH="0" baseline="0" dirty="0" smtClean="0">
              <a:ln>
                <a:noFill/>
              </a:ln>
              <a:solidFill>
                <a:srgbClr val="414141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</p:txBody>
      </p:sp>
      <p:sp>
        <p:nvSpPr>
          <p:cNvPr id="9" name="Pfeil nach rechts 8" title="steigend"/>
          <p:cNvSpPr/>
          <p:nvPr/>
        </p:nvSpPr>
        <p:spPr bwMode="auto">
          <a:xfrm>
            <a:off x="597744" y="844352"/>
            <a:ext cx="216000" cy="216024"/>
          </a:xfrm>
          <a:prstGeom prst="rightArrow">
            <a:avLst/>
          </a:prstGeom>
          <a:solidFill>
            <a:srgbClr val="00B050"/>
          </a:solidFill>
          <a:ln>
            <a:noFill/>
          </a:ln>
          <a:effectLst/>
          <a:scene3d>
            <a:camera prst="orthographicFront">
              <a:rot lat="0" lon="0" rev="3000000"/>
            </a:camera>
            <a:lightRig rig="threePt" dir="t"/>
          </a:scene3d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marR="0" indent="0" algn="ctr" defTabSz="58420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3600" b="0" i="0" u="none" strike="noStrike" cap="none" normalizeH="0" baseline="0" dirty="0" smtClean="0">
              <a:ln>
                <a:noFill/>
              </a:ln>
              <a:solidFill>
                <a:srgbClr val="414141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</p:txBody>
      </p:sp>
      <p:sp>
        <p:nvSpPr>
          <p:cNvPr id="11" name="Pfeil nach rechts 10" title="fallend"/>
          <p:cNvSpPr/>
          <p:nvPr/>
        </p:nvSpPr>
        <p:spPr bwMode="auto">
          <a:xfrm>
            <a:off x="597744" y="1204392"/>
            <a:ext cx="216000" cy="216024"/>
          </a:xfrm>
          <a:prstGeom prst="rightArrow">
            <a:avLst/>
          </a:prstGeom>
          <a:solidFill>
            <a:srgbClr val="FF0000"/>
          </a:solidFill>
          <a:ln>
            <a:noFill/>
          </a:ln>
          <a:effectLst/>
          <a:scene3d>
            <a:camera prst="orthographicFront">
              <a:rot lat="0" lon="0" rev="18600000"/>
            </a:camera>
            <a:lightRig rig="threePt" dir="t"/>
          </a:scene3d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marR="0" indent="0" algn="ctr" defTabSz="58420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3600" b="0" i="0" u="none" strike="noStrike" cap="none" normalizeH="0" baseline="0" dirty="0" smtClean="0">
              <a:ln>
                <a:noFill/>
              </a:ln>
              <a:solidFill>
                <a:srgbClr val="414141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</p:txBody>
      </p:sp>
      <p:sp>
        <p:nvSpPr>
          <p:cNvPr id="4" name="Ellipse 3" title="ampel"/>
          <p:cNvSpPr/>
          <p:nvPr/>
        </p:nvSpPr>
        <p:spPr bwMode="auto">
          <a:xfrm>
            <a:off x="1173808" y="606545"/>
            <a:ext cx="288032" cy="288032"/>
          </a:xfrm>
          <a:prstGeom prst="ellipse">
            <a:avLst/>
          </a:prstGeom>
          <a:solidFill>
            <a:srgbClr val="00B050"/>
          </a:solidFill>
          <a:ln>
            <a:noFill/>
          </a:ln>
          <a:effectLst/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marR="0" indent="0" algn="ctr" defTabSz="58420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3600" b="0" i="0" u="none" strike="noStrike" cap="none" normalizeH="0" baseline="0" dirty="0" smtClean="0">
              <a:ln>
                <a:noFill/>
              </a:ln>
              <a:solidFill>
                <a:srgbClr val="414141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</p:txBody>
      </p:sp>
      <p:sp>
        <p:nvSpPr>
          <p:cNvPr id="12" name="Stern mit 5 Zacken 11" title="stern"/>
          <p:cNvSpPr/>
          <p:nvPr/>
        </p:nvSpPr>
        <p:spPr bwMode="auto">
          <a:xfrm>
            <a:off x="453728" y="8498983"/>
            <a:ext cx="298900" cy="266249"/>
          </a:xfrm>
          <a:prstGeom prst="star5">
            <a:avLst/>
          </a:prstGeom>
          <a:solidFill>
            <a:srgbClr val="FFC000"/>
          </a:solidFill>
          <a:ln>
            <a:noFill/>
          </a:ln>
          <a:effectLst/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marR="0" indent="0" algn="ctr" defTabSz="58420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3600" b="0" i="0" u="none" strike="noStrike" cap="none" normalizeH="0" baseline="0" smtClean="0">
              <a:ln>
                <a:noFill/>
              </a:ln>
              <a:solidFill>
                <a:srgbClr val="414141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</p:txBody>
      </p:sp>
      <p:sp>
        <p:nvSpPr>
          <p:cNvPr id="5" name="Textfeld 4"/>
          <p:cNvSpPr txBox="1"/>
          <p:nvPr/>
        </p:nvSpPr>
        <p:spPr>
          <a:xfrm>
            <a:off x="752628" y="8532963"/>
            <a:ext cx="412645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 smtClean="0"/>
              <a:t>Es gibt Änderungen. Weitere Informationen auf nachfolgenden Folien 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2025569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/>
              <a:t>Projekt-Name</a:t>
            </a:r>
            <a:endParaRPr lang="de-DE" dirty="0"/>
          </a:p>
        </p:txBody>
      </p:sp>
      <p:sp>
        <p:nvSpPr>
          <p:cNvPr id="8" name="Rechteck 7"/>
          <p:cNvSpPr/>
          <p:nvPr/>
        </p:nvSpPr>
        <p:spPr bwMode="auto">
          <a:xfrm>
            <a:off x="453728" y="1708448"/>
            <a:ext cx="12097344" cy="5184576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dirty="0"/>
              <a:t>Meilenstein Trendanalyse</a:t>
            </a:r>
            <a:endParaRPr kumimoji="0" lang="de-DE" sz="18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</p:txBody>
      </p:sp>
      <p:sp>
        <p:nvSpPr>
          <p:cNvPr id="10" name="Rechteck 9"/>
          <p:cNvSpPr/>
          <p:nvPr/>
        </p:nvSpPr>
        <p:spPr bwMode="auto">
          <a:xfrm>
            <a:off x="45372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Stand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4" name="Rechteck 13"/>
          <p:cNvSpPr/>
          <p:nvPr/>
        </p:nvSpPr>
        <p:spPr bwMode="auto">
          <a:xfrm>
            <a:off x="921696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Verantwortlich:</a:t>
            </a:r>
          </a:p>
        </p:txBody>
      </p:sp>
      <p:sp>
        <p:nvSpPr>
          <p:cNvPr id="15" name="Rechteck 14"/>
          <p:cNvSpPr/>
          <p:nvPr/>
        </p:nvSpPr>
        <p:spPr bwMode="auto">
          <a:xfrm>
            <a:off x="483534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Laufzeit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grpSp>
        <p:nvGrpSpPr>
          <p:cNvPr id="9" name="Gruppieren 8"/>
          <p:cNvGrpSpPr/>
          <p:nvPr/>
        </p:nvGrpSpPr>
        <p:grpSpPr>
          <a:xfrm>
            <a:off x="381720" y="7181056"/>
            <a:ext cx="6140784" cy="553998"/>
            <a:chOff x="3582064" y="7824700"/>
            <a:chExt cx="6140784" cy="553998"/>
          </a:xfrm>
        </p:grpSpPr>
        <p:sp>
          <p:nvSpPr>
            <p:cNvPr id="11" name="Textfeld 10"/>
            <p:cNvSpPr txBox="1"/>
            <p:nvPr/>
          </p:nvSpPr>
          <p:spPr>
            <a:xfrm>
              <a:off x="3582064" y="7824700"/>
              <a:ext cx="6140784" cy="55399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de-DE" sz="1000" dirty="0" smtClean="0"/>
                <a:t>Die Farbe gibt die „Ampelbewertung“ des Meilensteins zum entsprechenden Planungs-Zeitpunkt wieder: </a:t>
              </a:r>
            </a:p>
            <a:p>
              <a:pPr algn="l">
                <a:lnSpc>
                  <a:spcPct val="150000"/>
                </a:lnSpc>
              </a:pPr>
              <a:r>
                <a:rPr lang="de-DE" sz="1000" dirty="0" smtClean="0"/>
                <a:t>grün, gelb, rot oder ohne Bewertung</a:t>
              </a:r>
              <a:endParaRPr lang="de-DE" sz="1000" dirty="0"/>
            </a:p>
          </p:txBody>
        </p:sp>
        <p:grpSp>
          <p:nvGrpSpPr>
            <p:cNvPr id="12" name="Gruppieren 11"/>
            <p:cNvGrpSpPr/>
            <p:nvPr/>
          </p:nvGrpSpPr>
          <p:grpSpPr>
            <a:xfrm>
              <a:off x="5967040" y="8154149"/>
              <a:ext cx="774502" cy="144016"/>
              <a:chOff x="10840466" y="7986146"/>
              <a:chExt cx="774502" cy="144016"/>
            </a:xfrm>
          </p:grpSpPr>
          <p:sp>
            <p:nvSpPr>
              <p:cNvPr id="13" name="Ellipse 12"/>
              <p:cNvSpPr/>
              <p:nvPr/>
            </p:nvSpPr>
            <p:spPr bwMode="auto">
              <a:xfrm>
                <a:off x="10840466" y="7986146"/>
                <a:ext cx="144016" cy="144016"/>
              </a:xfrm>
              <a:prstGeom prst="ellipse">
                <a:avLst/>
              </a:prstGeom>
              <a:solidFill>
                <a:srgbClr val="00B050"/>
              </a:solidFill>
              <a:ln>
                <a:noFill/>
              </a:ln>
              <a:effectLst/>
              <a:extLst/>
            </p:spPr>
            <p:txBody>
              <a:bodyPr vert="horz" wrap="square" lIns="50800" tIns="50800" rIns="50800" bIns="508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342900" marR="0" indent="0" algn="ctr" defTabSz="584200" rtl="0" eaLnBrk="1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e-DE" sz="3600" b="0" i="0" u="none" strike="noStrike" cap="none" normalizeH="0" baseline="0" dirty="0" smtClean="0">
                  <a:ln>
                    <a:noFill/>
                  </a:ln>
                  <a:solidFill>
                    <a:srgbClr val="414141"/>
                  </a:solidFill>
                  <a:effectLst/>
                  <a:latin typeface="Gill Sans Light" charset="0"/>
                  <a:ea typeface="Gill Sans Light" charset="0"/>
                  <a:cs typeface="Gill Sans Light" charset="0"/>
                  <a:sym typeface="Gill Sans Light" charset="0"/>
                </a:endParaRPr>
              </a:p>
            </p:txBody>
          </p:sp>
          <p:sp>
            <p:nvSpPr>
              <p:cNvPr id="17" name="Ellipse 16"/>
              <p:cNvSpPr/>
              <p:nvPr/>
            </p:nvSpPr>
            <p:spPr bwMode="auto">
              <a:xfrm>
                <a:off x="11050628" y="7986146"/>
                <a:ext cx="144016" cy="144016"/>
              </a:xfrm>
              <a:prstGeom prst="ellipse">
                <a:avLst/>
              </a:prstGeom>
              <a:solidFill>
                <a:srgbClr val="FFC000"/>
              </a:solidFill>
              <a:ln>
                <a:noFill/>
              </a:ln>
              <a:effectLst/>
              <a:extLst/>
            </p:spPr>
            <p:txBody>
              <a:bodyPr vert="horz" wrap="square" lIns="50800" tIns="50800" rIns="50800" bIns="508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342900" marR="0" indent="0" algn="ctr" defTabSz="584200" rtl="0" eaLnBrk="1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e-DE" sz="3600" b="0" i="0" u="none" strike="noStrike" cap="none" normalizeH="0" baseline="0" dirty="0" smtClean="0">
                  <a:ln>
                    <a:noFill/>
                  </a:ln>
                  <a:solidFill>
                    <a:srgbClr val="414141"/>
                  </a:solidFill>
                  <a:effectLst/>
                  <a:latin typeface="Gill Sans Light" charset="0"/>
                  <a:ea typeface="Gill Sans Light" charset="0"/>
                  <a:cs typeface="Gill Sans Light" charset="0"/>
                  <a:sym typeface="Gill Sans Light" charset="0"/>
                </a:endParaRPr>
              </a:p>
            </p:txBody>
          </p:sp>
          <p:sp>
            <p:nvSpPr>
              <p:cNvPr id="18" name="Ellipse 17"/>
              <p:cNvSpPr/>
              <p:nvPr/>
            </p:nvSpPr>
            <p:spPr bwMode="auto">
              <a:xfrm>
                <a:off x="11260790" y="7986146"/>
                <a:ext cx="144016" cy="144016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  <a:effectLst/>
              <a:extLst/>
            </p:spPr>
            <p:txBody>
              <a:bodyPr vert="horz" wrap="square" lIns="50800" tIns="50800" rIns="50800" bIns="508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342900" marR="0" indent="0" algn="ctr" defTabSz="584200" rtl="0" eaLnBrk="1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e-DE" sz="3600" b="0" i="0" u="none" strike="noStrike" cap="none" normalizeH="0" baseline="0" dirty="0" smtClean="0">
                  <a:ln>
                    <a:noFill/>
                  </a:ln>
                  <a:solidFill>
                    <a:srgbClr val="414141"/>
                  </a:solidFill>
                  <a:effectLst/>
                  <a:latin typeface="Gill Sans Light" charset="0"/>
                  <a:ea typeface="Gill Sans Light" charset="0"/>
                  <a:cs typeface="Gill Sans Light" charset="0"/>
                  <a:sym typeface="Gill Sans Light" charset="0"/>
                </a:endParaRPr>
              </a:p>
            </p:txBody>
          </p:sp>
          <p:sp>
            <p:nvSpPr>
              <p:cNvPr id="19" name="Ellipse 18"/>
              <p:cNvSpPr/>
              <p:nvPr/>
            </p:nvSpPr>
            <p:spPr bwMode="auto">
              <a:xfrm>
                <a:off x="11470952" y="7986146"/>
                <a:ext cx="144016" cy="144016"/>
              </a:xfrm>
              <a:prstGeom prst="ellipse">
                <a:avLst/>
              </a:prstGeom>
              <a:solidFill>
                <a:schemeClr val="bg2">
                  <a:lumMod val="60000"/>
                  <a:lumOff val="40000"/>
                </a:schemeClr>
              </a:solidFill>
              <a:ln>
                <a:noFill/>
              </a:ln>
              <a:effectLst/>
              <a:extLst/>
            </p:spPr>
            <p:txBody>
              <a:bodyPr vert="horz" wrap="square" lIns="50800" tIns="50800" rIns="50800" bIns="50800" numCol="1" rtlCol="0" anchor="ctr" anchorCtr="0" compatLnSpc="1">
                <a:prstTxWarp prst="textNoShape">
                  <a:avLst/>
                </a:prstTxWarp>
              </a:bodyPr>
              <a:lstStyle/>
              <a:p>
                <a:pPr marL="342900" marR="0" indent="0" algn="ctr" defTabSz="584200" rtl="0" eaLnBrk="1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de-DE" sz="3600" b="0" i="0" u="none" strike="noStrike" cap="none" normalizeH="0" baseline="0" dirty="0" smtClean="0">
                  <a:ln>
                    <a:noFill/>
                  </a:ln>
                  <a:solidFill>
                    <a:srgbClr val="414141"/>
                  </a:solidFill>
                  <a:effectLst/>
                  <a:latin typeface="Gill Sans Light" charset="0"/>
                  <a:ea typeface="Gill Sans Light" charset="0"/>
                  <a:cs typeface="Gill Sans Light" charset="0"/>
                  <a:sym typeface="Gill Sans Light" charset="0"/>
                </a:endParaRPr>
              </a:p>
            </p:txBody>
          </p:sp>
        </p:grpSp>
      </p:grpSp>
      <p:grpSp>
        <p:nvGrpSpPr>
          <p:cNvPr id="20" name="Gruppieren 19"/>
          <p:cNvGrpSpPr/>
          <p:nvPr/>
        </p:nvGrpSpPr>
        <p:grpSpPr>
          <a:xfrm>
            <a:off x="381720" y="7829128"/>
            <a:ext cx="7348487" cy="784830"/>
            <a:chOff x="2819400" y="8340221"/>
            <a:chExt cx="7348487" cy="784830"/>
          </a:xfrm>
        </p:grpSpPr>
        <p:sp>
          <p:nvSpPr>
            <p:cNvPr id="21" name="Textfeld 20"/>
            <p:cNvSpPr txBox="1"/>
            <p:nvPr/>
          </p:nvSpPr>
          <p:spPr>
            <a:xfrm>
              <a:off x="2819400" y="8340221"/>
              <a:ext cx="7348487" cy="7848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de-DE" sz="1000" dirty="0" smtClean="0"/>
                <a:t>Die Form gibt an, ob der Meilenstein zum jeweiligen Planungs-Stand bereits als abgeschlossen galt oder noch in der Zukunft lag</a:t>
              </a:r>
            </a:p>
            <a:p>
              <a:pPr marL="514350" lvl="1" indent="-171450" algn="l">
                <a:lnSpc>
                  <a:spcPct val="150000"/>
                </a:lnSpc>
                <a:buFontTx/>
                <a:buChar char="-"/>
              </a:pPr>
              <a:r>
                <a:rPr lang="de-DE" sz="1000" dirty="0" smtClean="0"/>
                <a:t>Meilenstein gilt als abgeschlossen (Ergebnis mit der Ampel-Farbe bewertet)</a:t>
              </a:r>
            </a:p>
            <a:p>
              <a:pPr marL="514350" lvl="1" indent="-171450" algn="l">
                <a:lnSpc>
                  <a:spcPct val="150000"/>
                </a:lnSpc>
                <a:buFontTx/>
                <a:buChar char="-"/>
              </a:pPr>
              <a:r>
                <a:rPr lang="de-DE" sz="1000" dirty="0" smtClean="0"/>
                <a:t>Meilenstein Prognose (Ergebnis mit der Ampel-Farbe prognostiziert)</a:t>
              </a:r>
              <a:endParaRPr lang="de-DE" sz="1000" dirty="0"/>
            </a:p>
          </p:txBody>
        </p:sp>
        <p:sp>
          <p:nvSpPr>
            <p:cNvPr id="22" name="Ellipse 21"/>
            <p:cNvSpPr/>
            <p:nvPr/>
          </p:nvSpPr>
          <p:spPr bwMode="auto">
            <a:xfrm>
              <a:off x="2902000" y="8881619"/>
              <a:ext cx="144016" cy="144016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  <a:effectLst/>
            <a:extLst/>
          </p:spPr>
          <p:txBody>
            <a:bodyPr vert="horz" wrap="square" lIns="50800" tIns="50800" rIns="50800" bIns="50800" numCol="1" rtlCol="0" anchor="ctr" anchorCtr="0" compatLnSpc="1">
              <a:prstTxWarp prst="textNoShape">
                <a:avLst/>
              </a:prstTxWarp>
            </a:bodyPr>
            <a:lstStyle/>
            <a:p>
              <a:pPr marL="342900" marR="0" indent="0" algn="ctr" defTabSz="5842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e-DE" sz="3600" b="0" i="0" u="none" strike="noStrike" cap="none" normalizeH="0" baseline="0" dirty="0" smtClean="0">
                <a:ln>
                  <a:noFill/>
                </a:ln>
                <a:solidFill>
                  <a:srgbClr val="414141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endParaRPr>
            </a:p>
          </p:txBody>
        </p:sp>
        <p:sp>
          <p:nvSpPr>
            <p:cNvPr id="23" name="Rechteck 22"/>
            <p:cNvSpPr/>
            <p:nvPr/>
          </p:nvSpPr>
          <p:spPr bwMode="auto">
            <a:xfrm>
              <a:off x="2902000" y="8649595"/>
              <a:ext cx="144016" cy="14400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  <a:effectLst/>
            <a:extLst/>
          </p:spPr>
          <p:txBody>
            <a:bodyPr vert="horz" wrap="square" lIns="50800" tIns="50800" rIns="50800" bIns="50800" numCol="1" rtlCol="0" anchor="ctr" anchorCtr="0" compatLnSpc="1">
              <a:prstTxWarp prst="textNoShape">
                <a:avLst/>
              </a:prstTxWarp>
            </a:bodyPr>
            <a:lstStyle/>
            <a:p>
              <a:pPr marL="342900" marR="0" indent="0" algn="ctr" defTabSz="5842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e-DE" sz="3600" b="0" i="0" u="none" strike="noStrike" cap="none" normalizeH="0" baseline="0" dirty="0" smtClean="0">
                <a:ln>
                  <a:noFill/>
                </a:ln>
                <a:solidFill>
                  <a:srgbClr val="414141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endParaRPr>
            </a:p>
          </p:txBody>
        </p:sp>
      </p:grpSp>
      <p:grpSp>
        <p:nvGrpSpPr>
          <p:cNvPr id="24" name="Gruppieren 23"/>
          <p:cNvGrpSpPr/>
          <p:nvPr/>
        </p:nvGrpSpPr>
        <p:grpSpPr>
          <a:xfrm>
            <a:off x="8086576" y="7181056"/>
            <a:ext cx="4641014" cy="1015663"/>
            <a:chOff x="2819400" y="8340221"/>
            <a:chExt cx="4641014" cy="1015663"/>
          </a:xfrm>
        </p:grpSpPr>
        <p:sp>
          <p:nvSpPr>
            <p:cNvPr id="25" name="Textfeld 24"/>
            <p:cNvSpPr txBox="1"/>
            <p:nvPr/>
          </p:nvSpPr>
          <p:spPr>
            <a:xfrm>
              <a:off x="2819400" y="8340221"/>
              <a:ext cx="4641014" cy="101566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>
                <a:lnSpc>
                  <a:spcPct val="150000"/>
                </a:lnSpc>
              </a:pPr>
              <a:r>
                <a:rPr lang="de-DE" sz="1000" dirty="0" smtClean="0"/>
                <a:t>Die Größe der Form gibt an, ob der Status / die Bewertung aus dem Vormonat </a:t>
              </a:r>
              <a:br>
                <a:rPr lang="de-DE" sz="1000" dirty="0" smtClean="0"/>
              </a:br>
              <a:r>
                <a:rPr lang="de-DE" sz="1000" dirty="0" smtClean="0"/>
                <a:t>übernommen wurde oder ob es eine Bewertung in dem Berichtszeitraum gab</a:t>
              </a:r>
            </a:p>
            <a:p>
              <a:pPr marL="514350" lvl="1" indent="-171450" algn="l">
                <a:lnSpc>
                  <a:spcPct val="150000"/>
                </a:lnSpc>
                <a:buFontTx/>
                <a:buChar char="-"/>
              </a:pPr>
              <a:r>
                <a:rPr lang="de-DE" sz="1000" dirty="0" smtClean="0"/>
                <a:t>Die Bewertung ist aus dem angegebenen Berichtszeitraum</a:t>
              </a:r>
            </a:p>
            <a:p>
              <a:pPr marL="514350" lvl="1" indent="-171450" algn="l">
                <a:lnSpc>
                  <a:spcPct val="150000"/>
                </a:lnSpc>
                <a:buFontTx/>
                <a:buChar char="-"/>
              </a:pPr>
              <a:r>
                <a:rPr lang="de-DE" sz="1000" dirty="0" smtClean="0"/>
                <a:t>Die Bewertung stammt aus dem Vormonat</a:t>
              </a:r>
              <a:endParaRPr lang="de-DE" sz="1000" dirty="0"/>
            </a:p>
          </p:txBody>
        </p:sp>
        <p:sp>
          <p:nvSpPr>
            <p:cNvPr id="26" name="Ellipse 25"/>
            <p:cNvSpPr/>
            <p:nvPr/>
          </p:nvSpPr>
          <p:spPr bwMode="auto">
            <a:xfrm>
              <a:off x="2902000" y="8881619"/>
              <a:ext cx="180000" cy="180000"/>
            </a:xfrm>
            <a:prstGeom prst="ellipse">
              <a:avLst/>
            </a:prstGeom>
            <a:solidFill>
              <a:srgbClr val="00B050"/>
            </a:solidFill>
            <a:ln>
              <a:noFill/>
            </a:ln>
            <a:effectLst/>
            <a:extLst/>
          </p:spPr>
          <p:txBody>
            <a:bodyPr vert="horz" wrap="square" lIns="50800" tIns="50800" rIns="50800" bIns="50800" numCol="1" rtlCol="0" anchor="ctr" anchorCtr="0" compatLnSpc="1">
              <a:prstTxWarp prst="textNoShape">
                <a:avLst/>
              </a:prstTxWarp>
            </a:bodyPr>
            <a:lstStyle/>
            <a:p>
              <a:pPr marL="342900" marR="0" indent="0" algn="ctr" defTabSz="584200" rtl="0" eaLnBrk="1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de-DE" sz="3600" b="0" i="0" u="none" strike="noStrike" cap="none" normalizeH="0" baseline="0" dirty="0" smtClean="0">
                <a:ln>
                  <a:noFill/>
                </a:ln>
                <a:solidFill>
                  <a:srgbClr val="414141"/>
                </a:solidFill>
                <a:effectLst/>
                <a:latin typeface="Gill Sans Light" charset="0"/>
                <a:ea typeface="Gill Sans Light" charset="0"/>
                <a:cs typeface="Gill Sans Light" charset="0"/>
                <a:sym typeface="Gill Sans Light" charset="0"/>
              </a:endParaRPr>
            </a:p>
          </p:txBody>
        </p:sp>
      </p:grpSp>
      <p:sp>
        <p:nvSpPr>
          <p:cNvPr id="28" name="Ellipse 27"/>
          <p:cNvSpPr/>
          <p:nvPr/>
        </p:nvSpPr>
        <p:spPr bwMode="auto">
          <a:xfrm>
            <a:off x="8211412" y="7959192"/>
            <a:ext cx="108000" cy="108000"/>
          </a:xfrm>
          <a:prstGeom prst="ellipse">
            <a:avLst/>
          </a:prstGeom>
          <a:solidFill>
            <a:srgbClr val="00B050"/>
          </a:solidFill>
          <a:ln>
            <a:noFill/>
          </a:ln>
          <a:effectLst/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marR="0" indent="0" algn="ctr" defTabSz="584200" rtl="0" eaLnBrk="1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sz="3600" b="0" i="0" u="none" strike="noStrike" cap="none" normalizeH="0" baseline="0" dirty="0" smtClean="0">
              <a:ln>
                <a:noFill/>
              </a:ln>
              <a:solidFill>
                <a:srgbClr val="414141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88393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 smtClean="0"/>
              <a:t>Vergleich mit Projekt-Generik</a:t>
            </a:r>
            <a:endParaRPr lang="de-DE" dirty="0"/>
          </a:p>
        </p:txBody>
      </p:sp>
      <p:sp>
        <p:nvSpPr>
          <p:cNvPr id="8" name="Rechteck 7"/>
          <p:cNvSpPr/>
          <p:nvPr/>
        </p:nvSpPr>
        <p:spPr bwMode="auto">
          <a:xfrm>
            <a:off x="453728" y="1708448"/>
            <a:ext cx="12097344" cy="576064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dirty="0"/>
              <a:t>Vergleich mit Vorlage</a:t>
            </a:r>
            <a:endParaRPr kumimoji="0" lang="de-DE" sz="18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</p:txBody>
      </p:sp>
      <p:sp>
        <p:nvSpPr>
          <p:cNvPr id="10" name="Rechteck 9"/>
          <p:cNvSpPr/>
          <p:nvPr/>
        </p:nvSpPr>
        <p:spPr bwMode="auto">
          <a:xfrm>
            <a:off x="45372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Stand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4" name="Rechteck 13"/>
          <p:cNvSpPr/>
          <p:nvPr/>
        </p:nvSpPr>
        <p:spPr bwMode="auto">
          <a:xfrm>
            <a:off x="921696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Verantwortlich:</a:t>
            </a:r>
          </a:p>
        </p:txBody>
      </p:sp>
      <p:sp>
        <p:nvSpPr>
          <p:cNvPr id="15" name="Rechteck 14"/>
          <p:cNvSpPr/>
          <p:nvPr/>
        </p:nvSpPr>
        <p:spPr bwMode="auto">
          <a:xfrm>
            <a:off x="483534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Laufzeit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3" name="Textfeld 2"/>
          <p:cNvSpPr txBox="1"/>
          <p:nvPr/>
        </p:nvSpPr>
        <p:spPr>
          <a:xfrm>
            <a:off x="488661" y="7807271"/>
            <a:ext cx="55563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de-DE" sz="1000" dirty="0" smtClean="0"/>
              <a:t>Phasen Abschnitte sind identisch, wenn die Phasen jeweils in Grau dargestellt werden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de-DE" sz="1000" dirty="0" smtClean="0"/>
              <a:t>Phasen abschnitte sind unterschiedlich, wenn die Phasen in Ihrer Farbe dargestellt werden   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4541767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 smtClean="0"/>
              <a:t>Vergleich mit Beauftragungs-Stand</a:t>
            </a:r>
            <a:endParaRPr lang="de-DE" dirty="0"/>
          </a:p>
        </p:txBody>
      </p:sp>
      <p:sp>
        <p:nvSpPr>
          <p:cNvPr id="8" name="Rechteck 7"/>
          <p:cNvSpPr/>
          <p:nvPr/>
        </p:nvSpPr>
        <p:spPr bwMode="auto">
          <a:xfrm>
            <a:off x="453728" y="1708448"/>
            <a:ext cx="12097344" cy="576064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/>
            <a:r>
              <a:rPr lang="de-DE" sz="1400" dirty="0"/>
              <a:t>Vergleich mit </a:t>
            </a:r>
            <a:r>
              <a:rPr lang="de-DE" sz="1400" dirty="0" smtClean="0"/>
              <a:t>Beauftragung</a:t>
            </a:r>
            <a:endParaRPr kumimoji="0" lang="de-DE" sz="1800" b="0" i="0" u="none" strike="noStrike" cap="none" normalizeH="0" baseline="0" dirty="0" smtClean="0">
              <a:ln>
                <a:noFill/>
              </a:ln>
              <a:solidFill>
                <a:schemeClr val="bg2"/>
              </a:solidFill>
              <a:effectLst/>
              <a:latin typeface="Gill Sans Light" charset="0"/>
              <a:ea typeface="Gill Sans Light" charset="0"/>
              <a:cs typeface="Gill Sans Light" charset="0"/>
              <a:sym typeface="Gill Sans Light" charset="0"/>
            </a:endParaRPr>
          </a:p>
        </p:txBody>
      </p:sp>
      <p:sp>
        <p:nvSpPr>
          <p:cNvPr id="10" name="Rechteck 9"/>
          <p:cNvSpPr/>
          <p:nvPr/>
        </p:nvSpPr>
        <p:spPr bwMode="auto">
          <a:xfrm>
            <a:off x="45372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Stand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4" name="Rechteck 13"/>
          <p:cNvSpPr/>
          <p:nvPr/>
        </p:nvSpPr>
        <p:spPr bwMode="auto">
          <a:xfrm>
            <a:off x="921696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Verantwortlich:</a:t>
            </a:r>
          </a:p>
        </p:txBody>
      </p:sp>
      <p:sp>
        <p:nvSpPr>
          <p:cNvPr id="15" name="Rechteck 14"/>
          <p:cNvSpPr/>
          <p:nvPr/>
        </p:nvSpPr>
        <p:spPr bwMode="auto">
          <a:xfrm>
            <a:off x="483534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Laufzeit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3" name="Textfeld 2"/>
          <p:cNvSpPr txBox="1"/>
          <p:nvPr/>
        </p:nvSpPr>
        <p:spPr>
          <a:xfrm>
            <a:off x="488661" y="7807271"/>
            <a:ext cx="55563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de-DE" sz="1000" dirty="0" smtClean="0"/>
              <a:t>Phasen Abschnitte sind identisch, wenn die Phasen jeweils in Grau dargestellt werden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de-DE" sz="1000" dirty="0" smtClean="0"/>
              <a:t>Phasen abschnitte sind unterschiedlich, wenn die Phasen in Ihrer Farbe dargestellt werden   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5804262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50875" y="390525"/>
            <a:ext cx="11703050" cy="1245915"/>
          </a:xfrm>
        </p:spPr>
        <p:txBody>
          <a:bodyPr/>
          <a:lstStyle/>
          <a:p>
            <a:r>
              <a:rPr lang="de-DE" sz="4400" dirty="0" smtClean="0"/>
              <a:t>Vergleich mit letztem Planungs-Stand</a:t>
            </a:r>
            <a:endParaRPr lang="de-DE" dirty="0"/>
          </a:p>
        </p:txBody>
      </p:sp>
      <p:sp>
        <p:nvSpPr>
          <p:cNvPr id="8" name="Rechteck 7"/>
          <p:cNvSpPr/>
          <p:nvPr/>
        </p:nvSpPr>
        <p:spPr bwMode="auto">
          <a:xfrm>
            <a:off x="453728" y="1708448"/>
            <a:ext cx="12097344" cy="5760640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5080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defTabSz="457200">
              <a:lnSpc>
                <a:spcPts val="3500"/>
              </a:lnSpc>
              <a:defRPr/>
            </a:pPr>
            <a:r>
              <a:rPr lang="de-DE" sz="1400" dirty="0">
                <a:solidFill>
                  <a:srgbClr val="572E2D"/>
                </a:solidFill>
                <a:latin typeface="Noteworthy Bold" charset="0"/>
                <a:ea typeface="Noteworthy Bold" charset="0"/>
                <a:cs typeface="Noteworthy Bold" charset="0"/>
                <a:sym typeface="Noteworthy Bold" charset="0"/>
              </a:rPr>
              <a:t>Vergleich mit letztem Stand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0" name="Rechteck 9"/>
          <p:cNvSpPr/>
          <p:nvPr/>
        </p:nvSpPr>
        <p:spPr bwMode="auto">
          <a:xfrm>
            <a:off x="45372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Stand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14" name="Rechteck 13"/>
          <p:cNvSpPr/>
          <p:nvPr/>
        </p:nvSpPr>
        <p:spPr bwMode="auto">
          <a:xfrm>
            <a:off x="921696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Verantwortlich:</a:t>
            </a:r>
          </a:p>
        </p:txBody>
      </p:sp>
      <p:sp>
        <p:nvSpPr>
          <p:cNvPr id="15" name="Rechteck 14"/>
          <p:cNvSpPr/>
          <p:nvPr/>
        </p:nvSpPr>
        <p:spPr bwMode="auto">
          <a:xfrm>
            <a:off x="4835348" y="8929194"/>
            <a:ext cx="3478120" cy="340094"/>
          </a:xfrm>
          <a:prstGeom prst="rect">
            <a:avLst/>
          </a:prstGeom>
          <a:solidFill>
            <a:srgbClr val="FFFFFF"/>
          </a:solidFill>
          <a:ln w="38100" cap="flat" cmpd="sng" algn="ctr">
            <a:solidFill>
              <a:schemeClr val="accent1">
                <a:lumMod val="75000"/>
              </a:schemeClr>
            </a:solidFill>
            <a:prstDash val="solid"/>
            <a:miter lim="0"/>
            <a:headEnd type="none" w="med" len="med"/>
            <a:tailEnd type="none" w="med" len="med"/>
          </a:ln>
          <a:effectLst>
            <a:innerShdw blurRad="63500" dist="50800" dir="18900000">
              <a:prstClr val="black">
                <a:alpha val="50000"/>
              </a:prstClr>
            </a:innerShdw>
            <a:softEdge rad="12700"/>
          </a:effectLst>
          <a:extLst/>
        </p:spPr>
        <p:txBody>
          <a:bodyPr vert="horz" wrap="square" lIns="0" tIns="50800" rIns="50800" bIns="50800" numCol="1" rtlCol="0" anchor="ctr" anchorCtr="0" compatLnSpc="1">
            <a:prstTxWarp prst="textNoShape">
              <a:avLst/>
            </a:prstTxWarp>
          </a:bodyPr>
          <a:lstStyle/>
          <a:p>
            <a:pPr marL="342900" algn="l"/>
            <a:r>
              <a:rPr lang="de-DE" sz="1400" dirty="0">
                <a:solidFill>
                  <a:schemeClr val="bg2"/>
                </a:solidFill>
              </a:rPr>
              <a:t>Laufzeit</a:t>
            </a:r>
            <a:r>
              <a:rPr lang="de-DE" sz="1400" dirty="0" smtClean="0">
                <a:solidFill>
                  <a:schemeClr val="bg2"/>
                </a:solidFill>
              </a:rPr>
              <a:t>:</a:t>
            </a:r>
            <a:endParaRPr lang="de-DE" sz="1400" dirty="0">
              <a:solidFill>
                <a:schemeClr val="bg2"/>
              </a:solidFill>
            </a:endParaRPr>
          </a:p>
        </p:txBody>
      </p:sp>
      <p:sp>
        <p:nvSpPr>
          <p:cNvPr id="3" name="Textfeld 2"/>
          <p:cNvSpPr txBox="1"/>
          <p:nvPr/>
        </p:nvSpPr>
        <p:spPr>
          <a:xfrm>
            <a:off x="488661" y="7807271"/>
            <a:ext cx="555632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de-DE" sz="1000" dirty="0" smtClean="0"/>
              <a:t>Phasen Abschnitte sind identisch, wenn die Phasen jeweils in Grau dargestellt werden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de-DE" sz="1000" dirty="0" smtClean="0"/>
              <a:t>Phasen abschnitte sind unterschiedlich, wenn die Phasen in Ihrer Farbe dargestellt werden   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10276026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Larissa">
  <a:themeElements>
    <a:clrScheme name="">
      <a:dk1>
        <a:srgbClr val="A5A5A5"/>
      </a:dk1>
      <a:lt1>
        <a:srgbClr val="414141"/>
      </a:lt1>
      <a:dk2>
        <a:srgbClr val="240041"/>
      </a:dk2>
      <a:lt2>
        <a:srgbClr val="484D4B"/>
      </a:lt2>
      <a:accent1>
        <a:srgbClr val="669AA4"/>
      </a:accent1>
      <a:accent2>
        <a:srgbClr val="930706"/>
      </a:accent2>
      <a:accent3>
        <a:srgbClr val="ACAAB0"/>
      </a:accent3>
      <a:accent4>
        <a:srgbClr val="363636"/>
      </a:accent4>
      <a:accent5>
        <a:srgbClr val="B8CACF"/>
      </a:accent5>
      <a:accent6>
        <a:srgbClr val="850605"/>
      </a:accent6>
      <a:hlink>
        <a:srgbClr val="0000FF"/>
      </a:hlink>
      <a:folHlink>
        <a:srgbClr val="FF00FF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6D7472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tx1"/>
              </a:solidFill>
              <a:prstDash val="solid"/>
              <a:miter lim="0"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50800" tIns="50800" rIns="50800" bIns="50800" numCol="1" anchor="ctr" anchorCtr="0" compatLnSpc="1">
        <a:prstTxWarp prst="textNoShape">
          <a:avLst/>
        </a:prstTxWarp>
      </a:bodyPr>
      <a:lstStyle>
        <a:defPPr marL="342900" marR="0" indent="0" algn="ctr" defTabSz="584200" rtl="0" eaLnBrk="1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3600" b="0" i="0" u="none" strike="noStrike" cap="none" normalizeH="0" baseline="0" smtClean="0">
            <a:ln>
              <a:noFill/>
            </a:ln>
            <a:solidFill>
              <a:srgbClr val="414141"/>
            </a:solidFill>
            <a:effectLst/>
            <a:latin typeface="Gill Sans Light" charset="0"/>
            <a:ea typeface="Gill Sans Light" charset="0"/>
            <a:cs typeface="Gill Sans Light" charset="0"/>
            <a:sym typeface="Gill Sans Light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rgbClr val="6D7472"/>
        </a:solidFill>
        <a:ln>
          <a:noFill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tx1"/>
              </a:solidFill>
              <a:prstDash val="solid"/>
              <a:miter lim="0"/>
              <a:headEnd type="none" w="med" len="med"/>
              <a:tailEnd type="none" w="med" len="med"/>
            </a14:hiddenLine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50800" tIns="50800" rIns="50800" bIns="50800" numCol="1" anchor="ctr" anchorCtr="0" compatLnSpc="1">
        <a:prstTxWarp prst="textNoShape">
          <a:avLst/>
        </a:prstTxWarp>
      </a:bodyPr>
      <a:lstStyle>
        <a:defPPr marL="342900" marR="0" indent="0" algn="ctr" defTabSz="584200" rtl="0" eaLnBrk="1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de-DE" sz="3600" b="0" i="0" u="none" strike="noStrike" cap="none" normalizeH="0" baseline="0" smtClean="0">
            <a:ln>
              <a:noFill/>
            </a:ln>
            <a:solidFill>
              <a:srgbClr val="414141"/>
            </a:solidFill>
            <a:effectLst/>
            <a:latin typeface="Gill Sans Light" charset="0"/>
            <a:ea typeface="Gill Sans Light" charset="0"/>
            <a:cs typeface="Gill Sans Light" charset="0"/>
            <a:sym typeface="Gill Sans Light" charset="0"/>
          </a:defRPr>
        </a:defPPr>
      </a:lstStyle>
    </a:lnDef>
  </a:objectDefaults>
  <a:extraClrSchemeLst/>
</a:theme>
</file>

<file path=ppt/theme/theme2.xml><?xml version="1.0" encoding="utf-8"?>
<a:theme xmlns:a="http://schemas.openxmlformats.org/drawingml/2006/main" name="Larissa">
  <a:themeElements>
    <a:clrScheme name="">
      <a:dk1>
        <a:srgbClr val="572E2D"/>
      </a:dk1>
      <a:lt1>
        <a:srgbClr val="2A5657"/>
      </a:lt1>
      <a:dk2>
        <a:srgbClr val="484D4B"/>
      </a:dk2>
      <a:lt2>
        <a:srgbClr val="A5A5A5"/>
      </a:lt2>
      <a:accent1>
        <a:srgbClr val="669AA4"/>
      </a:accent1>
      <a:accent2>
        <a:srgbClr val="930706"/>
      </a:accent2>
      <a:accent3>
        <a:srgbClr val="ACB4B4"/>
      </a:accent3>
      <a:accent4>
        <a:srgbClr val="492625"/>
      </a:accent4>
      <a:accent5>
        <a:srgbClr val="B8CACF"/>
      </a:accent5>
      <a:accent6>
        <a:srgbClr val="850605"/>
      </a:accent6>
      <a:hlink>
        <a:srgbClr val="0000FF"/>
      </a:hlink>
      <a:folHlink>
        <a:srgbClr val="FF00FF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1426</Words>
  <Application>Microsoft Office PowerPoint</Application>
  <PresentationFormat>Benutzerdefiniert</PresentationFormat>
  <Paragraphs>660</Paragraphs>
  <Slides>6</Slides>
  <Notes>6</Notes>
  <HiddenSlides>0</HiddenSlides>
  <MMClips>0</MMClips>
  <ScaleCrop>false</ScaleCrop>
  <HeadingPairs>
    <vt:vector size="4" baseType="variant"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7" baseType="lpstr">
      <vt:lpstr>Larissa</vt:lpstr>
      <vt:lpstr>Übersicht: Vergleich mit letztem Stand</vt:lpstr>
      <vt:lpstr>Übersicht: Vergleich mit Beauftragung</vt:lpstr>
      <vt:lpstr>Projekt-Name</vt:lpstr>
      <vt:lpstr>Vergleich mit Projekt-Generik</vt:lpstr>
      <vt:lpstr>Vergleich mit Beauftragungs-Stand</vt:lpstr>
      <vt:lpstr>Vergleich mit letztem Planungs-Stand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tom</dc:creator>
  <cp:lastModifiedBy>tom</cp:lastModifiedBy>
  <cp:revision>104</cp:revision>
  <cp:lastPrinted>2013-11-11T22:44:44Z</cp:lastPrinted>
  <dcterms:modified xsi:type="dcterms:W3CDTF">2014-03-02T11:42:14Z</dcterms:modified>
</cp:coreProperties>
</file>