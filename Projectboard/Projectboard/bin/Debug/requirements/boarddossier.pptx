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7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10"/>
  </p:notesMasterIdLst>
  <p:sldIdLst>
    <p:sldId id="273" r:id="rId2"/>
    <p:sldId id="274" r:id="rId3"/>
    <p:sldId id="276" r:id="rId4"/>
    <p:sldId id="278" r:id="rId5"/>
    <p:sldId id="280" r:id="rId6"/>
    <p:sldId id="282" r:id="rId7"/>
    <p:sldId id="284" r:id="rId8"/>
    <p:sldId id="285" r:id="rId9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09" autoAdjust="0"/>
    <p:restoredTop sz="75353" autoAdjust="0"/>
  </p:normalViewPr>
  <p:slideViewPr>
    <p:cSldViewPr>
      <p:cViewPr>
        <p:scale>
          <a:sx n="100" d="100"/>
          <a:sy n="100" d="100"/>
        </p:scale>
        <p:origin x="-930" y="1734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tom\Source\Repos\Project%20Board\Projectboard\Projectboard\bin\Debug\Projectboard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13</c:v>
              </c:pt>
              <c:pt idx="1">
                <c:v>Feb 13</c:v>
              </c:pt>
              <c:pt idx="2">
                <c:v>Mrz 13</c:v>
              </c:pt>
              <c:pt idx="3">
                <c:v>Apr 13</c:v>
              </c:pt>
              <c:pt idx="4">
                <c:v>Mai 13</c:v>
              </c:pt>
              <c:pt idx="5">
                <c:v>Jun 13</c:v>
              </c:pt>
              <c:pt idx="6">
                <c:v>Jul 13</c:v>
              </c:pt>
              <c:pt idx="7">
                <c:v>Aug 13</c:v>
              </c:pt>
              <c:pt idx="8">
                <c:v>Sep 13</c:v>
              </c:pt>
              <c:pt idx="9">
                <c:v>Okt 13</c:v>
              </c:pt>
              <c:pt idx="10">
                <c:v>Nov 13</c:v>
              </c:pt>
              <c:pt idx="11">
                <c:v>Dez 13</c:v>
              </c:pt>
            </c:strLit>
          </c:cat>
          <c:val>
            <c:numLit>
              <c:formatCode>General</c:formatCode>
              <c:ptCount val="12"/>
              <c:pt idx="0">
                <c:v>2.558904109589041</c:v>
              </c:pt>
              <c:pt idx="1">
                <c:v>3</c:v>
              </c:pt>
              <c:pt idx="2">
                <c:v>3.558904109589041</c:v>
              </c:pt>
              <c:pt idx="3">
                <c:v>4.2630136986301368</c:v>
              </c:pt>
              <c:pt idx="4">
                <c:v>4.9863013698630141</c:v>
              </c:pt>
              <c:pt idx="5">
                <c:v>4.0520547945205481</c:v>
              </c:pt>
              <c:pt idx="6">
                <c:v>4.9534246575342467</c:v>
              </c:pt>
              <c:pt idx="7">
                <c:v>7.2356164383561641</c:v>
              </c:pt>
              <c:pt idx="8">
                <c:v>8.6904109589041099</c:v>
              </c:pt>
              <c:pt idx="9">
                <c:v>9.5260273972602736</c:v>
              </c:pt>
              <c:pt idx="10">
                <c:v>9.1972602739726028</c:v>
              </c:pt>
              <c:pt idx="11">
                <c:v>8.493150684931507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619648"/>
        <c:axId val="92571904"/>
      </c:barChart>
      <c:catAx>
        <c:axId val="534619648"/>
        <c:scaling>
          <c:orientation val="minMax"/>
        </c:scaling>
        <c:delete val="0"/>
        <c:axPos val="b"/>
        <c:majorTickMark val="out"/>
        <c:minorTickMark val="none"/>
        <c:tickLblPos val="nextTo"/>
        <c:crossAx val="92571904"/>
        <c:crosses val="autoZero"/>
        <c:auto val="1"/>
        <c:lblAlgn val="ctr"/>
        <c:lblOffset val="100"/>
        <c:noMultiLvlLbl val="0"/>
      </c:catAx>
      <c:valAx>
        <c:axId val="92571904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619648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13</c:v>
              </c:pt>
              <c:pt idx="1">
                <c:v>Feb 13</c:v>
              </c:pt>
              <c:pt idx="2">
                <c:v>Mrz 13</c:v>
              </c:pt>
              <c:pt idx="3">
                <c:v>Apr 13</c:v>
              </c:pt>
              <c:pt idx="4">
                <c:v>Mai 13</c:v>
              </c:pt>
              <c:pt idx="5">
                <c:v>Jun 13</c:v>
              </c:pt>
              <c:pt idx="6">
                <c:v>Jul 13</c:v>
              </c:pt>
              <c:pt idx="7">
                <c:v>Aug 13</c:v>
              </c:pt>
              <c:pt idx="8">
                <c:v>Sep 13</c:v>
              </c:pt>
              <c:pt idx="9">
                <c:v>Okt 13</c:v>
              </c:pt>
              <c:pt idx="10">
                <c:v>Nov 13</c:v>
              </c:pt>
              <c:pt idx="11">
                <c:v>Dez 13</c:v>
              </c:pt>
            </c:strLit>
          </c:cat>
          <c:val>
            <c:numLit>
              <c:formatCode>General</c:formatCode>
              <c:ptCount val="12"/>
              <c:pt idx="0">
                <c:v>0</c:v>
              </c:pt>
              <c:pt idx="1">
                <c:v>0</c:v>
              </c:pt>
              <c:pt idx="2">
                <c:v>0.88767123287671235</c:v>
              </c:pt>
              <c:pt idx="3">
                <c:v>1</c:v>
              </c:pt>
              <c:pt idx="4">
                <c:v>1</c:v>
              </c:pt>
              <c:pt idx="5">
                <c:v>1</c:v>
              </c:pt>
              <c:pt idx="6">
                <c:v>1.789041095890411</c:v>
              </c:pt>
              <c:pt idx="7">
                <c:v>3</c:v>
              </c:pt>
              <c:pt idx="8">
                <c:v>4.2493150684931509</c:v>
              </c:pt>
              <c:pt idx="9">
                <c:v>5.0986301369863014</c:v>
              </c:pt>
              <c:pt idx="10">
                <c:v>6</c:v>
              </c:pt>
              <c:pt idx="11">
                <c:v>5.624657534246575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618112"/>
        <c:axId val="92573632"/>
      </c:barChart>
      <c:catAx>
        <c:axId val="534618112"/>
        <c:scaling>
          <c:orientation val="minMax"/>
        </c:scaling>
        <c:delete val="0"/>
        <c:axPos val="b"/>
        <c:majorTickMark val="out"/>
        <c:minorTickMark val="none"/>
        <c:tickLblPos val="nextTo"/>
        <c:crossAx val="92573632"/>
        <c:crosses val="autoZero"/>
        <c:auto val="1"/>
        <c:lblAlgn val="ctr"/>
        <c:lblOffset val="100"/>
        <c:noMultiLvlLbl val="0"/>
      </c:catAx>
      <c:valAx>
        <c:axId val="9257363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618112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14</c:v>
              </c:pt>
              <c:pt idx="1">
                <c:v>Feb 14</c:v>
              </c:pt>
              <c:pt idx="2">
                <c:v>Mrz 14</c:v>
              </c:pt>
              <c:pt idx="3">
                <c:v>Apr 14</c:v>
              </c:pt>
              <c:pt idx="4">
                <c:v>Mai 14</c:v>
              </c:pt>
              <c:pt idx="5">
                <c:v>Jun 14</c:v>
              </c:pt>
              <c:pt idx="6">
                <c:v>Jul 14</c:v>
              </c:pt>
              <c:pt idx="7">
                <c:v>Aug 14</c:v>
              </c:pt>
              <c:pt idx="8">
                <c:v>Sep 14</c:v>
              </c:pt>
              <c:pt idx="9">
                <c:v>Okt 14</c:v>
              </c:pt>
              <c:pt idx="10">
                <c:v>Nov 14</c:v>
              </c:pt>
              <c:pt idx="11">
                <c:v>Dez 14</c:v>
              </c:pt>
            </c:strLit>
          </c:cat>
          <c:val>
            <c:numLit>
              <c:formatCode>General</c:formatCode>
              <c:ptCount val="12"/>
              <c:pt idx="0">
                <c:v>7.0383561643835613</c:v>
              </c:pt>
              <c:pt idx="1">
                <c:v>3</c:v>
              </c:pt>
              <c:pt idx="2">
                <c:v>2.0328767123287674</c:v>
              </c:pt>
              <c:pt idx="3">
                <c:v>1.0657534246575342</c:v>
              </c:pt>
              <c:pt idx="4">
                <c:v>1</c:v>
              </c:pt>
              <c:pt idx="5">
                <c:v>2.5780821917808217</c:v>
              </c:pt>
              <c:pt idx="6">
                <c:v>3.9534246575342467</c:v>
              </c:pt>
              <c:pt idx="7">
                <c:v>4</c:v>
              </c:pt>
              <c:pt idx="8">
                <c:v>4.8547945205479452</c:v>
              </c:pt>
              <c:pt idx="9">
                <c:v>5</c:v>
              </c:pt>
              <c:pt idx="10">
                <c:v>4.9068493150684933</c:v>
              </c:pt>
              <c:pt idx="11">
                <c:v>1.9863013698630136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1881472"/>
        <c:axId val="92576512"/>
      </c:barChart>
      <c:catAx>
        <c:axId val="531881472"/>
        <c:scaling>
          <c:orientation val="minMax"/>
        </c:scaling>
        <c:delete val="0"/>
        <c:axPos val="b"/>
        <c:majorTickMark val="out"/>
        <c:minorTickMark val="none"/>
        <c:tickLblPos val="nextTo"/>
        <c:crossAx val="92576512"/>
        <c:crosses val="autoZero"/>
        <c:auto val="1"/>
        <c:lblAlgn val="ctr"/>
        <c:lblOffset val="100"/>
        <c:noMultiLvlLbl val="0"/>
      </c:catAx>
      <c:valAx>
        <c:axId val="9257651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1881472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14</c:v>
              </c:pt>
              <c:pt idx="1">
                <c:v>Feb 14</c:v>
              </c:pt>
              <c:pt idx="2">
                <c:v>Mrz 14</c:v>
              </c:pt>
              <c:pt idx="3">
                <c:v>Apr 14</c:v>
              </c:pt>
              <c:pt idx="4">
                <c:v>Mai 14</c:v>
              </c:pt>
              <c:pt idx="5">
                <c:v>Jun 14</c:v>
              </c:pt>
              <c:pt idx="6">
                <c:v>Jul 14</c:v>
              </c:pt>
              <c:pt idx="7">
                <c:v>Aug 14</c:v>
              </c:pt>
              <c:pt idx="8">
                <c:v>Sep 14</c:v>
              </c:pt>
              <c:pt idx="9">
                <c:v>Okt 14</c:v>
              </c:pt>
              <c:pt idx="10">
                <c:v>Nov 14</c:v>
              </c:pt>
              <c:pt idx="11">
                <c:v>Dez 14</c:v>
              </c:pt>
            </c:strLit>
          </c:cat>
          <c:val>
            <c:numLit>
              <c:formatCode>General</c:formatCode>
              <c:ptCount val="12"/>
              <c:pt idx="0">
                <c:v>5</c:v>
              </c:pt>
              <c:pt idx="1">
                <c:v>5</c:v>
              </c:pt>
              <c:pt idx="2">
                <c:v>7.4328767123287669</c:v>
              </c:pt>
              <c:pt idx="3">
                <c:v>9</c:v>
              </c:pt>
              <c:pt idx="4">
                <c:v>9</c:v>
              </c:pt>
              <c:pt idx="5">
                <c:v>9</c:v>
              </c:pt>
              <c:pt idx="6">
                <c:v>9.4602739726027405</c:v>
              </c:pt>
              <c:pt idx="7">
                <c:v>10.164383561643834</c:v>
              </c:pt>
              <c:pt idx="8">
                <c:v>10.854794520547944</c:v>
              </c:pt>
              <c:pt idx="9">
                <c:v>12.70958904109589</c:v>
              </c:pt>
              <c:pt idx="10">
                <c:v>15.169863013698631</c:v>
              </c:pt>
              <c:pt idx="11">
                <c:v>17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7863168"/>
        <c:axId val="527884864"/>
      </c:barChart>
      <c:catAx>
        <c:axId val="537863168"/>
        <c:scaling>
          <c:orientation val="minMax"/>
        </c:scaling>
        <c:delete val="0"/>
        <c:axPos val="b"/>
        <c:majorTickMark val="out"/>
        <c:minorTickMark val="none"/>
        <c:tickLblPos val="nextTo"/>
        <c:crossAx val="527884864"/>
        <c:crosses val="autoZero"/>
        <c:auto val="1"/>
        <c:lblAlgn val="ctr"/>
        <c:lblOffset val="100"/>
        <c:noMultiLvlLbl val="0"/>
      </c:catAx>
      <c:valAx>
        <c:axId val="527884864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7863168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15</c:v>
              </c:pt>
              <c:pt idx="1">
                <c:v>Feb 15</c:v>
              </c:pt>
              <c:pt idx="2">
                <c:v>Mrz 15</c:v>
              </c:pt>
              <c:pt idx="3">
                <c:v>Apr 15</c:v>
              </c:pt>
              <c:pt idx="4">
                <c:v>Mai 15</c:v>
              </c:pt>
              <c:pt idx="5">
                <c:v>Jun 15</c:v>
              </c:pt>
              <c:pt idx="6">
                <c:v>Jul 15</c:v>
              </c:pt>
              <c:pt idx="7">
                <c:v>Aug 15</c:v>
              </c:pt>
              <c:pt idx="8">
                <c:v>Sep 15</c:v>
              </c:pt>
              <c:pt idx="9">
                <c:v>Okt 15</c:v>
              </c:pt>
              <c:pt idx="10">
                <c:v>Nov 15</c:v>
              </c:pt>
              <c:pt idx="11">
                <c:v>Dez 15</c:v>
              </c:pt>
            </c:strLit>
          </c:cat>
          <c:val>
            <c:numLit>
              <c:formatCode>General</c:formatCode>
              <c:ptCount val="12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0.78904109589041083</c:v>
              </c:pt>
              <c:pt idx="4">
                <c:v>0</c:v>
              </c:pt>
              <c:pt idx="5">
                <c:v>1.4794520547945205</c:v>
              </c:pt>
              <c:pt idx="6">
                <c:v>2</c:v>
              </c:pt>
              <c:pt idx="7">
                <c:v>2</c:v>
              </c:pt>
              <c:pt idx="8">
                <c:v>3.8876712328767122</c:v>
              </c:pt>
              <c:pt idx="9">
                <c:v>4.8219178082191778</c:v>
              </c:pt>
              <c:pt idx="10">
                <c:v>4.9534246575342467</c:v>
              </c:pt>
              <c:pt idx="11">
                <c:v>3.9205479452054792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711808"/>
        <c:axId val="527887744"/>
      </c:barChart>
      <c:catAx>
        <c:axId val="534711808"/>
        <c:scaling>
          <c:orientation val="minMax"/>
        </c:scaling>
        <c:delete val="0"/>
        <c:axPos val="b"/>
        <c:majorTickMark val="out"/>
        <c:minorTickMark val="none"/>
        <c:tickLblPos val="nextTo"/>
        <c:crossAx val="527887744"/>
        <c:crosses val="autoZero"/>
        <c:auto val="1"/>
        <c:lblAlgn val="ctr"/>
        <c:lblOffset val="100"/>
        <c:noMultiLvlLbl val="0"/>
      </c:catAx>
      <c:valAx>
        <c:axId val="527887744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711808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15</c:v>
              </c:pt>
              <c:pt idx="1">
                <c:v>Feb 15</c:v>
              </c:pt>
              <c:pt idx="2">
                <c:v>Mrz 15</c:v>
              </c:pt>
              <c:pt idx="3">
                <c:v>Apr 15</c:v>
              </c:pt>
              <c:pt idx="4">
                <c:v>Mai 15</c:v>
              </c:pt>
              <c:pt idx="5">
                <c:v>Jun 15</c:v>
              </c:pt>
              <c:pt idx="6">
                <c:v>Jul 15</c:v>
              </c:pt>
              <c:pt idx="7">
                <c:v>Aug 15</c:v>
              </c:pt>
              <c:pt idx="8">
                <c:v>Sep 15</c:v>
              </c:pt>
              <c:pt idx="9">
                <c:v>Okt 15</c:v>
              </c:pt>
              <c:pt idx="10">
                <c:v>Nov 15</c:v>
              </c:pt>
              <c:pt idx="11">
                <c:v>Dez 15</c:v>
              </c:pt>
            </c:strLit>
          </c:cat>
          <c:val>
            <c:numLit>
              <c:formatCode>General</c:formatCode>
              <c:ptCount val="12"/>
              <c:pt idx="0">
                <c:v>17</c:v>
              </c:pt>
              <c:pt idx="1">
                <c:v>17</c:v>
              </c:pt>
              <c:pt idx="2">
                <c:v>17</c:v>
              </c:pt>
              <c:pt idx="3">
                <c:v>17</c:v>
              </c:pt>
              <c:pt idx="4">
                <c:v>17.328767123287669</c:v>
              </c:pt>
              <c:pt idx="5">
                <c:v>18</c:v>
              </c:pt>
              <c:pt idx="6">
                <c:v>14.679452054794519</c:v>
              </c:pt>
              <c:pt idx="7">
                <c:v>9.9068493150684915</c:v>
              </c:pt>
              <c:pt idx="8">
                <c:v>9.9397260273972599</c:v>
              </c:pt>
              <c:pt idx="9">
                <c:v>9.9260273972602739</c:v>
              </c:pt>
              <c:pt idx="10">
                <c:v>7</c:v>
              </c:pt>
              <c:pt idx="11">
                <c:v>7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786048"/>
        <c:axId val="527889472"/>
      </c:barChart>
      <c:catAx>
        <c:axId val="534786048"/>
        <c:scaling>
          <c:orientation val="minMax"/>
        </c:scaling>
        <c:delete val="0"/>
        <c:axPos val="b"/>
        <c:majorTickMark val="out"/>
        <c:minorTickMark val="none"/>
        <c:tickLblPos val="nextTo"/>
        <c:crossAx val="527889472"/>
        <c:crosses val="autoZero"/>
        <c:auto val="1"/>
        <c:lblAlgn val="ctr"/>
        <c:lblOffset val="100"/>
        <c:noMultiLvlLbl val="0"/>
      </c:catAx>
      <c:valAx>
        <c:axId val="52788947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786048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16</c:v>
              </c:pt>
              <c:pt idx="1">
                <c:v>Feb 16</c:v>
              </c:pt>
              <c:pt idx="2">
                <c:v>Mrz 16</c:v>
              </c:pt>
              <c:pt idx="3">
                <c:v>Apr 16</c:v>
              </c:pt>
              <c:pt idx="4">
                <c:v>Mai 16</c:v>
              </c:pt>
              <c:pt idx="5">
                <c:v>Jun 16</c:v>
              </c:pt>
              <c:pt idx="6">
                <c:v>Jul 16</c:v>
              </c:pt>
              <c:pt idx="7">
                <c:v>Aug 16</c:v>
              </c:pt>
              <c:pt idx="8">
                <c:v>Sep 16</c:v>
              </c:pt>
              <c:pt idx="9">
                <c:v>Okt 16</c:v>
              </c:pt>
              <c:pt idx="10">
                <c:v>Nov 16</c:v>
              </c:pt>
              <c:pt idx="11">
                <c:v>Dez 16</c:v>
              </c:pt>
            </c:strLit>
          </c:cat>
          <c:val>
            <c:numLit>
              <c:formatCode>General</c:formatCode>
              <c:ptCount val="12"/>
              <c:pt idx="0">
                <c:v>4</c:v>
              </c:pt>
              <c:pt idx="1">
                <c:v>3.6767123287671231</c:v>
              </c:pt>
              <c:pt idx="2">
                <c:v>1.9863013698630136</c:v>
              </c:pt>
              <c:pt idx="3">
                <c:v>1</c:v>
              </c:pt>
              <c:pt idx="4">
                <c:v>1</c:v>
              </c:pt>
              <c:pt idx="5">
                <c:v>4.8794520547945197</c:v>
              </c:pt>
              <c:pt idx="6">
                <c:v>5.0986301369863014</c:v>
              </c:pt>
              <c:pt idx="7">
                <c:v>6.7753424657534254</c:v>
              </c:pt>
              <c:pt idx="8">
                <c:v>8.8876712328767127</c:v>
              </c:pt>
              <c:pt idx="9">
                <c:v>9</c:v>
              </c:pt>
              <c:pt idx="10">
                <c:v>8.6821917808219169</c:v>
              </c:pt>
              <c:pt idx="11">
                <c:v>4.3616438356164382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866944"/>
        <c:axId val="535445504"/>
      </c:barChart>
      <c:catAx>
        <c:axId val="534866944"/>
        <c:scaling>
          <c:orientation val="minMax"/>
        </c:scaling>
        <c:delete val="0"/>
        <c:axPos val="b"/>
        <c:majorTickMark val="out"/>
        <c:minorTickMark val="none"/>
        <c:tickLblPos val="nextTo"/>
        <c:crossAx val="535445504"/>
        <c:crosses val="autoZero"/>
        <c:auto val="1"/>
        <c:lblAlgn val="ctr"/>
        <c:lblOffset val="100"/>
        <c:noMultiLvlLbl val="0"/>
      </c:catAx>
      <c:valAx>
        <c:axId val="535445504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866944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16</c:v>
              </c:pt>
              <c:pt idx="1">
                <c:v>Feb 16</c:v>
              </c:pt>
              <c:pt idx="2">
                <c:v>Mrz 16</c:v>
              </c:pt>
              <c:pt idx="3">
                <c:v>Apr 16</c:v>
              </c:pt>
              <c:pt idx="4">
                <c:v>Mai 16</c:v>
              </c:pt>
              <c:pt idx="5">
                <c:v>Jun 16</c:v>
              </c:pt>
              <c:pt idx="6">
                <c:v>Jul 16</c:v>
              </c:pt>
              <c:pt idx="7">
                <c:v>Aug 16</c:v>
              </c:pt>
              <c:pt idx="8">
                <c:v>Sep 16</c:v>
              </c:pt>
              <c:pt idx="9">
                <c:v>Okt 16</c:v>
              </c:pt>
              <c:pt idx="10">
                <c:v>Nov 16</c:v>
              </c:pt>
              <c:pt idx="11">
                <c:v>Dez 16</c:v>
              </c:pt>
            </c:strLit>
          </c:cat>
          <c:val>
            <c:numLit>
              <c:formatCode>General</c:formatCode>
              <c:ptCount val="12"/>
              <c:pt idx="0">
                <c:v>7</c:v>
              </c:pt>
              <c:pt idx="1">
                <c:v>7.2301369863013702</c:v>
              </c:pt>
              <c:pt idx="2">
                <c:v>8.3945205479452056</c:v>
              </c:pt>
              <c:pt idx="3">
                <c:v>9</c:v>
              </c:pt>
              <c:pt idx="4">
                <c:v>8.6575342465753415</c:v>
              </c:pt>
              <c:pt idx="5">
                <c:v>8</c:v>
              </c:pt>
              <c:pt idx="6">
                <c:v>6.7616438356164386</c:v>
              </c:pt>
              <c:pt idx="7">
                <c:v>6.9863013698630141</c:v>
              </c:pt>
              <c:pt idx="8">
                <c:v>7</c:v>
              </c:pt>
              <c:pt idx="9">
                <c:v>7.0520547945205481</c:v>
              </c:pt>
              <c:pt idx="10">
                <c:v>7</c:v>
              </c:pt>
              <c:pt idx="11">
                <c:v>7.9863013698630141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34711296"/>
        <c:axId val="535447232"/>
      </c:barChart>
      <c:catAx>
        <c:axId val="534711296"/>
        <c:scaling>
          <c:orientation val="minMax"/>
        </c:scaling>
        <c:delete val="0"/>
        <c:axPos val="b"/>
        <c:majorTickMark val="out"/>
        <c:minorTickMark val="none"/>
        <c:tickLblPos val="nextTo"/>
        <c:crossAx val="535447232"/>
        <c:crosses val="autoZero"/>
        <c:auto val="1"/>
        <c:lblAlgn val="ctr"/>
        <c:lblOffset val="100"/>
        <c:noMultiLvlLbl val="0"/>
      </c:catAx>
      <c:valAx>
        <c:axId val="53544723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34711296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17</c:v>
              </c:pt>
              <c:pt idx="1">
                <c:v>Feb 17</c:v>
              </c:pt>
              <c:pt idx="2">
                <c:v>Mrz 17</c:v>
              </c:pt>
              <c:pt idx="3">
                <c:v>Apr 17</c:v>
              </c:pt>
              <c:pt idx="4">
                <c:v>Mai 17</c:v>
              </c:pt>
              <c:pt idx="5">
                <c:v>Jun 17</c:v>
              </c:pt>
              <c:pt idx="6">
                <c:v>Jul 17</c:v>
              </c:pt>
              <c:pt idx="7">
                <c:v>Aug 17</c:v>
              </c:pt>
              <c:pt idx="8">
                <c:v>Sep 17</c:v>
              </c:pt>
              <c:pt idx="9">
                <c:v>Okt 17</c:v>
              </c:pt>
              <c:pt idx="10">
                <c:v>Nov 17</c:v>
              </c:pt>
              <c:pt idx="11">
                <c:v>Dez 17</c:v>
              </c:pt>
            </c:strLit>
          </c:cat>
          <c:val>
            <c:numLit>
              <c:formatCode>General</c:formatCode>
              <c:ptCount val="12"/>
              <c:pt idx="0">
                <c:v>3.7753424657534245</c:v>
              </c:pt>
              <c:pt idx="1">
                <c:v>2.4657534246575343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  <c:pt idx="5">
                <c:v>1.821917808219178</c:v>
              </c:pt>
              <c:pt idx="6">
                <c:v>1.9534246575342467</c:v>
              </c:pt>
              <c:pt idx="7">
                <c:v>1.8876712328767122</c:v>
              </c:pt>
              <c:pt idx="8">
                <c:v>2</c:v>
              </c:pt>
              <c:pt idx="9">
                <c:v>2</c:v>
              </c:pt>
              <c:pt idx="10">
                <c:v>1.9205479452054794</c:v>
              </c:pt>
              <c:pt idx="11">
                <c:v>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7693568"/>
        <c:axId val="535450112"/>
      </c:barChart>
      <c:catAx>
        <c:axId val="547693568"/>
        <c:scaling>
          <c:orientation val="minMax"/>
        </c:scaling>
        <c:delete val="0"/>
        <c:axPos val="b"/>
        <c:majorTickMark val="out"/>
        <c:minorTickMark val="none"/>
        <c:tickLblPos val="nextTo"/>
        <c:crossAx val="535450112"/>
        <c:crosses val="autoZero"/>
        <c:auto val="1"/>
        <c:lblAlgn val="ctr"/>
        <c:lblOffset val="100"/>
        <c:noMultiLvlLbl val="0"/>
      </c:catAx>
      <c:valAx>
        <c:axId val="53545011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47693568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17</c:v>
              </c:pt>
              <c:pt idx="1">
                <c:v>Feb 17</c:v>
              </c:pt>
              <c:pt idx="2">
                <c:v>Mrz 17</c:v>
              </c:pt>
              <c:pt idx="3">
                <c:v>Apr 17</c:v>
              </c:pt>
              <c:pt idx="4">
                <c:v>Mai 17</c:v>
              </c:pt>
              <c:pt idx="5">
                <c:v>Jun 17</c:v>
              </c:pt>
              <c:pt idx="6">
                <c:v>Jul 17</c:v>
              </c:pt>
              <c:pt idx="7">
                <c:v>Aug 17</c:v>
              </c:pt>
              <c:pt idx="8">
                <c:v>Sep 17</c:v>
              </c:pt>
              <c:pt idx="9">
                <c:v>Okt 17</c:v>
              </c:pt>
              <c:pt idx="10">
                <c:v>Nov 17</c:v>
              </c:pt>
              <c:pt idx="11">
                <c:v>Dez 17</c:v>
              </c:pt>
            </c:strLit>
          </c:cat>
          <c:val>
            <c:numLit>
              <c:formatCode>General</c:formatCode>
              <c:ptCount val="12"/>
              <c:pt idx="0">
                <c:v>9.117808219178082</c:v>
              </c:pt>
              <c:pt idx="1">
                <c:v>10.821917808219178</c:v>
              </c:pt>
              <c:pt idx="2">
                <c:v>11</c:v>
              </c:pt>
              <c:pt idx="3">
                <c:v>10.065753424657533</c:v>
              </c:pt>
              <c:pt idx="4">
                <c:v>10.197260273972603</c:v>
              </c:pt>
              <c:pt idx="5">
                <c:v>11</c:v>
              </c:pt>
              <c:pt idx="6">
                <c:v>9.9726027397260264</c:v>
              </c:pt>
              <c:pt idx="7">
                <c:v>12.715068493150685</c:v>
              </c:pt>
              <c:pt idx="8">
                <c:v>13</c:v>
              </c:pt>
              <c:pt idx="9">
                <c:v>15.090410958904108</c:v>
              </c:pt>
              <c:pt idx="10">
                <c:v>15.005479452054796</c:v>
              </c:pt>
              <c:pt idx="11">
                <c:v>13.432876712328767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7694080"/>
        <c:axId val="535451840"/>
      </c:barChart>
      <c:catAx>
        <c:axId val="547694080"/>
        <c:scaling>
          <c:orientation val="minMax"/>
        </c:scaling>
        <c:delete val="0"/>
        <c:axPos val="b"/>
        <c:majorTickMark val="out"/>
        <c:minorTickMark val="none"/>
        <c:tickLblPos val="nextTo"/>
        <c:crossAx val="535451840"/>
        <c:crosses val="autoZero"/>
        <c:auto val="1"/>
        <c:lblAlgn val="ctr"/>
        <c:lblOffset val="100"/>
        <c:noMultiLvlLbl val="0"/>
      </c:catAx>
      <c:valAx>
        <c:axId val="535451840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47694080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BBG)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BBG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18</c:v>
              </c:pt>
              <c:pt idx="1">
                <c:v>Feb 18</c:v>
              </c:pt>
              <c:pt idx="2">
                <c:v>Mrz 18</c:v>
              </c:pt>
              <c:pt idx="3">
                <c:v>Apr 18</c:v>
              </c:pt>
              <c:pt idx="4">
                <c:v>Mai 18</c:v>
              </c:pt>
              <c:pt idx="5">
                <c:v>Jun 18</c:v>
              </c:pt>
              <c:pt idx="6">
                <c:v>Jul 18</c:v>
              </c:pt>
              <c:pt idx="7">
                <c:v>Aug 18</c:v>
              </c:pt>
              <c:pt idx="8">
                <c:v>Sep 18</c:v>
              </c:pt>
              <c:pt idx="9">
                <c:v>Okt 18</c:v>
              </c:pt>
              <c:pt idx="10">
                <c:v>Nov 18</c:v>
              </c:pt>
              <c:pt idx="11">
                <c:v>Dez 18</c:v>
              </c:pt>
            </c:strLit>
          </c:cat>
          <c:val>
            <c:numLit>
              <c:formatCode>General</c:formatCode>
              <c:ptCount val="12"/>
              <c:pt idx="0">
                <c:v>0.88767123287671235</c:v>
              </c:pt>
              <c:pt idx="1">
                <c:v>1.5780821917808217</c:v>
              </c:pt>
              <c:pt idx="2">
                <c:v>2</c:v>
              </c:pt>
              <c:pt idx="3">
                <c:v>2</c:v>
              </c:pt>
              <c:pt idx="4">
                <c:v>2</c:v>
              </c:pt>
              <c:pt idx="5">
                <c:v>2.7890410958904108</c:v>
              </c:pt>
              <c:pt idx="6">
                <c:v>2.9726027397260273</c:v>
              </c:pt>
              <c:pt idx="7">
                <c:v>2.7095890410958905</c:v>
              </c:pt>
              <c:pt idx="8">
                <c:v>3</c:v>
              </c:pt>
              <c:pt idx="9">
                <c:v>3</c:v>
              </c:pt>
              <c:pt idx="10">
                <c:v>2.9534246575342467</c:v>
              </c:pt>
              <c:pt idx="11">
                <c:v>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7794432"/>
        <c:axId val="535553152"/>
      </c:barChart>
      <c:catAx>
        <c:axId val="547794432"/>
        <c:scaling>
          <c:orientation val="minMax"/>
        </c:scaling>
        <c:delete val="0"/>
        <c:axPos val="b"/>
        <c:majorTickMark val="out"/>
        <c:minorTickMark val="none"/>
        <c:tickLblPos val="nextTo"/>
        <c:crossAx val="535553152"/>
        <c:crosses val="autoZero"/>
        <c:auto val="1"/>
        <c:lblAlgn val="ctr"/>
        <c:lblOffset val="100"/>
        <c:noMultiLvlLbl val="0"/>
      </c:catAx>
      <c:valAx>
        <c:axId val="535553152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47794432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/>
              <a:t>Phase (Montage VS)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Montage VS</c:v>
          </c:tx>
          <c:spPr>
            <a:solidFill>
              <a:srgbClr val="FFD243"/>
            </a:solidFill>
          </c:spPr>
          <c:invertIfNegative val="0"/>
          <c:cat>
            <c:strLit>
              <c:ptCount val="12"/>
              <c:pt idx="0">
                <c:v>Jan 18</c:v>
              </c:pt>
              <c:pt idx="1">
                <c:v>Feb 18</c:v>
              </c:pt>
              <c:pt idx="2">
                <c:v>Mrz 18</c:v>
              </c:pt>
              <c:pt idx="3">
                <c:v>Apr 18</c:v>
              </c:pt>
              <c:pt idx="4">
                <c:v>Mai 18</c:v>
              </c:pt>
              <c:pt idx="5">
                <c:v>Jun 18</c:v>
              </c:pt>
              <c:pt idx="6">
                <c:v>Jul 18</c:v>
              </c:pt>
              <c:pt idx="7">
                <c:v>Aug 18</c:v>
              </c:pt>
              <c:pt idx="8">
                <c:v>Sep 18</c:v>
              </c:pt>
              <c:pt idx="9">
                <c:v>Okt 18</c:v>
              </c:pt>
              <c:pt idx="10">
                <c:v>Nov 18</c:v>
              </c:pt>
              <c:pt idx="11">
                <c:v>Dez 18</c:v>
              </c:pt>
            </c:strLit>
          </c:cat>
          <c:val>
            <c:numLit>
              <c:formatCode>General</c:formatCode>
              <c:ptCount val="12"/>
              <c:pt idx="0">
                <c:v>11</c:v>
              </c:pt>
              <c:pt idx="1">
                <c:v>11</c:v>
              </c:pt>
              <c:pt idx="2">
                <c:v>10.624657534246575</c:v>
              </c:pt>
              <c:pt idx="3">
                <c:v>10.953424657534246</c:v>
              </c:pt>
              <c:pt idx="4">
                <c:v>11.361643835616437</c:v>
              </c:pt>
              <c:pt idx="5">
                <c:v>12</c:v>
              </c:pt>
              <c:pt idx="6">
                <c:v>10.301369863013697</c:v>
              </c:pt>
              <c:pt idx="7">
                <c:v>8.9863013698630141</c:v>
              </c:pt>
              <c:pt idx="8">
                <c:v>9</c:v>
              </c:pt>
              <c:pt idx="9">
                <c:v>9.8136986301369866</c:v>
              </c:pt>
              <c:pt idx="10">
                <c:v>6.9534246575342467</c:v>
              </c:pt>
              <c:pt idx="11">
                <c:v>4.9534246575342458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7864576"/>
        <c:axId val="535554880"/>
      </c:barChart>
      <c:catAx>
        <c:axId val="547864576"/>
        <c:scaling>
          <c:orientation val="minMax"/>
        </c:scaling>
        <c:delete val="0"/>
        <c:axPos val="b"/>
        <c:majorTickMark val="out"/>
        <c:minorTickMark val="none"/>
        <c:tickLblPos val="nextTo"/>
        <c:crossAx val="535554880"/>
        <c:crosses val="autoZero"/>
        <c:auto val="1"/>
        <c:lblAlgn val="ctr"/>
        <c:lblOffset val="100"/>
        <c:noMultiLvlLbl val="0"/>
      </c:catAx>
      <c:valAx>
        <c:axId val="535554880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547864576"/>
        <c:crosses val="autoZero"/>
        <c:crossBetween val="between"/>
        <c:minorUnit val="1"/>
      </c:valAx>
    </c:plotArea>
    <c:plotVisOnly val="1"/>
    <c:dispBlanksAs val="gap"/>
    <c:showDLblsOverMax val="0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29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Portfolio-Name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500" dirty="0">
                <a:solidFill>
                  <a:schemeClr val="bg2"/>
                </a:solidFill>
              </a:rPr>
              <a:t>Projekt-Tafel(Milestones R)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500" dirty="0"/>
          </a:p>
          <a:p>
            <a:r>
              <a:rPr lang="de-DE" sz="2500" dirty="0"/>
              <a:t>Ergebnis</a:t>
            </a:r>
          </a:p>
          <a:p>
            <a:r>
              <a:rPr lang="de-DE" sz="2500" dirty="0">
                <a:solidFill>
                  <a:schemeClr val="bg2"/>
                </a:solidFill>
              </a:rPr>
              <a:t>Ergebnis Verbesserungspotential</a:t>
            </a: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Zeit</a:t>
            </a: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Übersicht Auslastung</a:t>
            </a:r>
          </a:p>
          <a:p>
            <a:r>
              <a:rPr lang="de-DE" sz="2500" dirty="0"/>
              <a:t>Details Unterauslastung</a:t>
            </a:r>
          </a:p>
          <a:p>
            <a:r>
              <a:rPr lang="de-DE" sz="2500" dirty="0"/>
              <a:t>Details Überauslastung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/>
              <a:t>Bisherige Zielerreichung</a:t>
            </a:r>
          </a:p>
          <a:p>
            <a:r>
              <a:rPr lang="de-DE" sz="2500" dirty="0"/>
              <a:t>Prognose Zielerreichung</a:t>
            </a:r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>
              <a:solidFill>
                <a:schemeClr val="bg2"/>
              </a:solidFill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500" dirty="0"/>
          </a:p>
          <a:p>
            <a:r>
              <a:rPr lang="de-DE" sz="2500" dirty="0"/>
              <a:t>Stand:</a:t>
            </a:r>
          </a:p>
          <a:p>
            <a:r>
              <a:rPr lang="de-DE" sz="2500" dirty="0">
                <a:solidFill>
                  <a:schemeClr val="bg2"/>
                </a:solidFill>
              </a:rPr>
              <a:t>Zeitraum</a:t>
            </a:r>
            <a:r>
              <a:rPr lang="de-DE" sz="2500" dirty="0"/>
              <a:t>: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Kostenart (…)</a:t>
            </a: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endParaRPr lang="de-DE" sz="2500" dirty="0">
              <a:solidFill>
                <a:schemeClr val="bg2"/>
              </a:solidFill>
            </a:endParaRP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>
                <a:solidFill>
                  <a:schemeClr val="bg2"/>
                </a:solidFill>
              </a:rPr>
              <a:t>Phasen: </a:t>
            </a:r>
          </a:p>
          <a:p>
            <a:r>
              <a:rPr lang="de-DE" sz="2500" dirty="0"/>
              <a:t>DTK</a:t>
            </a:r>
            <a:r>
              <a:rPr lang="de-DE" dirty="0" smtClean="0"/>
              <a:t> </a:t>
            </a:r>
          </a:p>
          <a:p>
            <a:r>
              <a:rPr lang="de-DE" sz="2500" dirty="0"/>
              <a:t>TK</a:t>
            </a:r>
            <a:r>
              <a:rPr lang="de-DE" dirty="0" smtClean="0"/>
              <a:t> </a:t>
            </a:r>
          </a:p>
          <a:p>
            <a:r>
              <a:rPr lang="de-DE" sz="2500" dirty="0"/>
              <a:t>SWZ</a:t>
            </a:r>
            <a:r>
              <a:rPr lang="de-DE" dirty="0" smtClean="0"/>
              <a:t> </a:t>
            </a:r>
          </a:p>
          <a:p>
            <a:r>
              <a:rPr lang="de-DE" sz="2500" dirty="0"/>
              <a:t>PPA</a:t>
            </a:r>
            <a:r>
              <a:rPr lang="de-DE" dirty="0" smtClean="0"/>
              <a:t> </a:t>
            </a:r>
          </a:p>
          <a:p>
            <a:r>
              <a:rPr lang="de-DE" sz="2500" dirty="0"/>
              <a:t>Simulation VBBG</a:t>
            </a:r>
            <a:r>
              <a:rPr lang="de-DE" dirty="0" smtClean="0"/>
              <a:t> </a:t>
            </a:r>
          </a:p>
          <a:p>
            <a:r>
              <a:rPr lang="de-DE" sz="2500" dirty="0"/>
              <a:t>VBBG</a:t>
            </a:r>
          </a:p>
          <a:p>
            <a:r>
              <a:rPr lang="de-DE" sz="2500" dirty="0"/>
              <a:t>BBG Karosseriebau FIZ</a:t>
            </a:r>
          </a:p>
          <a:p>
            <a:r>
              <a:rPr lang="de-DE" sz="2500" dirty="0"/>
              <a:t>BBG Montage FIZ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0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1</a:t>
            </a:r>
            <a:r>
              <a:rPr lang="de-DE" dirty="0" smtClean="0"/>
              <a:t> </a:t>
            </a:r>
          </a:p>
          <a:p>
            <a:r>
              <a:rPr lang="de-DE" sz="2500" dirty="0"/>
              <a:t>F2 </a:t>
            </a:r>
            <a:r>
              <a:rPr lang="de-DE" sz="2500" dirty="0" err="1"/>
              <a:t>Vorserie</a:t>
            </a:r>
            <a:r>
              <a:rPr lang="de-DE" sz="2500" dirty="0"/>
              <a:t> 2</a:t>
            </a:r>
            <a:r>
              <a:rPr lang="de-DE" dirty="0" smtClean="0"/>
              <a:t> </a:t>
            </a:r>
          </a:p>
          <a:p>
            <a:r>
              <a:rPr lang="de-DE" sz="2500" dirty="0"/>
              <a:t>F2 Anlaufproduktion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500" dirty="0"/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500" dirty="0"/>
              <a:t>Projektphasen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Design</a:t>
            </a:r>
            <a:r>
              <a:rPr lang="de-DE" dirty="0" smtClean="0"/>
              <a:t> </a:t>
            </a:r>
          </a:p>
          <a:p>
            <a:r>
              <a:rPr lang="de-DE" sz="2500" dirty="0"/>
              <a:t>Bauphasen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KSP</a:t>
            </a:r>
            <a:r>
              <a:rPr lang="de-DE" dirty="0" smtClean="0"/>
              <a:t> </a:t>
            </a:r>
          </a:p>
          <a:p>
            <a:r>
              <a:rPr lang="de-DE" sz="2500" dirty="0"/>
              <a:t>Zusätzlicher Modulträger </a:t>
            </a:r>
          </a:p>
          <a:p>
            <a:r>
              <a:rPr lang="de-DE" sz="2500" dirty="0"/>
              <a:t>EA/EF</a:t>
            </a:r>
            <a:r>
              <a:rPr lang="de-DE" dirty="0" smtClean="0"/>
              <a:t> </a:t>
            </a:r>
            <a:r>
              <a:rPr lang="de-DE" sz="2500" dirty="0"/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500" dirty="0" err="1"/>
              <a:t>Strukturerprober</a:t>
            </a:r>
            <a:r>
              <a:rPr lang="de-DE" sz="2500" dirty="0"/>
              <a:t> auf Basis BBG F45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PVL FIZ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VS CN</a:t>
            </a:r>
            <a:r>
              <a:rPr lang="de-DE" dirty="0" smtClean="0"/>
              <a:t> </a:t>
            </a:r>
          </a:p>
          <a:p>
            <a:r>
              <a:rPr lang="de-DE" sz="2500" dirty="0"/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500" dirty="0"/>
              <a:t>KSP 1</a:t>
            </a:r>
            <a:r>
              <a:rPr lang="de-DE" dirty="0" smtClean="0"/>
              <a:t> </a:t>
            </a:r>
          </a:p>
          <a:p>
            <a:r>
              <a:rPr lang="de-DE" sz="2500" dirty="0"/>
              <a:t>KSP 2</a:t>
            </a:r>
            <a:r>
              <a:rPr lang="de-DE" dirty="0" smtClean="0"/>
              <a:t> </a:t>
            </a:r>
          </a:p>
          <a:p>
            <a:r>
              <a:rPr lang="de-DE" sz="2500" dirty="0"/>
              <a:t>KSP 3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1</a:t>
            </a:r>
            <a:r>
              <a:rPr lang="de-DE" dirty="0" smtClean="0"/>
              <a:t> </a:t>
            </a:r>
          </a:p>
          <a:p>
            <a:r>
              <a:rPr lang="de-DE" sz="2500" dirty="0"/>
              <a:t>Montage BBG Pulk 2</a:t>
            </a:r>
            <a:r>
              <a:rPr lang="de-DE" dirty="0" smtClean="0"/>
              <a:t> </a:t>
            </a:r>
            <a:endParaRPr lang="de-DE" sz="25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270000" y="5130800"/>
            <a:ext cx="10464800" cy="127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987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3384" y="9229297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871464" y="9327727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smtClean="0"/>
              <a:t>Generated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AutoShape 1"/>
          <p:cNvSpPr>
            <a:spLocks/>
          </p:cNvSpPr>
          <p:nvPr/>
        </p:nvSpPr>
        <p:spPr bwMode="auto">
          <a:xfrm>
            <a:off x="2998788" y="6088063"/>
            <a:ext cx="6997700" cy="83820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599" y="0"/>
                </a:lnTo>
                <a:lnTo>
                  <a:pt x="21599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r>
              <a:rPr lang="de-DE" sz="2400" dirty="0" smtClean="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Multiprojekt Übersichten</a:t>
            </a:r>
          </a:p>
          <a:p>
            <a:r>
              <a:rPr lang="de-DE" sz="1800" dirty="0" smtClean="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Erzeugt durch den VISBO Report Generator © 2013 </a:t>
            </a:r>
          </a:p>
        </p:txBody>
      </p:sp>
      <p:pic>
        <p:nvPicPr>
          <p:cNvPr id="4098" name="Picture 2" descr="visbo_logo_transparent_flat.tif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379663"/>
            <a:ext cx="8509000" cy="353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71060550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13 - Dez 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1230" y="1768925"/>
            <a:ext cx="2936680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3759740"/>
              </p:ext>
            </p:extLst>
          </p:nvPr>
        </p:nvGraphicFramePr>
        <p:xfrm>
          <a:off x="7323280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5034972"/>
              </p:ext>
            </p:extLst>
          </p:nvPr>
        </p:nvGraphicFramePr>
        <p:xfrm>
          <a:off x="7311696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14 - Dez 14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5978" y="1768925"/>
            <a:ext cx="2682092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1638549"/>
              </p:ext>
            </p:extLst>
          </p:nvPr>
        </p:nvGraphicFramePr>
        <p:xfrm>
          <a:off x="7323279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4143526"/>
              </p:ext>
            </p:extLst>
          </p:nvPr>
        </p:nvGraphicFramePr>
        <p:xfrm>
          <a:off x="7311695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15 - Dez 15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0823" y="1768925"/>
            <a:ext cx="2468123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32734475"/>
              </p:ext>
            </p:extLst>
          </p:nvPr>
        </p:nvGraphicFramePr>
        <p:xfrm>
          <a:off x="7323279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115671"/>
              </p:ext>
            </p:extLst>
          </p:nvPr>
        </p:nvGraphicFramePr>
        <p:xfrm>
          <a:off x="7311695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16 - Dez 16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484" y="1768925"/>
            <a:ext cx="2252488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453400"/>
              </p:ext>
            </p:extLst>
          </p:nvPr>
        </p:nvGraphicFramePr>
        <p:xfrm>
          <a:off x="7323279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5121670"/>
              </p:ext>
            </p:extLst>
          </p:nvPr>
        </p:nvGraphicFramePr>
        <p:xfrm>
          <a:off x="7311695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17 - Dez 17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8579" y="1768925"/>
            <a:ext cx="2044131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1710437"/>
              </p:ext>
            </p:extLst>
          </p:nvPr>
        </p:nvGraphicFramePr>
        <p:xfrm>
          <a:off x="7323279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5000005"/>
              </p:ext>
            </p:extLst>
          </p:nvPr>
        </p:nvGraphicFramePr>
        <p:xfrm>
          <a:off x="7311695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Shape10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Stand: 11.12.2013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Shape15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smtClean="0">
                <a:solidFill>
                  <a:schemeClr val="bg2"/>
                </a:solidFill>
              </a:rPr>
              <a:t>Zeitraum: Jan 18 - Dez 18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Shape9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smtClean="0">
                <a:solidFill>
                  <a:schemeClr val="bg2"/>
                </a:solidFill>
              </a:rPr>
              <a:t> </a:t>
            </a:r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Shape11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Shape13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smtClean="0">
                <a:solidFill>
                  <a:schemeClr val="bg2"/>
                </a:solidFill>
                <a:sym typeface="Noteworthy Bold" charset="0"/>
              </a:rPr>
              <a:t> </a:t>
            </a:r>
            <a:endParaRPr lang="de-DE" sz="1400" dirty="0">
              <a:solidFill>
                <a:schemeClr val="bg2"/>
              </a:solidFill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4369" y="1768925"/>
            <a:ext cx="1991498" cy="63592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2" name="pf#0#1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1316951"/>
              </p:ext>
            </p:extLst>
          </p:nvPr>
        </p:nvGraphicFramePr>
        <p:xfrm>
          <a:off x="7323280" y="1701240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f#0#1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94353568"/>
              </p:ext>
            </p:extLst>
          </p:nvPr>
        </p:nvGraphicFramePr>
        <p:xfrm>
          <a:off x="7311696" y="5085976"/>
          <a:ext cx="4838400" cy="311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Weitere Beispiele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06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894</Words>
  <Application>Microsoft Office PowerPoint</Application>
  <PresentationFormat>Benutzerdefiniert</PresentationFormat>
  <Paragraphs>441</Paragraphs>
  <Slides>8</Slides>
  <Notes>7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9" baseType="lpstr">
      <vt:lpstr>Larissa</vt:lpstr>
      <vt:lpstr>PowerPoint-Präsentation</vt:lpstr>
      <vt:lpstr>Übersicht Leistbarkeit</vt:lpstr>
      <vt:lpstr>Übersicht Leistbarkeit</vt:lpstr>
      <vt:lpstr>Übersicht Leistbarkeit</vt:lpstr>
      <vt:lpstr>Übersicht Leistbarkeit</vt:lpstr>
      <vt:lpstr>Übersicht Leistbarkeit</vt:lpstr>
      <vt:lpstr>Übersicht Leistbarkeit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113</cp:revision>
  <cp:lastPrinted>2013-11-22T06:48:53Z</cp:lastPrinted>
  <dcterms:modified xsi:type="dcterms:W3CDTF">2013-12-28T11:30:36Z</dcterms:modified>
</cp:coreProperties>
</file>