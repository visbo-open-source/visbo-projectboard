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15"/>
  </p:notesMasterIdLst>
  <p:sldIdLst>
    <p:sldId id="282" r:id="rId2"/>
    <p:sldId id="288" r:id="rId3"/>
    <p:sldId id="281" r:id="rId4"/>
    <p:sldId id="284" r:id="rId5"/>
    <p:sldId id="275" r:id="rId6"/>
    <p:sldId id="286" r:id="rId7"/>
    <p:sldId id="287" r:id="rId8"/>
    <p:sldId id="285" r:id="rId9"/>
    <p:sldId id="289" r:id="rId10"/>
    <p:sldId id="280" r:id="rId11"/>
    <p:sldId id="279" r:id="rId12"/>
    <p:sldId id="277" r:id="rId13"/>
    <p:sldId id="278" r:id="rId14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475" autoAdjust="0"/>
  </p:normalViewPr>
  <p:slideViewPr>
    <p:cSldViewPr>
      <p:cViewPr>
        <p:scale>
          <a:sx n="66" d="100"/>
          <a:sy n="66" d="100"/>
        </p:scale>
        <p:origin x="-2016" y="72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endParaRPr lang="de-DE" sz="24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Alle Projekte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504000" y="1564433"/>
            <a:ext cx="11831048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 smtClean="0"/>
              <a:t>Projekt-Tafel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414006" y="8799348"/>
            <a:ext cx="82990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Gezeigt werden alle Projekte, die im betrachteten Zeitraum (=grau markiert) liegen. Alle folgenden Auswertungen beziehen sich auf den betrachteten Zeitraum </a:t>
            </a:r>
            <a:endParaRPr lang="de-DE" sz="900" dirty="0"/>
          </a:p>
        </p:txBody>
      </p:sp>
      <p:sp>
        <p:nvSpPr>
          <p:cNvPr id="7" name="Rechteck 6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193746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Ergebnis, Potentiale und Auslastung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7183059" cy="3672407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Es wird eine Ergebnis Kennzahl dargestellt – die setzt sich zusammen aus der Summe der einzelnen </a:t>
            </a:r>
            <a:r>
              <a:rPr lang="de-DE" sz="900" dirty="0" err="1" smtClean="0"/>
              <a:t>Earned</a:t>
            </a:r>
            <a:r>
              <a:rPr lang="de-DE" sz="900" dirty="0" smtClean="0"/>
              <a:t> Value Projektergebnisse abzüglich der Summe aus (Kosten Überauslastung + Kosten der Unterauslastung); in den unteren Charts wird dargestellt , wie sich das Verhältnis zu Über- wie Unterauslastung darstellt bzw. wie sich die Über- </a:t>
            </a:r>
            <a:r>
              <a:rPr lang="de-DE" sz="900" dirty="0" err="1" smtClean="0"/>
              <a:t>bzw</a:t>
            </a:r>
            <a:r>
              <a:rPr lang="de-DE" sz="900" dirty="0" smtClean="0"/>
              <a:t> Unterauslastung zusammensetzt </a:t>
            </a:r>
            <a:endParaRPr lang="de-DE" sz="900" dirty="0"/>
          </a:p>
        </p:txBody>
      </p:sp>
      <p:sp>
        <p:nvSpPr>
          <p:cNvPr id="21" name="Rechteck 20"/>
          <p:cNvSpPr/>
          <p:nvPr/>
        </p:nvSpPr>
        <p:spPr bwMode="auto">
          <a:xfrm>
            <a:off x="886336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</p:txBody>
      </p:sp>
      <p:sp>
        <p:nvSpPr>
          <p:cNvPr id="22" name="Rechteck 21"/>
          <p:cNvSpPr/>
          <p:nvPr/>
        </p:nvSpPr>
        <p:spPr bwMode="auto">
          <a:xfrm>
            <a:off x="4541563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</p:txBody>
      </p:sp>
      <p:sp>
        <p:nvSpPr>
          <p:cNvPr id="23" name="Rechteck 22"/>
          <p:cNvSpPr/>
          <p:nvPr/>
        </p:nvSpPr>
        <p:spPr bwMode="auto">
          <a:xfrm>
            <a:off x="8196790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24" name="Rechteck 23"/>
          <p:cNvSpPr/>
          <p:nvPr/>
        </p:nvSpPr>
        <p:spPr bwMode="auto">
          <a:xfrm>
            <a:off x="8196790" y="1564432"/>
            <a:ext cx="3527832" cy="3672407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 Verbesserungspotential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525736" y="9289234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3283776" y="9293008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58384" y="9289234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8566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 </a:t>
            </a:r>
            <a:r>
              <a:rPr lang="de-DE" sz="1200" dirty="0" smtClean="0"/>
              <a:t>Phasen (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Case</a:t>
            </a:r>
            <a:r>
              <a:rPr lang="de-DE" sz="1200" dirty="0" smtClean="0"/>
              <a:t>#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r>
              <a:rPr lang="de-DE" sz="1200" dirty="0" smtClean="0"/>
              <a:t>#</a:t>
            </a:r>
            <a:r>
              <a:rPr lang="de-DE" sz="1200" dirty="0" smtClean="0">
                <a:solidFill>
                  <a:schemeClr val="bg2"/>
                </a:solidFill>
                <a:sym typeface="Noteworthy Bold" charset="0"/>
              </a:rPr>
              <a:t> 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7" name="Rechteck 16"/>
          <p:cNvSpPr/>
          <p:nvPr/>
        </p:nvSpPr>
        <p:spPr bwMode="auto">
          <a:xfrm>
            <a:off x="6335584" y="1564432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9" name="Rechteck 18"/>
          <p:cNvSpPr/>
          <p:nvPr/>
        </p:nvSpPr>
        <p:spPr bwMode="auto">
          <a:xfrm>
            <a:off x="6335584" y="3976828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23" name="Rechteck 22"/>
          <p:cNvSpPr/>
          <p:nvPr/>
        </p:nvSpPr>
        <p:spPr bwMode="auto">
          <a:xfrm>
            <a:off x="6335584" y="6389224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/>
              <a:t>Entwicklung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3" name="Titel 1"/>
          <p:cNvSpPr txBox="1">
            <a:spLocks/>
          </p:cNvSpPr>
          <p:nvPr/>
        </p:nvSpPr>
        <p:spPr bwMode="auto">
          <a:xfrm>
            <a:off x="165696" y="282749"/>
            <a:ext cx="12313368" cy="12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+mj-lt"/>
                <a:ea typeface="+mj-ea"/>
                <a:cs typeface="+mj-cs"/>
                <a:sym typeface="Gill Sans Light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4400" kern="0" smtClean="0"/>
              <a:t>Projekt-Phasen Häufigkeit </a:t>
            </a:r>
            <a:endParaRPr lang="de-DE" sz="4400" kern="0" dirty="0"/>
          </a:p>
        </p:txBody>
      </p:sp>
      <p:sp>
        <p:nvSpPr>
          <p:cNvPr id="11" name="Textfeld 10"/>
          <p:cNvSpPr txBox="1"/>
          <p:nvPr/>
        </p:nvSpPr>
        <p:spPr>
          <a:xfrm>
            <a:off x="781732" y="8693224"/>
            <a:ext cx="55066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Die in den Summen-Charts angezeigten Phasen werden in den Projekten in Ihrer </a:t>
            </a:r>
            <a:br>
              <a:rPr lang="de-DE" sz="900" dirty="0" smtClean="0"/>
            </a:br>
            <a:r>
              <a:rPr lang="de-DE" sz="900" dirty="0" smtClean="0"/>
              <a:t>zeitlichen Lage  farblich gekennzeichnet; </a:t>
            </a:r>
          </a:p>
          <a:p>
            <a:r>
              <a:rPr lang="de-DE" sz="900" dirty="0" smtClean="0"/>
              <a:t>Angezeigt werden Phasen, wenn sie ganz oder teilweise im betrachteten Zeitraum (graue Fläche) liegen</a:t>
            </a:r>
            <a:endParaRPr lang="de-DE" sz="900" dirty="0"/>
          </a:p>
        </p:txBody>
      </p:sp>
      <p:sp>
        <p:nvSpPr>
          <p:cNvPr id="14" name="Textfeld 13"/>
          <p:cNvSpPr txBox="1"/>
          <p:nvPr/>
        </p:nvSpPr>
        <p:spPr>
          <a:xfrm>
            <a:off x="6755716" y="8693224"/>
            <a:ext cx="471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In den Summen-Charts wird angezeigt, wie oft eine bestimmte Phase über alle Projekte 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vorkommt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402508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/>
        </p:nvSpPr>
        <p:spPr bwMode="auto">
          <a:xfrm>
            <a:off x="886336" y="1564433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 Phasen (</a:t>
            </a: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7" name="Rechteck 16"/>
          <p:cNvSpPr/>
          <p:nvPr/>
        </p:nvSpPr>
        <p:spPr bwMode="auto">
          <a:xfrm>
            <a:off x="6335584" y="1564432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 smtClean="0">
                <a:sym typeface="Noteworthy Bold" charset="0"/>
              </a:rPr>
              <a:t>Phase 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9" name="Rechteck 18"/>
          <p:cNvSpPr/>
          <p:nvPr/>
        </p:nvSpPr>
        <p:spPr bwMode="auto">
          <a:xfrm>
            <a:off x="6335584" y="3976828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 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23" name="Rechteck 22"/>
          <p:cNvSpPr/>
          <p:nvPr/>
        </p:nvSpPr>
        <p:spPr bwMode="auto">
          <a:xfrm>
            <a:off x="6335584" y="6389224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3" name="Titel 1"/>
          <p:cNvSpPr txBox="1">
            <a:spLocks/>
          </p:cNvSpPr>
          <p:nvPr/>
        </p:nvSpPr>
        <p:spPr bwMode="auto">
          <a:xfrm>
            <a:off x="165696" y="282749"/>
            <a:ext cx="12313368" cy="12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+mj-lt"/>
                <a:ea typeface="+mj-ea"/>
                <a:cs typeface="+mj-cs"/>
                <a:sym typeface="Gill Sans Light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4400" kern="0" smtClean="0"/>
              <a:t>Projekt-Phasen Häufigkeit </a:t>
            </a:r>
            <a:endParaRPr lang="de-DE" sz="4400" kern="0" dirty="0"/>
          </a:p>
        </p:txBody>
      </p:sp>
      <p:sp>
        <p:nvSpPr>
          <p:cNvPr id="11" name="Textfeld 10"/>
          <p:cNvSpPr txBox="1"/>
          <p:nvPr/>
        </p:nvSpPr>
        <p:spPr>
          <a:xfrm>
            <a:off x="781732" y="8693224"/>
            <a:ext cx="55066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Die in den Summen-Charts angezeigten Phasen werden in den Projekten in Ihrer </a:t>
            </a:r>
            <a:br>
              <a:rPr lang="de-DE" sz="900" dirty="0" smtClean="0"/>
            </a:br>
            <a:r>
              <a:rPr lang="de-DE" sz="900" dirty="0" smtClean="0"/>
              <a:t>zeitlichen Lage  farblich gekennzeichnet; </a:t>
            </a:r>
          </a:p>
          <a:p>
            <a:r>
              <a:rPr lang="de-DE" sz="900" dirty="0" smtClean="0"/>
              <a:t>Angezeigt werden Phasen, wenn sie ganz oder teilweise im betrachteten Zeitraum (graue Fläche) liegen</a:t>
            </a:r>
            <a:endParaRPr lang="de-DE" sz="900" dirty="0"/>
          </a:p>
        </p:txBody>
      </p:sp>
      <p:sp>
        <p:nvSpPr>
          <p:cNvPr id="14" name="Textfeld 13"/>
          <p:cNvSpPr txBox="1"/>
          <p:nvPr/>
        </p:nvSpPr>
        <p:spPr>
          <a:xfrm>
            <a:off x="6755716" y="8693224"/>
            <a:ext cx="471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In den Summen-Charts wird angezeigt, wie oft eine bestimmte Phase über alle Projekte 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vorkommt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20" name="Rechteck 19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120928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-1-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Marktpotential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Merkmale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31237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-2-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Shortlist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Dokumentation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err="1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49759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Meilenstein </a:t>
            </a:r>
            <a:r>
              <a:rPr lang="de-DE" sz="4400" dirty="0" smtClean="0"/>
              <a:t>Häufigkeit -3-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Merkmale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% Muss-Testfälle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erfolgreich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Dokumentation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1"/>
                </a:solidFill>
                <a:sym typeface="Noteworthy Bold" charset="0"/>
              </a:rPr>
              <a:t>Meilenstein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1600" dirty="0"/>
              <a:t> </a:t>
            </a:r>
            <a:r>
              <a:rPr lang="de-DE" sz="1200" dirty="0" smtClean="0">
                <a:solidFill>
                  <a:schemeClr val="bg1"/>
                </a:solidFill>
                <a:sym typeface="Noteworthy Bold" charset="0"/>
              </a:rPr>
              <a:t>)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957784" y="8621216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In den Summen-Charts wird angezeigt, wie oft </a:t>
            </a:r>
            <a:r>
              <a:rPr lang="de-DE" sz="900" dirty="0" smtClean="0"/>
              <a:t>ein bestimmter Meilenstein über </a:t>
            </a:r>
            <a:r>
              <a:rPr lang="de-DE" sz="900" dirty="0"/>
              <a:t>alle Projekte  </a:t>
            </a:r>
            <a:br>
              <a:rPr lang="de-DE" sz="900" dirty="0"/>
            </a:br>
            <a:r>
              <a:rPr lang="de-DE" sz="900" dirty="0"/>
              <a:t>im jeweiligen Monat des betrachteten Zeitraums </a:t>
            </a:r>
            <a:r>
              <a:rPr lang="de-DE" sz="900" dirty="0" smtClean="0"/>
              <a:t>vorkommt; die Farbe steht dabei für die Ampelfarbe der im Monat auftretenden Meilensteine</a:t>
            </a:r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2956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Ressourcen Bedarfe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Rolle(Projektleiter)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In den Summen-Charts wird angezeigt, wie hoch der Ressourcen Bedarf einer bestimmten Rolle über alle Projekte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ist;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Rolle(Analyst)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Rolle(Entwickler)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Rolle(GUI Spezialist)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Rolle(Architekt)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Rolle(Tester)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Kosten Bedarfe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(IT-Kosten)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6396590" y="15644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(Reise-Kosten)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885776" y="51648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In den Summen-Charts wird angezeigt, wie hoch der Ressourcen Bedarf einer bestimmten Rolle über alle Projekte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ist;</a:t>
            </a:r>
            <a:endParaRPr lang="de-DE" sz="900" dirty="0"/>
          </a:p>
        </p:txBody>
      </p:sp>
      <p:sp>
        <p:nvSpPr>
          <p:cNvPr id="9" name="Rechteck 8"/>
          <p:cNvSpPr/>
          <p:nvPr/>
        </p:nvSpPr>
        <p:spPr bwMode="auto">
          <a:xfrm>
            <a:off x="525736" y="9289234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83776" y="9293008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58384" y="9289234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70543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Aktueller Status der Projekte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auto">
          <a:xfrm>
            <a:off x="504000" y="1636440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Projekt-Tafel(Status)</a:t>
            </a:r>
            <a:endParaRPr lang="de-DE" sz="1200" dirty="0">
              <a:sym typeface="Noteworthy Bold" charset="0"/>
            </a:endParaRPr>
          </a:p>
        </p:txBody>
      </p:sp>
      <p:graphicFrame>
        <p:nvGraphicFramePr>
          <p:cNvPr id="11" name="Shape3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56942"/>
              </p:ext>
            </p:extLst>
          </p:nvPr>
        </p:nvGraphicFramePr>
        <p:xfrm>
          <a:off x="6070352" y="1636440"/>
          <a:ext cx="6574465" cy="919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60040"/>
                <a:gridCol w="1224136"/>
                <a:gridCol w="4990289"/>
              </a:tblGrid>
              <a:tr h="370840"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Projekt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Gesamt</a:t>
                      </a:r>
                      <a:r>
                        <a:rPr lang="de-DE" sz="1600" baseline="0" dirty="0" smtClean="0"/>
                        <a:t> Einschätzung Projektleitung</a:t>
                      </a:r>
                      <a:endParaRPr lang="de-DE" sz="1600" dirty="0" smtClean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Entwicklung 5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es sind neue Anforderungen bezgl. Sicherheit dazugekommen - wir haben noch keinen Weg gefunden, die mit unser aktuellen Architektur zu leisten; es muss entschieden werden, ob die Anforderung in der Form bestehen bleiben muss </a:t>
                      </a:r>
                      <a:endParaRPr lang="de-DE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895228" y="8765232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Zu den Projekten wird die aktuell gültige Ampel Bewertung des Projektes dargestellt. </a:t>
            </a:r>
          </a:p>
          <a:p>
            <a:r>
              <a:rPr lang="de-DE" sz="900" dirty="0" smtClean="0"/>
              <a:t>OK=Grün / Vorsicht=Gelb / Kritisch=Rot / Nicht bewertet=Grau </a:t>
            </a:r>
            <a:endParaRPr lang="de-DE" sz="900" dirty="0"/>
          </a:p>
        </p:txBody>
      </p:sp>
      <p:sp>
        <p:nvSpPr>
          <p:cNvPr id="9" name="Rechteck 8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414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5736" y="390525"/>
            <a:ext cx="11828189" cy="1245915"/>
          </a:xfrm>
        </p:spPr>
        <p:txBody>
          <a:bodyPr/>
          <a:lstStyle/>
          <a:p>
            <a:r>
              <a:rPr lang="de-DE" sz="3600" dirty="0" smtClean="0"/>
              <a:t>Einordnung strategischer Fit / technisches Risiko / Marge</a:t>
            </a:r>
            <a:endParaRPr lang="de-DE" sz="6000" dirty="0"/>
          </a:p>
        </p:txBody>
      </p:sp>
      <p:sp>
        <p:nvSpPr>
          <p:cNvPr id="8" name="Rechteck 7"/>
          <p:cNvSpPr/>
          <p:nvPr/>
        </p:nvSpPr>
        <p:spPr bwMode="auto">
          <a:xfrm>
            <a:off x="525736" y="1780456"/>
            <a:ext cx="11881320" cy="633670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2400" dirty="0" smtClean="0"/>
              <a:t>Strategie/Risiko/Marge</a:t>
            </a:r>
            <a:endParaRPr lang="de-DE" sz="2400" dirty="0"/>
          </a:p>
          <a:p>
            <a:endParaRPr lang="de-DE" sz="2400" dirty="0">
              <a:sym typeface="Noteworthy Bold" charset="0"/>
            </a:endParaRPr>
          </a:p>
        </p:txBody>
      </p:sp>
      <p:sp>
        <p:nvSpPr>
          <p:cNvPr id="9" name="Textfeld 2"/>
          <p:cNvSpPr txBox="1"/>
          <p:nvPr/>
        </p:nvSpPr>
        <p:spPr>
          <a:xfrm>
            <a:off x="4126136" y="8235602"/>
            <a:ext cx="604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algn="l"/>
            <a:r>
              <a:rPr lang="de-DE" sz="900" dirty="0" smtClean="0"/>
              <a:t>Erläuterung: 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Farbe der Kugel gibt die Ampel-Bewertung des Projekts wieder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Größe </a:t>
            </a:r>
            <a:r>
              <a:rPr lang="de-DE" sz="900" dirty="0"/>
              <a:t>der Kugel entspricht dem Projekt-Volumen </a:t>
            </a:r>
            <a:endParaRPr lang="de-DE" sz="900" dirty="0" smtClean="0"/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X-/Y-Koordinaten entsprechenden der Einschätzung Strategie / Risiko</a:t>
            </a:r>
            <a:endParaRPr lang="de-DE" sz="900" dirty="0"/>
          </a:p>
        </p:txBody>
      </p:sp>
      <p:sp>
        <p:nvSpPr>
          <p:cNvPr id="7" name="Rechteck 6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13261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Status Meilensteine/Ziele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auto">
          <a:xfrm>
            <a:off x="6048616" y="1623616"/>
            <a:ext cx="5638360" cy="34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6048616" y="5332407"/>
            <a:ext cx="5638360" cy="34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</a:t>
            </a:r>
            <a:r>
              <a:rPr lang="de-DE" sz="1600" dirty="0">
                <a:solidFill>
                  <a:schemeClr val="bg2"/>
                </a:solidFill>
                <a:sym typeface="Noteworthy Bold" charset="0"/>
              </a:rPr>
              <a:t> </a:t>
            </a:r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Zielerreichung</a:t>
            </a:r>
            <a:endParaRPr lang="de-DE" sz="16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525736" y="1623616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Projekt-Tafel(Milestones ALL)</a:t>
            </a:r>
            <a:endParaRPr lang="de-DE" sz="1200" dirty="0">
              <a:sym typeface="Noteworthy Bold" charset="0"/>
            </a:endParaRPr>
          </a:p>
        </p:txBody>
      </p:sp>
      <p:sp>
        <p:nvSpPr>
          <p:cNvPr id="13" name="Textfeld 2"/>
          <p:cNvSpPr txBox="1"/>
          <p:nvPr/>
        </p:nvSpPr>
        <p:spPr>
          <a:xfrm>
            <a:off x="237704" y="8752407"/>
            <a:ext cx="59463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 smtClean="0"/>
              <a:t>Angezeigt wird die Lage der Meilensteine inkl. ihrer aktuellen Ampel-Bewertung / Prognose</a:t>
            </a:r>
          </a:p>
          <a:p>
            <a:r>
              <a:rPr lang="de-DE" sz="900" dirty="0"/>
              <a:t>OK=Grün / Vorsicht=Gelb / Kritisch=Rot / Nicht bewertet=Grau </a:t>
            </a:r>
          </a:p>
          <a:p>
            <a:r>
              <a:rPr lang="de-DE" sz="900" dirty="0" smtClean="0"/>
              <a:t> 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02625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Details zu gelb und rot bewerteten Zielen</a:t>
            </a:r>
            <a:endParaRPr lang="de-DE" dirty="0"/>
          </a:p>
        </p:txBody>
      </p:sp>
      <p:graphicFrame>
        <p:nvGraphicFramePr>
          <p:cNvPr id="7" name="Shape3" descr="gelb/rot" title="Tabelle Zielerreich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08265"/>
              </p:ext>
            </p:extLst>
          </p:nvPr>
        </p:nvGraphicFramePr>
        <p:xfrm>
          <a:off x="6027181" y="1606419"/>
          <a:ext cx="6739915" cy="1071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1896"/>
                <a:gridCol w="1119798"/>
                <a:gridCol w="909836"/>
                <a:gridCol w="909836"/>
                <a:gridCol w="3408549"/>
              </a:tblGrid>
              <a:tr h="370840"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Projekt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Ziel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Datum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Erläuterung</a:t>
                      </a:r>
                      <a:endParaRPr lang="de-DE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de-DE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Entwicklung 5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Architektur Dokument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14.09.2013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es sind neue Anforderungen bezgl. Sicherheit dazugekommen - wir haben noch keinen Weg gefunden, die mit unser aktuellen Architektur zu leisten; es muss entschieden werden, ob die Anforderung in der Form bestehen bleiben muss </a:t>
                      </a:r>
                      <a:endParaRPr lang="de-DE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hteck 10"/>
          <p:cNvSpPr/>
          <p:nvPr/>
        </p:nvSpPr>
        <p:spPr bwMode="auto">
          <a:xfrm>
            <a:off x="526296" y="1623616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Projekt-Tafel(Milestones GR)</a:t>
            </a:r>
            <a:endParaRPr lang="de-DE" sz="1200" dirty="0">
              <a:sym typeface="Noteworthy Bold" charset="0"/>
            </a:endParaRPr>
          </a:p>
        </p:txBody>
      </p:sp>
      <p:sp>
        <p:nvSpPr>
          <p:cNvPr id="12" name="Textfeld 2"/>
          <p:cNvSpPr txBox="1"/>
          <p:nvPr/>
        </p:nvSpPr>
        <p:spPr>
          <a:xfrm>
            <a:off x="237704" y="8752407"/>
            <a:ext cx="59463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 smtClean="0"/>
              <a:t>Angezeigt wird die Lage der Meilensteine inkl. ihrer aktuellen Ampel-Bewertung / Prognose</a:t>
            </a:r>
          </a:p>
          <a:p>
            <a:r>
              <a:rPr lang="de-DE" sz="900" dirty="0"/>
              <a:t>OK=Grün / Vorsicht=Gelb / Kritisch=Rot / Nicht bewertet=Grau </a:t>
            </a:r>
          </a:p>
          <a:p>
            <a:r>
              <a:rPr lang="de-DE" sz="900" dirty="0" smtClean="0"/>
              <a:t> </a:t>
            </a:r>
          </a:p>
        </p:txBody>
      </p:sp>
      <p:sp>
        <p:nvSpPr>
          <p:cNvPr id="8" name="Rechteck 7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01662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2471</Words>
  <Application>Microsoft Office PowerPoint</Application>
  <PresentationFormat>Benutzerdefiniert</PresentationFormat>
  <Paragraphs>1202</Paragraphs>
  <Slides>13</Slides>
  <Notes>13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Larissa</vt:lpstr>
      <vt:lpstr>Alle Projekte</vt:lpstr>
      <vt:lpstr>Ergebnis, Potentiale und Auslastung</vt:lpstr>
      <vt:lpstr>PowerPoint-Präsentation</vt:lpstr>
      <vt:lpstr>PowerPoint-Präsentation</vt:lpstr>
      <vt:lpstr>Meilenstein Häufigkeit -1-</vt:lpstr>
      <vt:lpstr>Meilenstein Häufigkeit -2-</vt:lpstr>
      <vt:lpstr>Meilenstein Häufigkeit -3-</vt:lpstr>
      <vt:lpstr>Ressourcen Bedarfe</vt:lpstr>
      <vt:lpstr>Kosten Bedarfe</vt:lpstr>
      <vt:lpstr>Aktueller Status der Projekte</vt:lpstr>
      <vt:lpstr>Einordnung strategischer Fit / technisches Risiko / Marge</vt:lpstr>
      <vt:lpstr>Status Meilensteine/Ziele</vt:lpstr>
      <vt:lpstr>Details zu gelb und rot bewerteten Zielen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123</cp:revision>
  <dcterms:modified xsi:type="dcterms:W3CDTF">2014-03-02T14:01:42Z</dcterms:modified>
</cp:coreProperties>
</file>