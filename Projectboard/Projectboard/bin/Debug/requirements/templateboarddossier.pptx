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erverZoom="100000" strictFirstAndLastChars="0" saveSubsetFonts="1">
  <p:sldMasterIdLst>
    <p:sldMasterId id="2147483648" r:id="rId1"/>
  </p:sldMasterIdLst>
  <p:notesMasterIdLst>
    <p:notesMasterId r:id="rId6"/>
  </p:notesMasterIdLst>
  <p:sldIdLst>
    <p:sldId id="272" r:id="rId2"/>
    <p:sldId id="269" r:id="rId3"/>
    <p:sldId id="273" r:id="rId4"/>
    <p:sldId id="265" r:id="rId5"/>
  </p:sldIdLst>
  <p:sldSz cx="13004800" cy="9753600"/>
  <p:notesSz cx="6858000" cy="9144000"/>
  <p:defaultTextStyle>
    <a:defPPr>
      <a:defRPr lang="de-DE"/>
    </a:defPPr>
    <a:lvl1pPr algn="ctr" defTabSz="584200" rtl="0" fontAlgn="base" hangingPunct="0">
      <a:spcBef>
        <a:spcPct val="0"/>
      </a:spcBef>
      <a:spcAft>
        <a:spcPct val="0"/>
      </a:spcAft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1pPr>
    <a:lvl2pPr marL="342900" algn="ctr" defTabSz="584200" rtl="0" fontAlgn="base" hangingPunct="0">
      <a:spcBef>
        <a:spcPct val="0"/>
      </a:spcBef>
      <a:spcAft>
        <a:spcPct val="0"/>
      </a:spcAft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2pPr>
    <a:lvl3pPr marL="685800" algn="ctr" defTabSz="584200" rtl="0" fontAlgn="base" hangingPunct="0">
      <a:spcBef>
        <a:spcPct val="0"/>
      </a:spcBef>
      <a:spcAft>
        <a:spcPct val="0"/>
      </a:spcAft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3pPr>
    <a:lvl4pPr marL="1028700" algn="ctr" defTabSz="584200" rtl="0" fontAlgn="base" hangingPunct="0">
      <a:spcBef>
        <a:spcPct val="0"/>
      </a:spcBef>
      <a:spcAft>
        <a:spcPct val="0"/>
      </a:spcAft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4pPr>
    <a:lvl5pPr marL="1371600" algn="ctr" defTabSz="584200" rtl="0" fontAlgn="base" hangingPunct="0">
      <a:spcBef>
        <a:spcPct val="0"/>
      </a:spcBef>
      <a:spcAft>
        <a:spcPct val="0"/>
      </a:spcAft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5pPr>
    <a:lvl6pPr marL="2286000" algn="l" defTabSz="914400" rtl="0" eaLnBrk="1" latinLnBrk="0" hangingPunct="1"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6pPr>
    <a:lvl7pPr marL="2743200" algn="l" defTabSz="914400" rtl="0" eaLnBrk="1" latinLnBrk="0" hangingPunct="1"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7pPr>
    <a:lvl8pPr marL="3200400" algn="l" defTabSz="914400" rtl="0" eaLnBrk="1" latinLnBrk="0" hangingPunct="1"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8pPr>
    <a:lvl9pPr marL="3657600" algn="l" defTabSz="914400" rtl="0" eaLnBrk="1" latinLnBrk="0" hangingPunct="1"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9CF1AB2-1976-4502-BF36-3FF5EA218861}" styleName="Mittlere Formatvorlage 4 - Akz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69012ECD-51FC-41F1-AA8D-1B2483CD663E}" styleName="Helle Formatvorlage 2 - Akz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5353" autoAdjust="0"/>
  </p:normalViewPr>
  <p:slideViewPr>
    <p:cSldViewPr>
      <p:cViewPr varScale="1">
        <p:scale>
          <a:sx n="65" d="100"/>
          <a:sy n="65" d="100"/>
        </p:scale>
        <p:origin x="-2064" y="-114"/>
      </p:cViewPr>
      <p:guideLst>
        <p:guide orient="horz" pos="3072"/>
        <p:guide pos="409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3" name="Rectangle 1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rnd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3074" name="Rectangle 2"/>
          <p:cNvSpPr>
            <a:spLocks noGrp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rnd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smtClean="0">
                <a:sym typeface="Noteworthy Bold" charset="0"/>
              </a:rPr>
              <a:t>Click to edit Master text styles</a:t>
            </a:r>
          </a:p>
          <a:p>
            <a:pPr lvl="1"/>
            <a:r>
              <a:rPr lang="de-DE" smtClean="0">
                <a:sym typeface="Noteworthy Bold" charset="0"/>
              </a:rPr>
              <a:t>Second level</a:t>
            </a:r>
          </a:p>
          <a:p>
            <a:pPr lvl="2"/>
            <a:r>
              <a:rPr lang="de-DE" smtClean="0">
                <a:sym typeface="Noteworthy Bold" charset="0"/>
              </a:rPr>
              <a:t>Third level</a:t>
            </a:r>
          </a:p>
          <a:p>
            <a:pPr lvl="3"/>
            <a:r>
              <a:rPr lang="de-DE" smtClean="0">
                <a:sym typeface="Noteworthy Bold" charset="0"/>
              </a:rPr>
              <a:t>Fourth level</a:t>
            </a:r>
          </a:p>
          <a:p>
            <a:pPr lvl="4"/>
            <a:r>
              <a:rPr lang="de-DE" smtClean="0">
                <a:sym typeface="Noteworthy Bold" charset="0"/>
              </a:rPr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94167338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fontAlgn="base" hangingPunct="0">
      <a:lnSpc>
        <a:spcPts val="3500"/>
      </a:lnSpc>
      <a:spcBef>
        <a:spcPct val="0"/>
      </a:spcBef>
      <a:spcAft>
        <a:spcPct val="0"/>
      </a:spcAft>
      <a:defRPr sz="2400" kern="1200">
        <a:solidFill>
          <a:srgbClr val="572E2D"/>
        </a:solidFill>
        <a:latin typeface="Noteworthy Bold" charset="0"/>
        <a:ea typeface="Noteworthy Bold" charset="0"/>
        <a:cs typeface="Noteworthy Bold" charset="0"/>
        <a:sym typeface="Noteworthy Bold" charset="0"/>
      </a:defRPr>
    </a:lvl1pPr>
    <a:lvl2pPr marL="342900" algn="l" defTabSz="457200" rtl="0" fontAlgn="base" hangingPunct="0">
      <a:lnSpc>
        <a:spcPts val="3500"/>
      </a:lnSpc>
      <a:spcBef>
        <a:spcPct val="0"/>
      </a:spcBef>
      <a:spcAft>
        <a:spcPct val="0"/>
      </a:spcAft>
      <a:defRPr sz="2400" kern="1200">
        <a:solidFill>
          <a:srgbClr val="572E2D"/>
        </a:solidFill>
        <a:latin typeface="Noteworthy Bold" charset="0"/>
        <a:ea typeface="Noteworthy Bold" charset="0"/>
        <a:cs typeface="Noteworthy Bold" charset="0"/>
        <a:sym typeface="Noteworthy Bold" charset="0"/>
      </a:defRPr>
    </a:lvl2pPr>
    <a:lvl3pPr marL="685800" algn="l" defTabSz="457200" rtl="0" fontAlgn="base" hangingPunct="0">
      <a:lnSpc>
        <a:spcPts val="3500"/>
      </a:lnSpc>
      <a:spcBef>
        <a:spcPct val="0"/>
      </a:spcBef>
      <a:spcAft>
        <a:spcPct val="0"/>
      </a:spcAft>
      <a:defRPr sz="2400" kern="1200">
        <a:solidFill>
          <a:srgbClr val="572E2D"/>
        </a:solidFill>
        <a:latin typeface="Noteworthy Bold" charset="0"/>
        <a:ea typeface="Noteworthy Bold" charset="0"/>
        <a:cs typeface="Noteworthy Bold" charset="0"/>
        <a:sym typeface="Noteworthy Bold" charset="0"/>
      </a:defRPr>
    </a:lvl3pPr>
    <a:lvl4pPr marL="1028700" algn="l" defTabSz="457200" rtl="0" fontAlgn="base" hangingPunct="0">
      <a:lnSpc>
        <a:spcPts val="3500"/>
      </a:lnSpc>
      <a:spcBef>
        <a:spcPct val="0"/>
      </a:spcBef>
      <a:spcAft>
        <a:spcPct val="0"/>
      </a:spcAft>
      <a:defRPr sz="2400" kern="1200">
        <a:solidFill>
          <a:srgbClr val="572E2D"/>
        </a:solidFill>
        <a:latin typeface="Noteworthy Bold" charset="0"/>
        <a:ea typeface="Noteworthy Bold" charset="0"/>
        <a:cs typeface="Noteworthy Bold" charset="0"/>
        <a:sym typeface="Noteworthy Bold" charset="0"/>
      </a:defRPr>
    </a:lvl4pPr>
    <a:lvl5pPr marL="1371600" algn="l" defTabSz="457200" rtl="0" fontAlgn="base" hangingPunct="0">
      <a:lnSpc>
        <a:spcPts val="3500"/>
      </a:lnSpc>
      <a:spcBef>
        <a:spcPct val="0"/>
      </a:spcBef>
      <a:spcAft>
        <a:spcPct val="0"/>
      </a:spcAft>
      <a:defRPr sz="2400" kern="1200">
        <a:solidFill>
          <a:srgbClr val="572E2D"/>
        </a:solidFill>
        <a:latin typeface="Noteworthy Bold" charset="0"/>
        <a:ea typeface="Noteworthy Bold" charset="0"/>
        <a:cs typeface="Noteworthy Bold" charset="0"/>
        <a:sym typeface="Noteworthy Bold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712906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z="2400" dirty="0" smtClean="0"/>
              <a:t>Portfolio-Name</a:t>
            </a:r>
          </a:p>
          <a:p>
            <a:r>
              <a:rPr lang="de-DE" sz="2400" dirty="0" smtClean="0">
                <a:solidFill>
                  <a:schemeClr val="bg2"/>
                </a:solidFill>
              </a:rPr>
              <a:t>Projekt-Tafel</a:t>
            </a:r>
          </a:p>
          <a:p>
            <a:r>
              <a:rPr lang="de-DE" sz="2400" dirty="0" smtClean="0">
                <a:solidFill>
                  <a:schemeClr val="bg2"/>
                </a:solidFill>
              </a:rPr>
              <a:t>Projekt-Tafel(Milestones R)</a:t>
            </a: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2400" dirty="0" smtClean="0">
                <a:solidFill>
                  <a:schemeClr val="bg2"/>
                </a:solidFill>
              </a:rPr>
              <a:t>Projekt-Tafel(Milestones GR)</a:t>
            </a:r>
          </a:p>
          <a:p>
            <a:endParaRPr lang="de-DE" sz="2400" dirty="0" smtClean="0"/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Ergebnis</a:t>
            </a:r>
          </a:p>
          <a:p>
            <a:r>
              <a:rPr lang="de-DE" sz="2400" dirty="0" smtClean="0">
                <a:solidFill>
                  <a:schemeClr val="bg2"/>
                </a:solidFill>
                <a:sym typeface="Noteworthy Bold" charset="0"/>
              </a:rPr>
              <a:t>Ergebnis Verbesserungspotential</a:t>
            </a:r>
          </a:p>
          <a:p>
            <a:r>
              <a:rPr kumimoji="0" lang="de-DE" sz="2400" b="0" i="0" u="none" strike="noStrike" cap="none" normalizeH="0" baseline="0" dirty="0" smtClean="0">
                <a:ln>
                  <a:noFill/>
                </a:ln>
                <a:solidFill>
                  <a:schemeClr val="bg2"/>
                </a:solidFill>
                <a:effectLst/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Strategie/Risiko/Marge</a:t>
            </a: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cap="none" normalizeH="0" baseline="0" dirty="0" smtClean="0">
                <a:ln>
                  <a:noFill/>
                </a:ln>
                <a:solidFill>
                  <a:schemeClr val="bg2"/>
                </a:solidFill>
                <a:effectLst/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Strategie/Risiko/Volumen</a:t>
            </a: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2400" dirty="0" smtClean="0">
                <a:solidFill>
                  <a:schemeClr val="bg2"/>
                </a:solidFill>
              </a:rPr>
              <a:t>Zeit</a:t>
            </a:r>
            <a:r>
              <a:rPr kumimoji="0" lang="de-DE" sz="2400" b="0" i="0" u="none" strike="noStrike" cap="none" normalizeH="0" baseline="0" dirty="0" smtClean="0">
                <a:ln>
                  <a:noFill/>
                </a:ln>
                <a:solidFill>
                  <a:schemeClr val="bg2"/>
                </a:solidFill>
                <a:effectLst/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/Risiko/Volumen</a:t>
            </a:r>
          </a:p>
          <a:p>
            <a:endParaRPr kumimoji="0" lang="de-DE" sz="2400" b="0" i="0" u="none" strike="noStrike" cap="none" normalizeH="0" baseline="0" dirty="0" smtClean="0">
              <a:ln>
                <a:noFill/>
              </a:ln>
              <a:solidFill>
                <a:schemeClr val="bg2"/>
              </a:solidFill>
              <a:effectLst/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  <a:p>
            <a:endParaRPr kumimoji="0" lang="de-DE" sz="2400" b="0" i="0" u="none" strike="noStrike" cap="none" normalizeH="0" baseline="0" dirty="0" smtClean="0">
              <a:ln>
                <a:noFill/>
              </a:ln>
              <a:solidFill>
                <a:schemeClr val="bg2"/>
              </a:solidFill>
              <a:effectLst/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Übersicht Auslastung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Details Unterauslastung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Details Überauslastung</a:t>
            </a:r>
            <a:endParaRPr kumimoji="0" lang="de-DE" sz="2400" b="0" i="0" u="none" strike="noStrike" cap="none" normalizeH="0" baseline="0" dirty="0" smtClean="0">
              <a:ln>
                <a:noFill/>
              </a:ln>
              <a:solidFill>
                <a:schemeClr val="bg2"/>
              </a:solidFill>
              <a:effectLst/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  <a:p>
            <a:endParaRPr kumimoji="0" lang="de-DE" sz="2400" b="0" i="0" u="none" strike="noStrike" cap="none" normalizeH="0" baseline="0" dirty="0" smtClean="0">
              <a:ln>
                <a:noFill/>
              </a:ln>
              <a:solidFill>
                <a:schemeClr val="bg2"/>
              </a:solidFill>
              <a:effectLst/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Bisherige Zielerreichung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Prognose Zielerreichung</a:t>
            </a:r>
            <a:endParaRPr kumimoji="0" lang="de-DE" sz="2400" b="0" i="0" u="none" strike="noStrike" cap="none" normalizeH="0" baseline="0" dirty="0" smtClean="0">
              <a:ln>
                <a:noFill/>
              </a:ln>
              <a:solidFill>
                <a:schemeClr val="bg2"/>
              </a:solidFill>
              <a:effectLst/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  <a:p>
            <a:endParaRPr kumimoji="0" lang="de-DE" sz="2400" b="0" i="0" u="none" strike="noStrike" cap="none" normalizeH="0" baseline="0" dirty="0" smtClean="0">
              <a:ln>
                <a:noFill/>
              </a:ln>
              <a:solidFill>
                <a:schemeClr val="bg2"/>
              </a:solidFill>
              <a:effectLst/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  <a:p>
            <a:r>
              <a:rPr kumimoji="0" lang="de-DE" sz="2400" b="0" i="0" u="none" strike="noStrike" cap="none" normalizeH="0" baseline="0" dirty="0" smtClean="0">
                <a:ln>
                  <a:noFill/>
                </a:ln>
                <a:solidFill>
                  <a:schemeClr val="bg2"/>
                </a:solidFill>
                <a:effectLst/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Fortschritt Personalkosten </a:t>
            </a: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cap="none" normalizeH="0" baseline="0" dirty="0" smtClean="0">
                <a:ln>
                  <a:noFill/>
                </a:ln>
                <a:solidFill>
                  <a:schemeClr val="bg2"/>
                </a:solidFill>
                <a:effectLst/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Fortschritt Sonstige Kosten</a:t>
            </a: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cap="none" normalizeH="0" baseline="0" dirty="0" smtClean="0">
                <a:ln>
                  <a:noFill/>
                </a:ln>
                <a:solidFill>
                  <a:schemeClr val="bg2"/>
                </a:solidFill>
                <a:effectLst/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Fortschritt Gesamtkosten</a:t>
            </a: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cap="none" normalizeH="0" baseline="0" dirty="0" smtClean="0">
                <a:ln>
                  <a:noFill/>
                </a:ln>
                <a:solidFill>
                  <a:schemeClr val="bg2"/>
                </a:solidFill>
                <a:effectLst/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Fortschritt Rolle(…)</a:t>
            </a: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cap="none" normalizeH="0" baseline="0" dirty="0" smtClean="0">
                <a:ln>
                  <a:noFill/>
                </a:ln>
                <a:solidFill>
                  <a:schemeClr val="bg2"/>
                </a:solidFill>
                <a:effectLst/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Fortschritt Kostenart(…) </a:t>
            </a:r>
          </a:p>
          <a:p>
            <a:endParaRPr lang="de-DE" sz="2400" kern="1200" dirty="0" smtClean="0">
              <a:solidFill>
                <a:srgbClr val="572E2D"/>
              </a:solidFill>
              <a:latin typeface="Noteworthy Bold" charset="0"/>
              <a:ea typeface="Noteworthy Bold" charset="0"/>
              <a:cs typeface="Noteworthy Bold" charset="0"/>
              <a:sym typeface="Noteworthy Bold" charset="0"/>
            </a:endParaRP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Stand:</a:t>
            </a:r>
          </a:p>
          <a:p>
            <a:r>
              <a:rPr lang="de-DE" sz="2400" dirty="0" smtClean="0">
                <a:solidFill>
                  <a:schemeClr val="bg2"/>
                </a:solidFill>
              </a:rPr>
              <a:t>Zeitraum</a:t>
            </a:r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:</a:t>
            </a: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2400" dirty="0" smtClean="0">
                <a:solidFill>
                  <a:schemeClr val="bg2"/>
                </a:solidFill>
                <a:sym typeface="Noteworthy Bold" charset="0"/>
              </a:rPr>
              <a:t>Phase (…)</a:t>
            </a: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2400" dirty="0" smtClean="0">
                <a:solidFill>
                  <a:schemeClr val="bg2"/>
                </a:solidFill>
                <a:sym typeface="Noteworthy Bold" charset="0"/>
              </a:rPr>
              <a:t>Rolle (…)</a:t>
            </a: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2400" dirty="0" smtClean="0">
                <a:solidFill>
                  <a:schemeClr val="bg2"/>
                </a:solidFill>
                <a:sym typeface="Noteworthy Bold" charset="0"/>
              </a:rPr>
              <a:t>Kostenart (…)</a:t>
            </a: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de-DE" sz="2400" dirty="0" smtClean="0">
              <a:solidFill>
                <a:schemeClr val="bg2"/>
              </a:solidFill>
            </a:endParaRP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de-DE" sz="2400" dirty="0" smtClean="0">
              <a:solidFill>
                <a:schemeClr val="bg2"/>
              </a:solidFill>
            </a:endParaRP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2400" dirty="0" smtClean="0">
                <a:solidFill>
                  <a:schemeClr val="bg2"/>
                </a:solidFill>
              </a:rPr>
              <a:t>Phasen: </a:t>
            </a:r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DTK</a:t>
            </a:r>
            <a:r>
              <a:rPr lang="de-DE" dirty="0" smtClean="0"/>
              <a:t> </a:t>
            </a:r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TK</a:t>
            </a:r>
            <a:r>
              <a:rPr lang="de-DE" dirty="0" smtClean="0"/>
              <a:t> </a:t>
            </a:r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SWZ</a:t>
            </a:r>
            <a:r>
              <a:rPr lang="de-DE" dirty="0" smtClean="0"/>
              <a:t> </a:t>
            </a:r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PPA</a:t>
            </a:r>
            <a:r>
              <a:rPr lang="de-DE" dirty="0" smtClean="0"/>
              <a:t> </a:t>
            </a:r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Simulation VBBG</a:t>
            </a:r>
            <a:r>
              <a:rPr lang="de-DE" dirty="0" smtClean="0"/>
              <a:t> </a:t>
            </a:r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VBBG</a:t>
            </a:r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BBG Karosseriebau FIZ</a:t>
            </a:r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BBG Montage FIZ</a:t>
            </a:r>
            <a:r>
              <a:rPr lang="de-DE" dirty="0" smtClean="0"/>
              <a:t> </a:t>
            </a:r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F2 </a:t>
            </a:r>
            <a:r>
              <a:rPr lang="de-DE" sz="2400" b="0" i="0" u="none" strike="noStrike" kern="1200" dirty="0" err="1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Vorserie</a:t>
            </a:r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 0</a:t>
            </a:r>
            <a:r>
              <a:rPr lang="de-DE" dirty="0" smtClean="0"/>
              <a:t> </a:t>
            </a:r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F2 </a:t>
            </a:r>
            <a:r>
              <a:rPr lang="de-DE" sz="2400" b="0" i="0" u="none" strike="noStrike" kern="1200" dirty="0" err="1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Vorserie</a:t>
            </a:r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 1</a:t>
            </a:r>
            <a:r>
              <a:rPr lang="de-DE" dirty="0" smtClean="0"/>
              <a:t> </a:t>
            </a:r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F2 </a:t>
            </a:r>
            <a:r>
              <a:rPr lang="de-DE" sz="2400" b="0" i="0" u="none" strike="noStrike" kern="1200" dirty="0" err="1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Vorserie</a:t>
            </a:r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 2</a:t>
            </a:r>
            <a:r>
              <a:rPr lang="de-DE" dirty="0" smtClean="0"/>
              <a:t> </a:t>
            </a:r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F2 Anlaufproduktion</a:t>
            </a:r>
            <a:r>
              <a:rPr lang="de-DE" dirty="0" smtClean="0"/>
              <a:t> </a:t>
            </a:r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Wintererprobung mit BBG</a:t>
            </a:r>
            <a:r>
              <a:rPr lang="de-DE" dirty="0" smtClean="0"/>
              <a:t> </a:t>
            </a:r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Wintererprobung mit PVL</a:t>
            </a:r>
            <a:r>
              <a:rPr lang="de-DE" dirty="0" smtClean="0"/>
              <a:t> </a:t>
            </a:r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Projektphasen</a:t>
            </a:r>
            <a:r>
              <a:rPr lang="de-DE" dirty="0" smtClean="0"/>
              <a:t> </a:t>
            </a:r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Design</a:t>
            </a:r>
            <a:r>
              <a:rPr lang="de-DE" dirty="0" smtClean="0"/>
              <a:t> </a:t>
            </a:r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Bauphasen</a:t>
            </a:r>
            <a:r>
              <a:rPr lang="de-DE" dirty="0" smtClean="0"/>
              <a:t> </a:t>
            </a:r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Montage BBG</a:t>
            </a:r>
            <a:r>
              <a:rPr lang="de-DE" dirty="0" smtClean="0"/>
              <a:t> </a:t>
            </a:r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Montage VS</a:t>
            </a:r>
            <a:r>
              <a:rPr lang="de-DE" dirty="0" smtClean="0"/>
              <a:t> </a:t>
            </a:r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Montage KSP</a:t>
            </a:r>
            <a:r>
              <a:rPr lang="de-DE" dirty="0" smtClean="0"/>
              <a:t> </a:t>
            </a:r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Zusätzlicher Modulträger </a:t>
            </a:r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EA/EF</a:t>
            </a:r>
            <a:r>
              <a:rPr lang="de-DE" dirty="0" smtClean="0"/>
              <a:t> </a:t>
            </a:r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Rückläufer Modulträger</a:t>
            </a:r>
            <a:r>
              <a:rPr lang="de-DE" dirty="0" smtClean="0"/>
              <a:t> </a:t>
            </a:r>
          </a:p>
          <a:p>
            <a:r>
              <a:rPr lang="de-DE" sz="2400" b="0" i="0" u="none" strike="noStrike" kern="1200" dirty="0" err="1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Strukturerprober</a:t>
            </a:r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 auf Basis BBG F45</a:t>
            </a:r>
            <a:r>
              <a:rPr lang="de-DE" dirty="0" smtClean="0"/>
              <a:t> </a:t>
            </a:r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Montage Modulträger</a:t>
            </a:r>
            <a:r>
              <a:rPr lang="de-DE" dirty="0" smtClean="0"/>
              <a:t> </a:t>
            </a:r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Montage PVL FIZ</a:t>
            </a:r>
            <a:r>
              <a:rPr lang="de-DE" dirty="0" smtClean="0"/>
              <a:t> </a:t>
            </a:r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Montage VS CN</a:t>
            </a:r>
            <a:r>
              <a:rPr lang="de-DE" dirty="0" smtClean="0"/>
              <a:t> </a:t>
            </a:r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Prozessvorläufer VS0</a:t>
            </a:r>
            <a:r>
              <a:rPr lang="de-DE" dirty="0" smtClean="0"/>
              <a:t> </a:t>
            </a:r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KSP 1</a:t>
            </a:r>
            <a:r>
              <a:rPr lang="de-DE" dirty="0" smtClean="0"/>
              <a:t> </a:t>
            </a:r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KSP 2</a:t>
            </a:r>
            <a:r>
              <a:rPr lang="de-DE" dirty="0" smtClean="0"/>
              <a:t> </a:t>
            </a:r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KSP 3</a:t>
            </a:r>
            <a:r>
              <a:rPr lang="de-DE" dirty="0" smtClean="0"/>
              <a:t> </a:t>
            </a:r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Montage BBG Pulk 1</a:t>
            </a:r>
            <a:r>
              <a:rPr lang="de-DE" dirty="0" smtClean="0"/>
              <a:t> </a:t>
            </a:r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Montage BBG Pulk 2</a:t>
            </a:r>
            <a:r>
              <a:rPr lang="de-DE" dirty="0" smtClean="0"/>
              <a:t> </a:t>
            </a:r>
            <a:endParaRPr lang="de-DE" sz="2400" kern="1200" dirty="0" smtClean="0">
              <a:solidFill>
                <a:srgbClr val="572E2D"/>
              </a:solidFill>
              <a:latin typeface="Noteworthy Bold" charset="0"/>
              <a:ea typeface="Noteworthy Bold" charset="0"/>
              <a:cs typeface="Noteworthy Bold" charset="0"/>
              <a:sym typeface="Noteworthy Bold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20322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z="2400" dirty="0" smtClean="0"/>
              <a:t>Portfolio-Name</a:t>
            </a:r>
          </a:p>
          <a:p>
            <a:r>
              <a:rPr lang="de-DE" sz="2400" dirty="0" smtClean="0">
                <a:solidFill>
                  <a:schemeClr val="bg2"/>
                </a:solidFill>
              </a:rPr>
              <a:t>Projekt-Tafel</a:t>
            </a:r>
          </a:p>
          <a:p>
            <a:r>
              <a:rPr lang="de-DE" sz="2400" dirty="0" smtClean="0">
                <a:solidFill>
                  <a:schemeClr val="bg2"/>
                </a:solidFill>
              </a:rPr>
              <a:t>Projekt-Tafel(Milestones R)</a:t>
            </a: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2400" dirty="0" smtClean="0">
                <a:solidFill>
                  <a:schemeClr val="bg2"/>
                </a:solidFill>
              </a:rPr>
              <a:t>Projekt-Tafel(Milestones GR)</a:t>
            </a:r>
          </a:p>
          <a:p>
            <a:endParaRPr lang="de-DE" sz="2400" dirty="0" smtClean="0"/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Ergebnis</a:t>
            </a:r>
          </a:p>
          <a:p>
            <a:r>
              <a:rPr lang="de-DE" sz="2400" dirty="0" smtClean="0">
                <a:solidFill>
                  <a:schemeClr val="bg2"/>
                </a:solidFill>
                <a:sym typeface="Noteworthy Bold" charset="0"/>
              </a:rPr>
              <a:t>Ergebnis Verbesserungspotential</a:t>
            </a:r>
          </a:p>
          <a:p>
            <a:r>
              <a:rPr kumimoji="0" lang="de-DE" sz="2400" b="0" i="0" u="none" strike="noStrike" cap="none" normalizeH="0" baseline="0" dirty="0" smtClean="0">
                <a:ln>
                  <a:noFill/>
                </a:ln>
                <a:solidFill>
                  <a:schemeClr val="bg2"/>
                </a:solidFill>
                <a:effectLst/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Strategie/Risiko/Marge</a:t>
            </a: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cap="none" normalizeH="0" baseline="0" dirty="0" smtClean="0">
                <a:ln>
                  <a:noFill/>
                </a:ln>
                <a:solidFill>
                  <a:schemeClr val="bg2"/>
                </a:solidFill>
                <a:effectLst/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Strategie/Risiko/Volumen</a:t>
            </a: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2400" dirty="0" smtClean="0">
                <a:solidFill>
                  <a:schemeClr val="bg2"/>
                </a:solidFill>
              </a:rPr>
              <a:t>Komplexität</a:t>
            </a:r>
            <a:r>
              <a:rPr kumimoji="0" lang="de-DE" sz="2400" b="0" i="0" u="none" strike="noStrike" cap="none" normalizeH="0" baseline="0" dirty="0" smtClean="0">
                <a:ln>
                  <a:noFill/>
                </a:ln>
                <a:solidFill>
                  <a:schemeClr val="bg2"/>
                </a:solidFill>
                <a:effectLst/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/Risiko/Volumen</a:t>
            </a:r>
          </a:p>
          <a:p>
            <a:endParaRPr kumimoji="0" lang="de-DE" sz="2400" b="0" i="0" u="none" strike="noStrike" cap="none" normalizeH="0" baseline="0" dirty="0" smtClean="0">
              <a:ln>
                <a:noFill/>
              </a:ln>
              <a:solidFill>
                <a:schemeClr val="bg2"/>
              </a:solidFill>
              <a:effectLst/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  <a:p>
            <a:endParaRPr kumimoji="0" lang="de-DE" sz="2400" b="0" i="0" u="none" strike="noStrike" cap="none" normalizeH="0" baseline="0" dirty="0" smtClean="0">
              <a:ln>
                <a:noFill/>
              </a:ln>
              <a:solidFill>
                <a:schemeClr val="bg2"/>
              </a:solidFill>
              <a:effectLst/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Übersicht Auslastung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Details Unterauslastung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Details Überauslastung</a:t>
            </a:r>
            <a:endParaRPr kumimoji="0" lang="de-DE" sz="2400" b="0" i="0" u="none" strike="noStrike" cap="none" normalizeH="0" baseline="0" dirty="0" smtClean="0">
              <a:ln>
                <a:noFill/>
              </a:ln>
              <a:solidFill>
                <a:schemeClr val="bg2"/>
              </a:solidFill>
              <a:effectLst/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  <a:p>
            <a:endParaRPr kumimoji="0" lang="de-DE" sz="2400" b="0" i="0" u="none" strike="noStrike" cap="none" normalizeH="0" baseline="0" dirty="0" smtClean="0">
              <a:ln>
                <a:noFill/>
              </a:ln>
              <a:solidFill>
                <a:schemeClr val="bg2"/>
              </a:solidFill>
              <a:effectLst/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Bisherige Zielerreichung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Prognose Zielerreichung</a:t>
            </a:r>
            <a:endParaRPr kumimoji="0" lang="de-DE" sz="2400" b="0" i="0" u="none" strike="noStrike" cap="none" normalizeH="0" baseline="0" dirty="0" smtClean="0">
              <a:ln>
                <a:noFill/>
              </a:ln>
              <a:solidFill>
                <a:schemeClr val="bg2"/>
              </a:solidFill>
              <a:effectLst/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  <a:p>
            <a:endParaRPr kumimoji="0" lang="de-DE" sz="2400" b="0" i="0" u="none" strike="noStrike" cap="none" normalizeH="0" baseline="0" dirty="0" smtClean="0">
              <a:ln>
                <a:noFill/>
              </a:ln>
              <a:solidFill>
                <a:schemeClr val="bg2"/>
              </a:solidFill>
              <a:effectLst/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  <a:p>
            <a:r>
              <a:rPr kumimoji="0" lang="de-DE" sz="2400" b="0" i="0" u="none" strike="noStrike" cap="none" normalizeH="0" baseline="0" dirty="0" smtClean="0">
                <a:ln>
                  <a:noFill/>
                </a:ln>
                <a:solidFill>
                  <a:schemeClr val="bg2"/>
                </a:solidFill>
                <a:effectLst/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Fortschritt Personalkosten </a:t>
            </a: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cap="none" normalizeH="0" baseline="0" dirty="0" smtClean="0">
                <a:ln>
                  <a:noFill/>
                </a:ln>
                <a:solidFill>
                  <a:schemeClr val="bg2"/>
                </a:solidFill>
                <a:effectLst/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Fortschritt Sonstige Kosten</a:t>
            </a: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cap="none" normalizeH="0" baseline="0" dirty="0" smtClean="0">
                <a:ln>
                  <a:noFill/>
                </a:ln>
                <a:solidFill>
                  <a:schemeClr val="bg2"/>
                </a:solidFill>
                <a:effectLst/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Fortschritt Gesamtkosten</a:t>
            </a: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cap="none" normalizeH="0" baseline="0" dirty="0" smtClean="0">
                <a:ln>
                  <a:noFill/>
                </a:ln>
                <a:solidFill>
                  <a:schemeClr val="bg2"/>
                </a:solidFill>
                <a:effectLst/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Fortschritt Rolle(…)</a:t>
            </a: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cap="none" normalizeH="0" baseline="0" dirty="0" smtClean="0">
                <a:ln>
                  <a:noFill/>
                </a:ln>
                <a:solidFill>
                  <a:schemeClr val="bg2"/>
                </a:solidFill>
                <a:effectLst/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Fortschritt Kostenart(…) </a:t>
            </a:r>
          </a:p>
          <a:p>
            <a:endParaRPr lang="de-DE" sz="2400" kern="1200" dirty="0" smtClean="0">
              <a:solidFill>
                <a:srgbClr val="572E2D"/>
              </a:solidFill>
              <a:latin typeface="Noteworthy Bold" charset="0"/>
              <a:ea typeface="Noteworthy Bold" charset="0"/>
              <a:cs typeface="Noteworthy Bold" charset="0"/>
              <a:sym typeface="Noteworthy Bold" charset="0"/>
            </a:endParaRP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Stand:</a:t>
            </a:r>
          </a:p>
          <a:p>
            <a:r>
              <a:rPr lang="de-DE" sz="2400" dirty="0" smtClean="0">
                <a:solidFill>
                  <a:schemeClr val="bg2"/>
                </a:solidFill>
              </a:rPr>
              <a:t>Zeitraum</a:t>
            </a:r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:</a:t>
            </a: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2400" dirty="0" smtClean="0">
                <a:solidFill>
                  <a:schemeClr val="bg2"/>
                </a:solidFill>
                <a:sym typeface="Noteworthy Bold" charset="0"/>
              </a:rPr>
              <a:t>Phase (…)</a:t>
            </a: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2400" dirty="0" smtClean="0">
                <a:solidFill>
                  <a:schemeClr val="bg2"/>
                </a:solidFill>
                <a:sym typeface="Noteworthy Bold" charset="0"/>
              </a:rPr>
              <a:t>Rolle (…)</a:t>
            </a: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2400" dirty="0" smtClean="0">
                <a:solidFill>
                  <a:schemeClr val="bg2"/>
                </a:solidFill>
                <a:sym typeface="Noteworthy Bold" charset="0"/>
              </a:rPr>
              <a:t>Kostenart (…)</a:t>
            </a: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de-DE" sz="2400" dirty="0" smtClean="0">
              <a:solidFill>
                <a:schemeClr val="bg2"/>
              </a:solidFill>
            </a:endParaRP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de-DE" sz="2400" dirty="0" smtClean="0">
              <a:solidFill>
                <a:schemeClr val="bg2"/>
              </a:solidFill>
            </a:endParaRP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2400" dirty="0" smtClean="0">
                <a:solidFill>
                  <a:schemeClr val="bg2"/>
                </a:solidFill>
              </a:rPr>
              <a:t>Phasen: </a:t>
            </a:r>
          </a:p>
          <a:p>
            <a:r>
              <a:rPr lang="de-DE" sz="2400" b="0" i="0" u="none" strike="noStrike" kern="1200" baseline="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DTK	</a:t>
            </a:r>
          </a:p>
          <a:p>
            <a:r>
              <a:rPr lang="de-DE" sz="2400" b="0" i="0" u="none" strike="noStrike" kern="1200" baseline="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TK	</a:t>
            </a:r>
          </a:p>
          <a:p>
            <a:r>
              <a:rPr lang="de-DE" sz="2400" b="0" i="0" u="none" strike="noStrike" kern="1200" baseline="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SWZ	</a:t>
            </a:r>
          </a:p>
          <a:p>
            <a:r>
              <a:rPr lang="de-DE" sz="2400" b="0" i="0" u="none" strike="noStrike" kern="1200" baseline="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PPA	</a:t>
            </a:r>
          </a:p>
          <a:p>
            <a:r>
              <a:rPr lang="de-DE" sz="2400" b="0" i="0" u="none" strike="noStrike" kern="1200" baseline="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Simulation VBBG	</a:t>
            </a:r>
          </a:p>
          <a:p>
            <a:r>
              <a:rPr lang="de-DE" sz="2400" b="0" i="0" u="none" strike="noStrike" kern="1200" baseline="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VBBG	</a:t>
            </a:r>
          </a:p>
          <a:p>
            <a:r>
              <a:rPr lang="de-DE" sz="2400" b="0" i="0" u="none" strike="noStrike" kern="1200" baseline="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BBG Karosseriebau FIZ	</a:t>
            </a:r>
          </a:p>
          <a:p>
            <a:r>
              <a:rPr lang="de-DE" sz="2400" b="0" i="0" u="none" strike="noStrike" kern="1200" baseline="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BBG Montage FIZ	</a:t>
            </a:r>
          </a:p>
          <a:p>
            <a:r>
              <a:rPr lang="de-DE" sz="2400" b="0" i="0" u="none" strike="noStrike" kern="1200" baseline="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F2 </a:t>
            </a:r>
            <a:r>
              <a:rPr lang="de-DE" sz="2400" b="0" i="0" u="none" strike="noStrike" kern="1200" baseline="0" dirty="0" err="1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Vorserie</a:t>
            </a:r>
            <a:r>
              <a:rPr lang="de-DE" sz="2400" b="0" i="0" u="none" strike="noStrike" kern="1200" baseline="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 0	</a:t>
            </a:r>
          </a:p>
          <a:p>
            <a:r>
              <a:rPr lang="de-DE" sz="2400" b="0" i="0" u="none" strike="noStrike" kern="1200" baseline="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F2 </a:t>
            </a:r>
            <a:r>
              <a:rPr lang="de-DE" sz="2400" b="0" i="0" u="none" strike="noStrike" kern="1200" baseline="0" dirty="0" err="1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Vorserie</a:t>
            </a:r>
            <a:r>
              <a:rPr lang="de-DE" sz="2400" b="0" i="0" u="none" strike="noStrike" kern="1200" baseline="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 1	</a:t>
            </a:r>
          </a:p>
          <a:p>
            <a:r>
              <a:rPr lang="de-DE" sz="2400" b="0" i="0" u="none" strike="noStrike" kern="1200" baseline="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F2 </a:t>
            </a:r>
            <a:r>
              <a:rPr lang="de-DE" sz="2400" b="0" i="0" u="none" strike="noStrike" kern="1200" baseline="0" dirty="0" err="1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Vorserie</a:t>
            </a:r>
            <a:r>
              <a:rPr lang="de-DE" sz="2400" b="0" i="0" u="none" strike="noStrike" kern="1200" baseline="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 2	</a:t>
            </a:r>
          </a:p>
          <a:p>
            <a:r>
              <a:rPr lang="de-DE" sz="2400" b="0" i="0" u="none" strike="noStrike" kern="1200" baseline="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F2 Anlaufproduktion	</a:t>
            </a:r>
          </a:p>
          <a:p>
            <a:r>
              <a:rPr lang="de-DE" sz="2400" b="0" i="0" u="none" strike="noStrike" kern="1200" baseline="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Wintererprobung mit BBG	</a:t>
            </a:r>
          </a:p>
          <a:p>
            <a:r>
              <a:rPr lang="de-DE" sz="2400" b="0" i="0" u="none" strike="noStrike" kern="1200" baseline="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Wintererprobung mit PVL	</a:t>
            </a: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de-DE" sz="2400" dirty="0" smtClean="0">
              <a:solidFill>
                <a:schemeClr val="bg2"/>
              </a:solidFill>
            </a:endParaRP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de-DE" sz="2400" dirty="0" smtClean="0">
              <a:solidFill>
                <a:schemeClr val="bg2"/>
              </a:solidFill>
            </a:endParaRP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de-DE" sz="2400" dirty="0" smtClean="0">
              <a:solidFill>
                <a:schemeClr val="bg2"/>
              </a:solidFill>
            </a:endParaRP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de-DE" sz="2400" dirty="0" smtClean="0">
              <a:solidFill>
                <a:schemeClr val="bg2"/>
              </a:solidFill>
            </a:endParaRP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de-DE" sz="2400" dirty="0" smtClean="0">
              <a:solidFill>
                <a:schemeClr val="bg2"/>
              </a:solidFill>
            </a:endParaRP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de-DE" sz="2400" dirty="0" smtClean="0">
              <a:solidFill>
                <a:schemeClr val="bg2"/>
              </a:solidFill>
            </a:endParaRP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de-DE" sz="2400" dirty="0" smtClean="0">
              <a:solidFill>
                <a:schemeClr val="bg2"/>
              </a:solidFill>
            </a:endParaRPr>
          </a:p>
          <a:p>
            <a:endParaRPr lang="de-DE" sz="2400" kern="1200" dirty="0" smtClean="0">
              <a:solidFill>
                <a:srgbClr val="572E2D"/>
              </a:solidFill>
              <a:latin typeface="Noteworthy Bold" charset="0"/>
              <a:ea typeface="Noteworthy Bold" charset="0"/>
              <a:cs typeface="Noteworthy Bold" charset="0"/>
              <a:sym typeface="Noteworthy Bold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20322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z="2400" dirty="0" smtClean="0"/>
              <a:t>Portfolio-Name</a:t>
            </a:r>
          </a:p>
          <a:p>
            <a:r>
              <a:rPr lang="de-DE" sz="2400" dirty="0" smtClean="0">
                <a:solidFill>
                  <a:schemeClr val="bg2"/>
                </a:solidFill>
              </a:rPr>
              <a:t>Projekt-Tafel</a:t>
            </a:r>
          </a:p>
          <a:p>
            <a:r>
              <a:rPr lang="de-DE" sz="2400" dirty="0" smtClean="0">
                <a:solidFill>
                  <a:schemeClr val="bg2"/>
                </a:solidFill>
              </a:rPr>
              <a:t>Projekt-Tafel(Milestones R)</a:t>
            </a: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2400" dirty="0" smtClean="0">
                <a:solidFill>
                  <a:schemeClr val="bg2"/>
                </a:solidFill>
              </a:rPr>
              <a:t>Projekt-Tafel(Milestones GR)</a:t>
            </a:r>
          </a:p>
          <a:p>
            <a:endParaRPr lang="de-DE" sz="2400" dirty="0" smtClean="0"/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Ergebnis</a:t>
            </a:r>
          </a:p>
          <a:p>
            <a:r>
              <a:rPr lang="de-DE" sz="2400" dirty="0" smtClean="0">
                <a:solidFill>
                  <a:schemeClr val="bg2"/>
                </a:solidFill>
                <a:sym typeface="Noteworthy Bold" charset="0"/>
              </a:rPr>
              <a:t>Ergebnis Verbesserungspotential</a:t>
            </a:r>
          </a:p>
          <a:p>
            <a:r>
              <a:rPr kumimoji="0" lang="de-DE" sz="2400" b="0" i="0" u="none" strike="noStrike" cap="none" normalizeH="0" baseline="0" dirty="0" smtClean="0">
                <a:ln>
                  <a:noFill/>
                </a:ln>
                <a:solidFill>
                  <a:schemeClr val="bg2"/>
                </a:solidFill>
                <a:effectLst/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Strategie/Risiko/Marge</a:t>
            </a: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cap="none" normalizeH="0" baseline="0" dirty="0" smtClean="0">
                <a:ln>
                  <a:noFill/>
                </a:ln>
                <a:solidFill>
                  <a:schemeClr val="bg2"/>
                </a:solidFill>
                <a:effectLst/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Strategie/Risiko/Volumen</a:t>
            </a: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2400" dirty="0" smtClean="0">
                <a:solidFill>
                  <a:schemeClr val="bg2"/>
                </a:solidFill>
              </a:rPr>
              <a:t>Komplexität</a:t>
            </a:r>
            <a:r>
              <a:rPr kumimoji="0" lang="de-DE" sz="2400" b="0" i="0" u="none" strike="noStrike" cap="none" normalizeH="0" baseline="0" dirty="0" smtClean="0">
                <a:ln>
                  <a:noFill/>
                </a:ln>
                <a:solidFill>
                  <a:schemeClr val="bg2"/>
                </a:solidFill>
                <a:effectLst/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/Risiko/Volumen</a:t>
            </a:r>
          </a:p>
          <a:p>
            <a:endParaRPr kumimoji="0" lang="de-DE" sz="2400" b="0" i="0" u="none" strike="noStrike" cap="none" normalizeH="0" baseline="0" dirty="0" smtClean="0">
              <a:ln>
                <a:noFill/>
              </a:ln>
              <a:solidFill>
                <a:schemeClr val="bg2"/>
              </a:solidFill>
              <a:effectLst/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  <a:p>
            <a:endParaRPr kumimoji="0" lang="de-DE" sz="2400" b="0" i="0" u="none" strike="noStrike" cap="none" normalizeH="0" baseline="0" dirty="0" smtClean="0">
              <a:ln>
                <a:noFill/>
              </a:ln>
              <a:solidFill>
                <a:schemeClr val="bg2"/>
              </a:solidFill>
              <a:effectLst/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Übersicht Auslastung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Details Unterauslastung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Details Überauslastung</a:t>
            </a:r>
            <a:endParaRPr kumimoji="0" lang="de-DE" sz="2400" b="0" i="0" u="none" strike="noStrike" cap="none" normalizeH="0" baseline="0" dirty="0" smtClean="0">
              <a:ln>
                <a:noFill/>
              </a:ln>
              <a:solidFill>
                <a:schemeClr val="bg2"/>
              </a:solidFill>
              <a:effectLst/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  <a:p>
            <a:endParaRPr kumimoji="0" lang="de-DE" sz="2400" b="0" i="0" u="none" strike="noStrike" cap="none" normalizeH="0" baseline="0" dirty="0" smtClean="0">
              <a:ln>
                <a:noFill/>
              </a:ln>
              <a:solidFill>
                <a:schemeClr val="bg2"/>
              </a:solidFill>
              <a:effectLst/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Bisherige Zielerreichung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Prognose Zielerreichung</a:t>
            </a:r>
            <a:endParaRPr kumimoji="0" lang="de-DE" sz="2400" b="0" i="0" u="none" strike="noStrike" cap="none" normalizeH="0" baseline="0" dirty="0" smtClean="0">
              <a:ln>
                <a:noFill/>
              </a:ln>
              <a:solidFill>
                <a:schemeClr val="bg2"/>
              </a:solidFill>
              <a:effectLst/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  <a:p>
            <a:endParaRPr kumimoji="0" lang="de-DE" sz="2400" b="0" i="0" u="none" strike="noStrike" cap="none" normalizeH="0" baseline="0" dirty="0" smtClean="0">
              <a:ln>
                <a:noFill/>
              </a:ln>
              <a:solidFill>
                <a:schemeClr val="bg2"/>
              </a:solidFill>
              <a:effectLst/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  <a:p>
            <a:r>
              <a:rPr kumimoji="0" lang="de-DE" sz="2400" b="0" i="0" u="none" strike="noStrike" cap="none" normalizeH="0" baseline="0" dirty="0" smtClean="0">
                <a:ln>
                  <a:noFill/>
                </a:ln>
                <a:solidFill>
                  <a:schemeClr val="bg2"/>
                </a:solidFill>
                <a:effectLst/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Fortschritt Personalkosten </a:t>
            </a: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cap="none" normalizeH="0" baseline="0" dirty="0" smtClean="0">
                <a:ln>
                  <a:noFill/>
                </a:ln>
                <a:solidFill>
                  <a:schemeClr val="bg2"/>
                </a:solidFill>
                <a:effectLst/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Fortschritt Sonstige Kosten</a:t>
            </a: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cap="none" normalizeH="0" baseline="0" dirty="0" smtClean="0">
                <a:ln>
                  <a:noFill/>
                </a:ln>
                <a:solidFill>
                  <a:schemeClr val="bg2"/>
                </a:solidFill>
                <a:effectLst/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Fortschritt Gesamtkosten</a:t>
            </a: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cap="none" normalizeH="0" baseline="0" dirty="0" smtClean="0">
                <a:ln>
                  <a:noFill/>
                </a:ln>
                <a:solidFill>
                  <a:schemeClr val="bg2"/>
                </a:solidFill>
                <a:effectLst/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Fortschritt Rolle(…)</a:t>
            </a: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400" b="0" i="0" u="none" strike="noStrike" cap="none" normalizeH="0" baseline="0" dirty="0" smtClean="0">
                <a:ln>
                  <a:noFill/>
                </a:ln>
                <a:solidFill>
                  <a:schemeClr val="bg2"/>
                </a:solidFill>
                <a:effectLst/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Fortschritt Kostenart(…) </a:t>
            </a:r>
          </a:p>
          <a:p>
            <a:endParaRPr lang="de-DE" sz="2400" kern="1200" dirty="0" smtClean="0">
              <a:solidFill>
                <a:srgbClr val="572E2D"/>
              </a:solidFill>
              <a:latin typeface="Noteworthy Bold" charset="0"/>
              <a:ea typeface="Noteworthy Bold" charset="0"/>
              <a:cs typeface="Noteworthy Bold" charset="0"/>
              <a:sym typeface="Noteworthy Bold" charset="0"/>
            </a:endParaRP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Stand:</a:t>
            </a:r>
          </a:p>
          <a:p>
            <a:r>
              <a:rPr lang="de-DE" sz="2400" dirty="0" smtClean="0">
                <a:solidFill>
                  <a:schemeClr val="bg2"/>
                </a:solidFill>
              </a:rPr>
              <a:t>Zeitraum</a:t>
            </a:r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:</a:t>
            </a: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2400" dirty="0" smtClean="0">
                <a:solidFill>
                  <a:schemeClr val="bg2"/>
                </a:solidFill>
                <a:sym typeface="Noteworthy Bold" charset="0"/>
              </a:rPr>
              <a:t>Phase (…)</a:t>
            </a: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2400" dirty="0" smtClean="0">
                <a:solidFill>
                  <a:schemeClr val="bg2"/>
                </a:solidFill>
                <a:sym typeface="Noteworthy Bold" charset="0"/>
              </a:rPr>
              <a:t>Rolle (…)</a:t>
            </a: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2400" dirty="0" smtClean="0">
                <a:solidFill>
                  <a:schemeClr val="bg2"/>
                </a:solidFill>
                <a:sym typeface="Noteworthy Bold" charset="0"/>
              </a:rPr>
              <a:t>Kostenart (…)</a:t>
            </a: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de-DE" sz="2400" dirty="0" smtClean="0">
              <a:solidFill>
                <a:schemeClr val="bg2"/>
              </a:solidFill>
            </a:endParaRP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de-DE" sz="2400" dirty="0" smtClean="0">
              <a:solidFill>
                <a:schemeClr val="bg2"/>
              </a:solidFill>
            </a:endParaRP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2400" dirty="0" smtClean="0">
                <a:solidFill>
                  <a:schemeClr val="bg2"/>
                </a:solidFill>
              </a:rPr>
              <a:t>Phasen: </a:t>
            </a:r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DTK</a:t>
            </a:r>
            <a:r>
              <a:rPr lang="de-DE" dirty="0" smtClean="0"/>
              <a:t> </a:t>
            </a:r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TK</a:t>
            </a:r>
            <a:r>
              <a:rPr lang="de-DE" dirty="0" smtClean="0"/>
              <a:t> </a:t>
            </a:r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SWZ</a:t>
            </a:r>
            <a:r>
              <a:rPr lang="de-DE" dirty="0" smtClean="0"/>
              <a:t> </a:t>
            </a:r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PPA</a:t>
            </a:r>
            <a:r>
              <a:rPr lang="de-DE" dirty="0" smtClean="0"/>
              <a:t> </a:t>
            </a:r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Simulation VBBG</a:t>
            </a:r>
            <a:r>
              <a:rPr lang="de-DE" dirty="0" smtClean="0"/>
              <a:t> </a:t>
            </a:r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VBBG</a:t>
            </a:r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BBG Karosseriebau FIZ</a:t>
            </a:r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BBG Montage FIZ</a:t>
            </a:r>
            <a:r>
              <a:rPr lang="de-DE" dirty="0" smtClean="0"/>
              <a:t> </a:t>
            </a:r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F2 </a:t>
            </a:r>
            <a:r>
              <a:rPr lang="de-DE" sz="2400" b="0" i="0" u="none" strike="noStrike" kern="1200" dirty="0" err="1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Vorserie</a:t>
            </a:r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 0</a:t>
            </a:r>
            <a:r>
              <a:rPr lang="de-DE" dirty="0" smtClean="0"/>
              <a:t> </a:t>
            </a:r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F2 </a:t>
            </a:r>
            <a:r>
              <a:rPr lang="de-DE" sz="2400" b="0" i="0" u="none" strike="noStrike" kern="1200" dirty="0" err="1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Vorserie</a:t>
            </a:r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 1</a:t>
            </a:r>
            <a:r>
              <a:rPr lang="de-DE" dirty="0" smtClean="0"/>
              <a:t> </a:t>
            </a:r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F2 </a:t>
            </a:r>
            <a:r>
              <a:rPr lang="de-DE" sz="2400" b="0" i="0" u="none" strike="noStrike" kern="1200" dirty="0" err="1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Vorserie</a:t>
            </a:r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 2</a:t>
            </a:r>
            <a:r>
              <a:rPr lang="de-DE" dirty="0" smtClean="0"/>
              <a:t> </a:t>
            </a:r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F2 Anlaufproduktion</a:t>
            </a:r>
            <a:r>
              <a:rPr lang="de-DE" dirty="0" smtClean="0"/>
              <a:t> </a:t>
            </a:r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Wintererprobung mit BBG</a:t>
            </a:r>
            <a:r>
              <a:rPr lang="de-DE" dirty="0" smtClean="0"/>
              <a:t> </a:t>
            </a:r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Wintererprobung mit PVL</a:t>
            </a:r>
            <a:r>
              <a:rPr lang="de-DE" dirty="0" smtClean="0"/>
              <a:t> </a:t>
            </a:r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Projektphasen</a:t>
            </a:r>
            <a:r>
              <a:rPr lang="de-DE" dirty="0" smtClean="0"/>
              <a:t> </a:t>
            </a:r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Design</a:t>
            </a:r>
            <a:r>
              <a:rPr lang="de-DE" dirty="0" smtClean="0"/>
              <a:t> </a:t>
            </a:r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Bauphasen</a:t>
            </a:r>
            <a:r>
              <a:rPr lang="de-DE" dirty="0" smtClean="0"/>
              <a:t> </a:t>
            </a:r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Montage BBG</a:t>
            </a:r>
            <a:r>
              <a:rPr lang="de-DE" dirty="0" smtClean="0"/>
              <a:t> </a:t>
            </a:r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Montage VS</a:t>
            </a:r>
            <a:r>
              <a:rPr lang="de-DE" dirty="0" smtClean="0"/>
              <a:t> </a:t>
            </a:r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Montage KSP</a:t>
            </a:r>
            <a:r>
              <a:rPr lang="de-DE" dirty="0" smtClean="0"/>
              <a:t> </a:t>
            </a:r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Zusätzlicher Modulträger </a:t>
            </a:r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EA/EF</a:t>
            </a:r>
            <a:r>
              <a:rPr lang="de-DE" dirty="0" smtClean="0"/>
              <a:t> </a:t>
            </a:r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Rückläufer Modulträger</a:t>
            </a:r>
            <a:r>
              <a:rPr lang="de-DE" dirty="0" smtClean="0"/>
              <a:t> </a:t>
            </a:r>
          </a:p>
          <a:p>
            <a:r>
              <a:rPr lang="de-DE" sz="2400" b="0" i="0" u="none" strike="noStrike" kern="1200" dirty="0" err="1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Strukturerprober</a:t>
            </a:r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 auf Basis BBG F45</a:t>
            </a:r>
            <a:r>
              <a:rPr lang="de-DE" dirty="0" smtClean="0"/>
              <a:t> </a:t>
            </a:r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Montage Modulträger</a:t>
            </a:r>
            <a:r>
              <a:rPr lang="de-DE" dirty="0" smtClean="0"/>
              <a:t> </a:t>
            </a:r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Montage PVL FIZ</a:t>
            </a:r>
            <a:r>
              <a:rPr lang="de-DE" dirty="0" smtClean="0"/>
              <a:t> </a:t>
            </a:r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Montage VS CN</a:t>
            </a:r>
            <a:r>
              <a:rPr lang="de-DE" dirty="0" smtClean="0"/>
              <a:t> </a:t>
            </a:r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Prozessvorläufer VS0</a:t>
            </a:r>
            <a:r>
              <a:rPr lang="de-DE" dirty="0" smtClean="0"/>
              <a:t> </a:t>
            </a:r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KSP 1</a:t>
            </a:r>
            <a:r>
              <a:rPr lang="de-DE" dirty="0" smtClean="0"/>
              <a:t> </a:t>
            </a:r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KSP 2</a:t>
            </a:r>
            <a:r>
              <a:rPr lang="de-DE" dirty="0" smtClean="0"/>
              <a:t> </a:t>
            </a:r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KSP 3</a:t>
            </a:r>
            <a:r>
              <a:rPr lang="de-DE" dirty="0" smtClean="0"/>
              <a:t> </a:t>
            </a:r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Montage BBG Pulk 1</a:t>
            </a:r>
            <a:r>
              <a:rPr lang="de-DE" dirty="0" smtClean="0"/>
              <a:t> </a:t>
            </a:r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Montage BBG Pulk 2</a:t>
            </a:r>
            <a:r>
              <a:rPr lang="de-DE" dirty="0" smtClean="0"/>
              <a:t> </a:t>
            </a:r>
            <a:endParaRPr lang="de-DE" sz="2400" kern="1200" dirty="0" smtClean="0">
              <a:solidFill>
                <a:srgbClr val="572E2D"/>
              </a:solidFill>
              <a:latin typeface="Noteworthy Bold" charset="0"/>
              <a:ea typeface="Noteworthy Bold" charset="0"/>
              <a:cs typeface="Noteworthy Bold" charset="0"/>
              <a:sym typeface="Noteworthy Bold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20322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974725" y="3030538"/>
            <a:ext cx="11055350" cy="2090737"/>
          </a:xfrm>
        </p:spPr>
        <p:txBody>
          <a:bodyPr/>
          <a:lstStyle/>
          <a:p>
            <a:r>
              <a:rPr lang="de-DE" dirty="0" smtClean="0"/>
              <a:t>Titelmasterformat durch Klicken bearbeiten</a:t>
            </a:r>
            <a:endParaRPr lang="de-DE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951038" y="5527675"/>
            <a:ext cx="9102725" cy="2492375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de-DE" smtClean="0"/>
              <a:t>Formatvorlage des Untertitelmasters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868434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355600" y="484312"/>
            <a:ext cx="12293600" cy="1282700"/>
          </a:xfrm>
        </p:spPr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677279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1270000" y="5130800"/>
            <a:ext cx="10464800" cy="12700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199876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jpe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blipFill dpi="0" rotWithShape="0">
          <a:blip r:embed="rId5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5" name="Rectangle 1"/>
          <p:cNvSpPr>
            <a:spLocks noGrp="1"/>
          </p:cNvSpPr>
          <p:nvPr>
            <p:ph type="title"/>
          </p:nvPr>
        </p:nvSpPr>
        <p:spPr bwMode="auto">
          <a:xfrm>
            <a:off x="355600" y="7416800"/>
            <a:ext cx="12293600" cy="12827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de-DE" dirty="0" smtClean="0">
                <a:sym typeface="Gill Sans Light" charset="0"/>
              </a:rPr>
              <a:t>Click </a:t>
            </a:r>
            <a:r>
              <a:rPr lang="de-DE" dirty="0" err="1" smtClean="0">
                <a:sym typeface="Gill Sans Light" charset="0"/>
              </a:rPr>
              <a:t>to</a:t>
            </a:r>
            <a:r>
              <a:rPr lang="de-DE" dirty="0" smtClean="0">
                <a:sym typeface="Gill Sans Light" charset="0"/>
              </a:rPr>
              <a:t> </a:t>
            </a:r>
            <a:r>
              <a:rPr lang="de-DE" dirty="0" err="1" smtClean="0">
                <a:sym typeface="Gill Sans Light" charset="0"/>
              </a:rPr>
              <a:t>edit</a:t>
            </a:r>
            <a:r>
              <a:rPr lang="de-DE" dirty="0" smtClean="0">
                <a:sym typeface="Gill Sans Light" charset="0"/>
              </a:rPr>
              <a:t> Master title style</a:t>
            </a:r>
          </a:p>
        </p:txBody>
      </p:sp>
      <p:pic>
        <p:nvPicPr>
          <p:cNvPr id="3" name="Grafik 2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03384" y="9229297"/>
            <a:ext cx="963712" cy="400031"/>
          </a:xfrm>
          <a:prstGeom prst="rect">
            <a:avLst/>
          </a:prstGeom>
        </p:spPr>
      </p:pic>
      <p:sp>
        <p:nvSpPr>
          <p:cNvPr id="4" name="Textfeld 3"/>
          <p:cNvSpPr txBox="1"/>
          <p:nvPr userDrawn="1"/>
        </p:nvSpPr>
        <p:spPr>
          <a:xfrm>
            <a:off x="10871464" y="9327727"/>
            <a:ext cx="107593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dirty="0" smtClean="0"/>
              <a:t>Generated by </a:t>
            </a:r>
            <a:endParaRPr lang="de-DE" sz="1050" dirty="0"/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3650" r:id="rId1"/>
    <p:sldLayoutId id="2147483654" r:id="rId2"/>
    <p:sldLayoutId id="2147483655" r:id="rId3"/>
  </p:sldLayoutIdLst>
  <p:hf hdr="0" dt="0"/>
  <p:txStyles>
    <p:titleStyle>
      <a:lvl1pPr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+mj-lt"/>
          <a:ea typeface="+mj-ea"/>
          <a:cs typeface="+mj-cs"/>
          <a:sym typeface="Gill Sans Light" charset="0"/>
        </a:defRPr>
      </a:lvl1pPr>
      <a:lvl2pPr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2pPr>
      <a:lvl3pPr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3pPr>
      <a:lvl4pPr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4pPr>
      <a:lvl5pPr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5pPr>
      <a:lvl6pPr marL="457200"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6pPr>
      <a:lvl7pPr marL="914400"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7pPr>
      <a:lvl8pPr marL="1371600"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8pPr>
      <a:lvl9pPr marL="1828800"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9pPr>
    </p:titleStyle>
    <p:bodyStyle>
      <a:lvl1pPr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1pPr>
      <a:lvl2pPr marL="3429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2pPr>
      <a:lvl3pPr marL="6858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3pPr>
      <a:lvl4pPr marL="10287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4pPr>
      <a:lvl5pPr marL="13716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5pPr>
      <a:lvl6pPr marL="18288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6pPr>
      <a:lvl7pPr marL="22860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7pPr>
      <a:lvl8pPr marL="27432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8pPr>
      <a:lvl9pPr marL="32004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7" name="AutoShape 1"/>
          <p:cNvSpPr>
            <a:spLocks/>
          </p:cNvSpPr>
          <p:nvPr/>
        </p:nvSpPr>
        <p:spPr bwMode="auto">
          <a:xfrm>
            <a:off x="2998788" y="6088063"/>
            <a:ext cx="6997700" cy="838200"/>
          </a:xfrm>
          <a:custGeom>
            <a:avLst/>
            <a:gdLst>
              <a:gd name="T0" fmla="*/ 10800 w 21600"/>
              <a:gd name="T1" fmla="*/ 10800 h 21600"/>
              <a:gd name="T2" fmla="*/ 10800 w 21600"/>
              <a:gd name="T3" fmla="*/ 10800 h 21600"/>
              <a:gd name="T4" fmla="*/ 10800 w 21600"/>
              <a:gd name="T5" fmla="*/ 10800 h 21600"/>
              <a:gd name="T6" fmla="*/ 10800 w 21600"/>
              <a:gd name="T7" fmla="*/ 10800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21600" h="21600">
                <a:moveTo>
                  <a:pt x="0" y="0"/>
                </a:moveTo>
                <a:lnTo>
                  <a:pt x="21599" y="0"/>
                </a:lnTo>
                <a:lnTo>
                  <a:pt x="21599" y="21600"/>
                </a:lnTo>
                <a:lnTo>
                  <a:pt x="0" y="21600"/>
                </a:lnTo>
                <a:close/>
              </a:path>
            </a:pathLst>
          </a:cu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/>
          <a:p>
            <a:r>
              <a:rPr lang="de-DE" sz="2400" dirty="0" smtClean="0">
                <a:solidFill>
                  <a:srgbClr val="4C4C4C"/>
                </a:solidFill>
                <a:latin typeface="Helvetica" charset="0"/>
                <a:ea typeface="Helvetica" charset="0"/>
                <a:cs typeface="Helvetica" charset="0"/>
                <a:sym typeface="Helvetica" charset="0"/>
              </a:rPr>
              <a:t>Multiprojekt Übersichten</a:t>
            </a:r>
          </a:p>
          <a:p>
            <a:r>
              <a:rPr lang="de-DE" sz="1800" dirty="0" smtClean="0">
                <a:solidFill>
                  <a:srgbClr val="4C4C4C"/>
                </a:solidFill>
                <a:latin typeface="Helvetica" charset="0"/>
                <a:ea typeface="Helvetica" charset="0"/>
                <a:cs typeface="Helvetica" charset="0"/>
                <a:sym typeface="Helvetica" charset="0"/>
              </a:rPr>
              <a:t>Erzeugt durch den VISBO Report Generator © 2013 </a:t>
            </a:r>
          </a:p>
        </p:txBody>
      </p:sp>
      <p:pic>
        <p:nvPicPr>
          <p:cNvPr id="4098" name="Picture 2" descr="visbo_logo_transparent_flat.tiff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66900" y="2379663"/>
            <a:ext cx="8509000" cy="35321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4071060550"/>
      </p:ext>
    </p:extLst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245915"/>
          </a:xfrm>
        </p:spPr>
        <p:txBody>
          <a:bodyPr/>
          <a:lstStyle/>
          <a:p>
            <a:r>
              <a:rPr lang="de-DE" sz="4400" dirty="0" smtClean="0"/>
              <a:t>Übersicht Leistbarkeit</a:t>
            </a:r>
            <a:endParaRPr lang="de-DE" dirty="0"/>
          </a:p>
        </p:txBody>
      </p:sp>
      <p:sp>
        <p:nvSpPr>
          <p:cNvPr id="10" name="Rechteck 9"/>
          <p:cNvSpPr/>
          <p:nvPr/>
        </p:nvSpPr>
        <p:spPr bwMode="auto">
          <a:xfrm>
            <a:off x="504000" y="9197280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 smtClean="0">
                <a:solidFill>
                  <a:schemeClr val="bg2"/>
                </a:solidFill>
              </a:rPr>
              <a:t>Stand: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15" name="Rechteck 14"/>
          <p:cNvSpPr/>
          <p:nvPr/>
        </p:nvSpPr>
        <p:spPr bwMode="auto">
          <a:xfrm>
            <a:off x="4824480" y="9197280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 smtClean="0">
                <a:solidFill>
                  <a:schemeClr val="bg2"/>
                </a:solidFill>
              </a:rPr>
              <a:t>Zeitraum: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9" name="Rechteck 8"/>
          <p:cNvSpPr/>
          <p:nvPr/>
        </p:nvSpPr>
        <p:spPr bwMode="auto">
          <a:xfrm>
            <a:off x="504000" y="1636440"/>
            <a:ext cx="6502456" cy="6624256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r>
              <a:rPr lang="de-DE" sz="2400" dirty="0" smtClean="0">
                <a:solidFill>
                  <a:schemeClr val="bg2"/>
                </a:solidFill>
              </a:rPr>
              <a:t>Projekt-Tafel Phasen</a:t>
            </a:r>
          </a:p>
          <a:p>
            <a:r>
              <a:rPr lang="de-DE" sz="2400" dirty="0" smtClean="0">
                <a:solidFill>
                  <a:schemeClr val="bg2"/>
                </a:solidFill>
              </a:rPr>
              <a:t>(</a:t>
            </a:r>
            <a:r>
              <a:rPr lang="de-DE" sz="2400" dirty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Montage BBG</a:t>
            </a:r>
            <a:r>
              <a:rPr lang="de-DE" sz="2400" dirty="0" smtClean="0">
                <a:solidFill>
                  <a:schemeClr val="bg2"/>
                </a:solidFill>
              </a:rPr>
              <a:t>#</a:t>
            </a:r>
            <a:endParaRPr lang="de-DE" sz="2400" dirty="0" smtClean="0">
              <a:solidFill>
                <a:schemeClr val="bg2"/>
              </a:solidFill>
            </a:endParaRPr>
          </a:p>
          <a:p>
            <a:r>
              <a:rPr lang="de-DE" sz="2400" dirty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Montage VS</a:t>
            </a:r>
            <a:r>
              <a:rPr lang="de-DE" sz="2400" dirty="0" smtClean="0">
                <a:solidFill>
                  <a:schemeClr val="bg2"/>
                </a:solidFill>
              </a:rPr>
              <a:t>)</a:t>
            </a:r>
            <a:endParaRPr lang="de-DE" sz="2400" dirty="0" smtClean="0">
              <a:solidFill>
                <a:schemeClr val="bg2"/>
              </a:solidFill>
            </a:endParaRPr>
          </a:p>
          <a:p>
            <a:endParaRPr lang="de-DE" sz="2400" dirty="0" smtClean="0">
              <a:solidFill>
                <a:schemeClr val="bg2"/>
              </a:solidFill>
            </a:endParaRPr>
          </a:p>
          <a:p>
            <a:endParaRPr lang="de-DE" sz="2400" dirty="0">
              <a:solidFill>
                <a:srgbClr val="572E2D"/>
              </a:solidFill>
              <a:latin typeface="Noteworthy Bold" charset="0"/>
              <a:ea typeface="Noteworthy Bold" charset="0"/>
              <a:cs typeface="Noteworthy Bold" charset="0"/>
              <a:sym typeface="Noteworthy Bold" charset="0"/>
            </a:endParaRPr>
          </a:p>
        </p:txBody>
      </p:sp>
      <p:sp>
        <p:nvSpPr>
          <p:cNvPr id="11" name="Rechteck 10"/>
          <p:cNvSpPr/>
          <p:nvPr/>
        </p:nvSpPr>
        <p:spPr bwMode="auto">
          <a:xfrm>
            <a:off x="7222480" y="1636440"/>
            <a:ext cx="5040000" cy="3240000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/>
            <a:r>
              <a:rPr lang="de-DE" sz="1400" dirty="0">
                <a:solidFill>
                  <a:schemeClr val="bg2"/>
                </a:solidFill>
                <a:sym typeface="Noteworthy Bold" charset="0"/>
              </a:rPr>
              <a:t>Phase </a:t>
            </a:r>
            <a:r>
              <a:rPr lang="de-DE" sz="1400" dirty="0" smtClean="0">
                <a:solidFill>
                  <a:schemeClr val="bg2"/>
                </a:solidFill>
                <a:sym typeface="Noteworthy Bold" charset="0"/>
              </a:rPr>
              <a:t>(</a:t>
            </a:r>
            <a:r>
              <a:rPr lang="de-DE" sz="1400" dirty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Montage BBG</a:t>
            </a:r>
            <a:r>
              <a:rPr lang="de-DE" sz="1400" dirty="0" smtClean="0">
                <a:solidFill>
                  <a:schemeClr val="bg2"/>
                </a:solidFill>
                <a:sym typeface="Noteworthy Bold" charset="0"/>
              </a:rPr>
              <a:t>)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13" name="Rechteck 12"/>
          <p:cNvSpPr/>
          <p:nvPr/>
        </p:nvSpPr>
        <p:spPr bwMode="auto">
          <a:xfrm>
            <a:off x="7210896" y="5021176"/>
            <a:ext cx="5040000" cy="3240000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/>
            <a:r>
              <a:rPr lang="de-DE" sz="1400" dirty="0">
                <a:solidFill>
                  <a:schemeClr val="bg2"/>
                </a:solidFill>
                <a:sym typeface="Noteworthy Bold" charset="0"/>
              </a:rPr>
              <a:t>Phase </a:t>
            </a:r>
            <a:r>
              <a:rPr lang="de-DE" sz="1400" dirty="0" smtClean="0">
                <a:solidFill>
                  <a:schemeClr val="bg2"/>
                </a:solidFill>
                <a:sym typeface="Noteworthy Bold" charset="0"/>
              </a:rPr>
              <a:t>(</a:t>
            </a:r>
            <a:r>
              <a:rPr lang="de-DE" sz="1400" dirty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Montage VS</a:t>
            </a:r>
            <a:r>
              <a:rPr lang="de-DE" sz="1400" dirty="0" smtClean="0">
                <a:solidFill>
                  <a:schemeClr val="bg2"/>
                </a:solidFill>
                <a:sym typeface="Noteworthy Bold" charset="0"/>
              </a:rPr>
              <a:t>)</a:t>
            </a:r>
            <a:endParaRPr lang="de-DE" sz="1400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743226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525736" y="390525"/>
            <a:ext cx="11828189" cy="1245915"/>
          </a:xfrm>
        </p:spPr>
        <p:txBody>
          <a:bodyPr/>
          <a:lstStyle/>
          <a:p>
            <a:r>
              <a:rPr lang="de-DE" sz="3600" dirty="0" smtClean="0"/>
              <a:t>Einordnung Zeit / Risiko / Volumen</a:t>
            </a:r>
            <a:endParaRPr lang="de-DE" sz="6000" dirty="0"/>
          </a:p>
        </p:txBody>
      </p:sp>
      <p:sp>
        <p:nvSpPr>
          <p:cNvPr id="8" name="Rechteck 7"/>
          <p:cNvSpPr/>
          <p:nvPr/>
        </p:nvSpPr>
        <p:spPr bwMode="auto">
          <a:xfrm>
            <a:off x="525736" y="1780456"/>
            <a:ext cx="11881320" cy="633670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/>
            <a:r>
              <a:rPr lang="de-DE" sz="2400" dirty="0" smtClean="0">
                <a:solidFill>
                  <a:schemeClr val="bg2"/>
                </a:solidFill>
              </a:rPr>
              <a:t>Zeit/Risiko/Volumen</a:t>
            </a:r>
            <a:endParaRPr lang="de-DE" sz="2400" dirty="0">
              <a:solidFill>
                <a:schemeClr val="bg2"/>
              </a:solidFill>
            </a:endParaRPr>
          </a:p>
        </p:txBody>
      </p:sp>
      <p:sp>
        <p:nvSpPr>
          <p:cNvPr id="10" name="Rechteck 9"/>
          <p:cNvSpPr/>
          <p:nvPr/>
        </p:nvSpPr>
        <p:spPr bwMode="auto">
          <a:xfrm>
            <a:off x="504000" y="9197280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 smtClean="0">
                <a:solidFill>
                  <a:schemeClr val="bg2"/>
                </a:solidFill>
              </a:rPr>
              <a:t>Stand: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15" name="Rechteck 14"/>
          <p:cNvSpPr/>
          <p:nvPr/>
        </p:nvSpPr>
        <p:spPr bwMode="auto">
          <a:xfrm>
            <a:off x="4824480" y="9197280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 smtClean="0">
                <a:solidFill>
                  <a:schemeClr val="bg2"/>
                </a:solidFill>
              </a:rPr>
              <a:t>Zeitraum:</a:t>
            </a:r>
            <a:endParaRPr lang="de-DE" sz="1400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565068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65696" y="282749"/>
            <a:ext cx="12313368" cy="1245915"/>
          </a:xfrm>
        </p:spPr>
        <p:txBody>
          <a:bodyPr/>
          <a:lstStyle/>
          <a:p>
            <a:r>
              <a:rPr lang="de-DE" sz="4400" dirty="0" smtClean="0"/>
              <a:t>Gesamt Übersicht Phasen</a:t>
            </a:r>
            <a:endParaRPr lang="de-DE" dirty="0"/>
          </a:p>
        </p:txBody>
      </p:sp>
      <p:sp>
        <p:nvSpPr>
          <p:cNvPr id="10" name="Rechteck 9"/>
          <p:cNvSpPr/>
          <p:nvPr/>
        </p:nvSpPr>
        <p:spPr bwMode="auto">
          <a:xfrm>
            <a:off x="504000" y="9197280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 smtClean="0">
                <a:solidFill>
                  <a:schemeClr val="bg2"/>
                </a:solidFill>
              </a:rPr>
              <a:t>Stand: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15" name="Rechteck 14"/>
          <p:cNvSpPr/>
          <p:nvPr/>
        </p:nvSpPr>
        <p:spPr bwMode="auto">
          <a:xfrm>
            <a:off x="4824480" y="9197280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 smtClean="0">
                <a:solidFill>
                  <a:schemeClr val="bg2"/>
                </a:solidFill>
              </a:rPr>
              <a:t>Zeitraum: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13" name="Rechteck 12"/>
          <p:cNvSpPr/>
          <p:nvPr/>
        </p:nvSpPr>
        <p:spPr bwMode="auto">
          <a:xfrm>
            <a:off x="886336" y="1780456"/>
            <a:ext cx="3743856" cy="2160000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/>
            <a:r>
              <a:rPr lang="de-DE" sz="1400" dirty="0">
                <a:solidFill>
                  <a:schemeClr val="bg2"/>
                </a:solidFill>
                <a:sym typeface="Noteworthy Bold" charset="0"/>
              </a:rPr>
              <a:t>Phase </a:t>
            </a:r>
            <a:r>
              <a:rPr lang="de-DE" sz="1400" dirty="0" smtClean="0">
                <a:solidFill>
                  <a:schemeClr val="bg2"/>
                </a:solidFill>
                <a:sym typeface="Noteworthy Bold" charset="0"/>
              </a:rPr>
              <a:t>(</a:t>
            </a:r>
            <a:r>
              <a:rPr lang="de-DE" sz="1400" dirty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Design</a:t>
            </a:r>
            <a:r>
              <a:rPr lang="de-DE" sz="1400" dirty="0"/>
              <a:t> </a:t>
            </a:r>
            <a:r>
              <a:rPr lang="de-DE" sz="1400" dirty="0" smtClean="0">
                <a:solidFill>
                  <a:schemeClr val="bg2"/>
                </a:solidFill>
                <a:sym typeface="Noteworthy Bold" charset="0"/>
              </a:rPr>
              <a:t>)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19" name="Rechteck 18"/>
          <p:cNvSpPr/>
          <p:nvPr/>
        </p:nvSpPr>
        <p:spPr bwMode="auto">
          <a:xfrm>
            <a:off x="4782592" y="1780456"/>
            <a:ext cx="3743856" cy="2160000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/>
            <a:r>
              <a:rPr lang="de-DE" sz="1400" dirty="0">
                <a:solidFill>
                  <a:schemeClr val="bg2"/>
                </a:solidFill>
                <a:sym typeface="Noteworthy Bold" charset="0"/>
              </a:rPr>
              <a:t>Phase </a:t>
            </a:r>
            <a:r>
              <a:rPr lang="de-DE" sz="1400" dirty="0" smtClean="0">
                <a:solidFill>
                  <a:schemeClr val="bg2"/>
                </a:solidFill>
                <a:sym typeface="Noteworthy Bold" charset="0"/>
              </a:rPr>
              <a:t>(</a:t>
            </a:r>
            <a:r>
              <a:rPr lang="de-DE" sz="1400" dirty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Montage BBG</a:t>
            </a:r>
            <a:r>
              <a:rPr lang="de-DE" sz="1400" dirty="0" smtClean="0">
                <a:solidFill>
                  <a:schemeClr val="bg2"/>
                </a:solidFill>
                <a:sym typeface="Noteworthy Bold" charset="0"/>
              </a:rPr>
              <a:t>)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22" name="Rechteck 21"/>
          <p:cNvSpPr/>
          <p:nvPr/>
        </p:nvSpPr>
        <p:spPr bwMode="auto">
          <a:xfrm>
            <a:off x="8678848" y="1780456"/>
            <a:ext cx="3743856" cy="2160000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/>
            <a:r>
              <a:rPr lang="de-DE" sz="1400" dirty="0">
                <a:solidFill>
                  <a:schemeClr val="bg2"/>
                </a:solidFill>
                <a:sym typeface="Noteworthy Bold" charset="0"/>
              </a:rPr>
              <a:t>Phase </a:t>
            </a:r>
            <a:r>
              <a:rPr lang="de-DE" sz="1400" dirty="0" smtClean="0">
                <a:solidFill>
                  <a:schemeClr val="bg2"/>
                </a:solidFill>
                <a:sym typeface="Noteworthy Bold" charset="0"/>
              </a:rPr>
              <a:t>(</a:t>
            </a:r>
            <a:r>
              <a:rPr lang="de-DE" sz="1400" dirty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Montage VS</a:t>
            </a:r>
            <a:r>
              <a:rPr lang="de-DE" sz="1400" dirty="0" smtClean="0">
                <a:solidFill>
                  <a:schemeClr val="bg2"/>
                </a:solidFill>
                <a:sym typeface="Noteworthy Bold" charset="0"/>
              </a:rPr>
              <a:t>)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23" name="Rechteck 22"/>
          <p:cNvSpPr/>
          <p:nvPr/>
        </p:nvSpPr>
        <p:spPr bwMode="auto">
          <a:xfrm>
            <a:off x="886336" y="4092856"/>
            <a:ext cx="3743856" cy="2160000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/>
            <a:r>
              <a:rPr lang="de-DE" sz="1400" dirty="0">
                <a:solidFill>
                  <a:schemeClr val="bg2"/>
                </a:solidFill>
                <a:sym typeface="Noteworthy Bold" charset="0"/>
              </a:rPr>
              <a:t>Phase </a:t>
            </a:r>
            <a:r>
              <a:rPr lang="de-DE" sz="1400" dirty="0" smtClean="0">
                <a:solidFill>
                  <a:schemeClr val="bg2"/>
                </a:solidFill>
                <a:sym typeface="Noteworthy Bold" charset="0"/>
              </a:rPr>
              <a:t>(</a:t>
            </a:r>
            <a:r>
              <a:rPr lang="de-DE" sz="1400" dirty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Prozessvorläufer VS0</a:t>
            </a:r>
            <a:r>
              <a:rPr lang="de-DE" sz="1400" dirty="0" smtClean="0">
                <a:solidFill>
                  <a:schemeClr val="bg2"/>
                </a:solidFill>
                <a:sym typeface="Noteworthy Bold" charset="0"/>
              </a:rPr>
              <a:t>)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24" name="Rechteck 23"/>
          <p:cNvSpPr/>
          <p:nvPr/>
        </p:nvSpPr>
        <p:spPr bwMode="auto">
          <a:xfrm>
            <a:off x="4782592" y="4092856"/>
            <a:ext cx="3743856" cy="2160000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/>
            <a:r>
              <a:rPr lang="de-DE" sz="1400" dirty="0">
                <a:solidFill>
                  <a:schemeClr val="bg2"/>
                </a:solidFill>
                <a:sym typeface="Noteworthy Bold" charset="0"/>
              </a:rPr>
              <a:t>Phase </a:t>
            </a:r>
            <a:r>
              <a:rPr lang="de-DE" sz="1400" dirty="0" smtClean="0">
                <a:solidFill>
                  <a:schemeClr val="bg2"/>
                </a:solidFill>
                <a:sym typeface="Noteworthy Bold" charset="0"/>
              </a:rPr>
              <a:t>(</a:t>
            </a:r>
            <a:r>
              <a:rPr lang="de-DE" sz="1400" dirty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KSP 1</a:t>
            </a:r>
            <a:r>
              <a:rPr lang="de-DE" sz="1400" dirty="0" smtClean="0">
                <a:solidFill>
                  <a:schemeClr val="bg2"/>
                </a:solidFill>
                <a:sym typeface="Noteworthy Bold" charset="0"/>
              </a:rPr>
              <a:t>)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25" name="Rechteck 24"/>
          <p:cNvSpPr/>
          <p:nvPr/>
        </p:nvSpPr>
        <p:spPr bwMode="auto">
          <a:xfrm>
            <a:off x="8678848" y="4092856"/>
            <a:ext cx="3743856" cy="2160000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/>
            <a:r>
              <a:rPr lang="de-DE" sz="1400" dirty="0">
                <a:solidFill>
                  <a:schemeClr val="bg2"/>
                </a:solidFill>
                <a:sym typeface="Noteworthy Bold" charset="0"/>
              </a:rPr>
              <a:t>Phase </a:t>
            </a:r>
            <a:r>
              <a:rPr lang="de-DE" sz="1400" dirty="0" smtClean="0">
                <a:solidFill>
                  <a:schemeClr val="bg2"/>
                </a:solidFill>
                <a:sym typeface="Noteworthy Bold" charset="0"/>
              </a:rPr>
              <a:t>(</a:t>
            </a:r>
            <a:r>
              <a:rPr lang="de-DE" sz="1400" dirty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KSP 2</a:t>
            </a:r>
            <a:r>
              <a:rPr lang="de-DE" sz="1400" dirty="0" smtClean="0">
                <a:solidFill>
                  <a:schemeClr val="bg2"/>
                </a:solidFill>
                <a:sym typeface="Noteworthy Bold" charset="0"/>
              </a:rPr>
              <a:t>)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26" name="Rechteck 25"/>
          <p:cNvSpPr/>
          <p:nvPr/>
        </p:nvSpPr>
        <p:spPr bwMode="auto">
          <a:xfrm>
            <a:off x="886336" y="6385919"/>
            <a:ext cx="3743856" cy="2160000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/>
            <a:r>
              <a:rPr lang="de-DE" sz="1400" dirty="0">
                <a:solidFill>
                  <a:schemeClr val="bg2"/>
                </a:solidFill>
                <a:sym typeface="Noteworthy Bold" charset="0"/>
              </a:rPr>
              <a:t>Phase </a:t>
            </a:r>
            <a:r>
              <a:rPr lang="de-DE" sz="1400" dirty="0" smtClean="0">
                <a:solidFill>
                  <a:schemeClr val="bg2"/>
                </a:solidFill>
                <a:sym typeface="Noteworthy Bold" charset="0"/>
              </a:rPr>
              <a:t>(</a:t>
            </a:r>
            <a:r>
              <a:rPr lang="de-DE" sz="1400" dirty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KSP 3</a:t>
            </a:r>
            <a:r>
              <a:rPr lang="de-DE" sz="1400" dirty="0" smtClean="0">
                <a:solidFill>
                  <a:schemeClr val="bg2"/>
                </a:solidFill>
                <a:sym typeface="Noteworthy Bold" charset="0"/>
              </a:rPr>
              <a:t>)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27" name="Rechteck 26"/>
          <p:cNvSpPr/>
          <p:nvPr/>
        </p:nvSpPr>
        <p:spPr bwMode="auto">
          <a:xfrm>
            <a:off x="4782592" y="6385919"/>
            <a:ext cx="3743856" cy="2160000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/>
            <a:r>
              <a:rPr lang="de-DE" sz="1400" dirty="0">
                <a:solidFill>
                  <a:schemeClr val="bg2"/>
                </a:solidFill>
                <a:sym typeface="Noteworthy Bold" charset="0"/>
              </a:rPr>
              <a:t>Phase </a:t>
            </a:r>
            <a:r>
              <a:rPr lang="de-DE" sz="1400" dirty="0" smtClean="0">
                <a:solidFill>
                  <a:schemeClr val="bg2"/>
                </a:solidFill>
                <a:sym typeface="Noteworthy Bold" charset="0"/>
              </a:rPr>
              <a:t>(</a:t>
            </a:r>
            <a:r>
              <a:rPr lang="de-DE" sz="14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Montage </a:t>
            </a:r>
            <a:r>
              <a:rPr lang="de-DE" sz="1400" dirty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BBG Pulk </a:t>
            </a:r>
            <a:r>
              <a:rPr lang="de-DE" sz="14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1</a:t>
            </a:r>
            <a:r>
              <a:rPr lang="de-DE" sz="1400" dirty="0" smtClean="0">
                <a:solidFill>
                  <a:schemeClr val="bg2"/>
                </a:solidFill>
                <a:sym typeface="Noteworthy Bold" charset="0"/>
              </a:rPr>
              <a:t>)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28" name="Rechteck 27"/>
          <p:cNvSpPr/>
          <p:nvPr/>
        </p:nvSpPr>
        <p:spPr bwMode="auto">
          <a:xfrm>
            <a:off x="8678848" y="6385919"/>
            <a:ext cx="3743856" cy="2160000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/>
            <a:r>
              <a:rPr lang="de-DE" sz="1400" dirty="0">
                <a:solidFill>
                  <a:schemeClr val="bg2"/>
                </a:solidFill>
                <a:sym typeface="Noteworthy Bold" charset="0"/>
              </a:rPr>
              <a:t>Phase </a:t>
            </a:r>
            <a:r>
              <a:rPr lang="de-DE" sz="1400" dirty="0" smtClean="0">
                <a:solidFill>
                  <a:schemeClr val="bg2"/>
                </a:solidFill>
                <a:sym typeface="Noteworthy Bold" charset="0"/>
              </a:rPr>
              <a:t>(</a:t>
            </a:r>
            <a:r>
              <a:rPr lang="de-DE" sz="1400" dirty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Montage BBG Pulk 2</a:t>
            </a:r>
            <a:r>
              <a:rPr lang="de-DE" sz="1400" dirty="0" smtClean="0">
                <a:solidFill>
                  <a:schemeClr val="bg2"/>
                </a:solidFill>
                <a:sym typeface="Noteworthy Bold" charset="0"/>
              </a:rPr>
              <a:t>)</a:t>
            </a:r>
            <a:endParaRPr lang="de-DE" sz="1400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037744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Larissa">
  <a:themeElements>
    <a:clrScheme name="">
      <a:dk1>
        <a:srgbClr val="A5A5A5"/>
      </a:dk1>
      <a:lt1>
        <a:srgbClr val="414141"/>
      </a:lt1>
      <a:dk2>
        <a:srgbClr val="240041"/>
      </a:dk2>
      <a:lt2>
        <a:srgbClr val="484D4B"/>
      </a:lt2>
      <a:accent1>
        <a:srgbClr val="669AA4"/>
      </a:accent1>
      <a:accent2>
        <a:srgbClr val="930706"/>
      </a:accent2>
      <a:accent3>
        <a:srgbClr val="ACAAB0"/>
      </a:accent3>
      <a:accent4>
        <a:srgbClr val="363636"/>
      </a:accent4>
      <a:accent5>
        <a:srgbClr val="B8CACF"/>
      </a:accent5>
      <a:accent6>
        <a:srgbClr val="850605"/>
      </a:accent6>
      <a:hlink>
        <a:srgbClr val="0000FF"/>
      </a:hlink>
      <a:folHlink>
        <a:srgbClr val="FF00FF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6D7472"/>
        </a:solidFill>
        <a:ln>
          <a:noFill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tx1"/>
              </a:solidFill>
              <a:prstDash val="solid"/>
              <a:miter lim="0"/>
              <a:headEnd type="none" w="med" len="med"/>
              <a:tailEnd type="none" w="med" len="med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50800" tIns="50800" rIns="50800" bIns="50800" numCol="1" anchor="ctr" anchorCtr="0" compatLnSpc="1">
        <a:prstTxWarp prst="textNoShape">
          <a:avLst/>
        </a:prstTxWarp>
      </a:bodyPr>
      <a:lstStyle>
        <a:defPPr marL="342900" marR="0" indent="0" algn="ctr" defTabSz="584200" rtl="0" eaLnBrk="1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3600" b="0" i="0" u="none" strike="noStrike" cap="none" normalizeH="0" baseline="0" smtClean="0">
            <a:ln>
              <a:noFill/>
            </a:ln>
            <a:solidFill>
              <a:srgbClr val="414141"/>
            </a:solidFill>
            <a:effectLst/>
            <a:latin typeface="Gill Sans Light" charset="0"/>
            <a:ea typeface="Gill Sans Light" charset="0"/>
            <a:cs typeface="Gill Sans Light" charset="0"/>
            <a:sym typeface="Gill Sans Light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6D7472"/>
        </a:solidFill>
        <a:ln>
          <a:noFill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tx1"/>
              </a:solidFill>
              <a:prstDash val="solid"/>
              <a:miter lim="0"/>
              <a:headEnd type="none" w="med" len="med"/>
              <a:tailEnd type="none" w="med" len="med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50800" tIns="50800" rIns="50800" bIns="50800" numCol="1" anchor="ctr" anchorCtr="0" compatLnSpc="1">
        <a:prstTxWarp prst="textNoShape">
          <a:avLst/>
        </a:prstTxWarp>
      </a:bodyPr>
      <a:lstStyle>
        <a:defPPr marL="342900" marR="0" indent="0" algn="ctr" defTabSz="584200" rtl="0" eaLnBrk="1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3600" b="0" i="0" u="none" strike="noStrike" cap="none" normalizeH="0" baseline="0" smtClean="0">
            <a:ln>
              <a:noFill/>
            </a:ln>
            <a:solidFill>
              <a:srgbClr val="414141"/>
            </a:solidFill>
            <a:effectLst/>
            <a:latin typeface="Gill Sans Light" charset="0"/>
            <a:ea typeface="Gill Sans Light" charset="0"/>
            <a:cs typeface="Gill Sans Light" charset="0"/>
            <a:sym typeface="Gill Sans Light" charset="0"/>
          </a:defRPr>
        </a:defPPr>
      </a:lstStyle>
    </a:lnDef>
  </a:objectDefaults>
  <a:extraClrSchemeLst/>
</a:theme>
</file>

<file path=ppt/theme/theme2.xml><?xml version="1.0" encoding="utf-8"?>
<a:theme xmlns:a="http://schemas.openxmlformats.org/drawingml/2006/main" name="Larissa">
  <a:themeElements>
    <a:clrScheme name="">
      <a:dk1>
        <a:srgbClr val="572E2D"/>
      </a:dk1>
      <a:lt1>
        <a:srgbClr val="2A5657"/>
      </a:lt1>
      <a:dk2>
        <a:srgbClr val="484D4B"/>
      </a:dk2>
      <a:lt2>
        <a:srgbClr val="A5A5A5"/>
      </a:lt2>
      <a:accent1>
        <a:srgbClr val="669AA4"/>
      </a:accent1>
      <a:accent2>
        <a:srgbClr val="930706"/>
      </a:accent2>
      <a:accent3>
        <a:srgbClr val="ACB4B4"/>
      </a:accent3>
      <a:accent4>
        <a:srgbClr val="492625"/>
      </a:accent4>
      <a:accent5>
        <a:srgbClr val="B8CACF"/>
      </a:accent5>
      <a:accent6>
        <a:srgbClr val="850605"/>
      </a:accent6>
      <a:hlink>
        <a:srgbClr val="0000FF"/>
      </a:hlink>
      <a:folHlink>
        <a:srgbClr val="FF00FF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395</Words>
  <Application>Microsoft Office PowerPoint</Application>
  <PresentationFormat>Benutzerdefiniert</PresentationFormat>
  <Paragraphs>209</Paragraphs>
  <Slides>4</Slides>
  <Notes>4</Notes>
  <HiddenSlides>0</HiddenSlides>
  <MMClips>0</MMClips>
  <ScaleCrop>false</ScaleCrop>
  <HeadingPairs>
    <vt:vector size="4" baseType="variant">
      <vt:variant>
        <vt:lpstr>Design</vt:lpstr>
      </vt:variant>
      <vt:variant>
        <vt:i4>1</vt:i4>
      </vt:variant>
      <vt:variant>
        <vt:lpstr>Folientitel</vt:lpstr>
      </vt:variant>
      <vt:variant>
        <vt:i4>4</vt:i4>
      </vt:variant>
    </vt:vector>
  </HeadingPairs>
  <TitlesOfParts>
    <vt:vector size="5" baseType="lpstr">
      <vt:lpstr>Larissa</vt:lpstr>
      <vt:lpstr>PowerPoint-Präsentation</vt:lpstr>
      <vt:lpstr>Übersicht Leistbarkeit</vt:lpstr>
      <vt:lpstr>Einordnung Zeit / Risiko / Volumen</vt:lpstr>
      <vt:lpstr>Gesamt Übersicht Phasen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tom</dc:creator>
  <cp:lastModifiedBy>tom</cp:lastModifiedBy>
  <cp:revision>104</cp:revision>
  <dcterms:modified xsi:type="dcterms:W3CDTF">2013-12-10T20:43:45Z</dcterms:modified>
</cp:coreProperties>
</file>