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erverZoom="100000" strictFirstAndLastChars="0" saveSubsetFonts="1">
  <p:sldMasterIdLst>
    <p:sldMasterId id="2147483648" r:id="rId1"/>
  </p:sldMasterIdLst>
  <p:notesMasterIdLst>
    <p:notesMasterId r:id="rId10"/>
  </p:notesMasterIdLst>
  <p:sldIdLst>
    <p:sldId id="272" r:id="rId2"/>
    <p:sldId id="269" r:id="rId3"/>
    <p:sldId id="270" r:id="rId4"/>
    <p:sldId id="271" r:id="rId5"/>
    <p:sldId id="263" r:id="rId6"/>
    <p:sldId id="266" r:id="rId7"/>
    <p:sldId id="265" r:id="rId8"/>
    <p:sldId id="267" r:id="rId9"/>
  </p:sldIdLst>
  <p:sldSz cx="13004800" cy="9753600"/>
  <p:notesSz cx="6858000" cy="9144000"/>
  <p:defaultTextStyle>
    <a:defPPr>
      <a:defRPr lang="de-DE"/>
    </a:defPPr>
    <a:lvl1pPr algn="ctr" defTabSz="584200" rtl="0" fontAlgn="base" hangingPunct="0">
      <a:spcBef>
        <a:spcPct val="0"/>
      </a:spcBef>
      <a:spcAft>
        <a:spcPct val="0"/>
      </a:spcAft>
      <a:defRPr sz="3600" kern="1200">
        <a:solidFill>
          <a:srgbClr val="414141"/>
        </a:solidFill>
        <a:latin typeface="Gill Sans Light" charset="0"/>
        <a:ea typeface="Gill Sans Light" charset="0"/>
        <a:cs typeface="Gill Sans Light" charset="0"/>
        <a:sym typeface="Gill Sans Light" charset="0"/>
      </a:defRPr>
    </a:lvl1pPr>
    <a:lvl2pPr marL="342900" algn="ctr" defTabSz="584200" rtl="0" fontAlgn="base" hangingPunct="0">
      <a:spcBef>
        <a:spcPct val="0"/>
      </a:spcBef>
      <a:spcAft>
        <a:spcPct val="0"/>
      </a:spcAft>
      <a:defRPr sz="3600" kern="1200">
        <a:solidFill>
          <a:srgbClr val="414141"/>
        </a:solidFill>
        <a:latin typeface="Gill Sans Light" charset="0"/>
        <a:ea typeface="Gill Sans Light" charset="0"/>
        <a:cs typeface="Gill Sans Light" charset="0"/>
        <a:sym typeface="Gill Sans Light" charset="0"/>
      </a:defRPr>
    </a:lvl2pPr>
    <a:lvl3pPr marL="685800" algn="ctr" defTabSz="584200" rtl="0" fontAlgn="base" hangingPunct="0">
      <a:spcBef>
        <a:spcPct val="0"/>
      </a:spcBef>
      <a:spcAft>
        <a:spcPct val="0"/>
      </a:spcAft>
      <a:defRPr sz="3600" kern="1200">
        <a:solidFill>
          <a:srgbClr val="414141"/>
        </a:solidFill>
        <a:latin typeface="Gill Sans Light" charset="0"/>
        <a:ea typeface="Gill Sans Light" charset="0"/>
        <a:cs typeface="Gill Sans Light" charset="0"/>
        <a:sym typeface="Gill Sans Light" charset="0"/>
      </a:defRPr>
    </a:lvl3pPr>
    <a:lvl4pPr marL="1028700" algn="ctr" defTabSz="584200" rtl="0" fontAlgn="base" hangingPunct="0">
      <a:spcBef>
        <a:spcPct val="0"/>
      </a:spcBef>
      <a:spcAft>
        <a:spcPct val="0"/>
      </a:spcAft>
      <a:defRPr sz="3600" kern="1200">
        <a:solidFill>
          <a:srgbClr val="414141"/>
        </a:solidFill>
        <a:latin typeface="Gill Sans Light" charset="0"/>
        <a:ea typeface="Gill Sans Light" charset="0"/>
        <a:cs typeface="Gill Sans Light" charset="0"/>
        <a:sym typeface="Gill Sans Light" charset="0"/>
      </a:defRPr>
    </a:lvl4pPr>
    <a:lvl5pPr marL="1371600" algn="ctr" defTabSz="584200" rtl="0" fontAlgn="base" hangingPunct="0">
      <a:spcBef>
        <a:spcPct val="0"/>
      </a:spcBef>
      <a:spcAft>
        <a:spcPct val="0"/>
      </a:spcAft>
      <a:defRPr sz="3600" kern="1200">
        <a:solidFill>
          <a:srgbClr val="414141"/>
        </a:solidFill>
        <a:latin typeface="Gill Sans Light" charset="0"/>
        <a:ea typeface="Gill Sans Light" charset="0"/>
        <a:cs typeface="Gill Sans Light" charset="0"/>
        <a:sym typeface="Gill Sans Light" charset="0"/>
      </a:defRPr>
    </a:lvl5pPr>
    <a:lvl6pPr marL="2286000" algn="l" defTabSz="914400" rtl="0" eaLnBrk="1" latinLnBrk="0" hangingPunct="1">
      <a:defRPr sz="3600" kern="1200">
        <a:solidFill>
          <a:srgbClr val="414141"/>
        </a:solidFill>
        <a:latin typeface="Gill Sans Light" charset="0"/>
        <a:ea typeface="Gill Sans Light" charset="0"/>
        <a:cs typeface="Gill Sans Light" charset="0"/>
        <a:sym typeface="Gill Sans Light" charset="0"/>
      </a:defRPr>
    </a:lvl6pPr>
    <a:lvl7pPr marL="2743200" algn="l" defTabSz="914400" rtl="0" eaLnBrk="1" latinLnBrk="0" hangingPunct="1">
      <a:defRPr sz="3600" kern="1200">
        <a:solidFill>
          <a:srgbClr val="414141"/>
        </a:solidFill>
        <a:latin typeface="Gill Sans Light" charset="0"/>
        <a:ea typeface="Gill Sans Light" charset="0"/>
        <a:cs typeface="Gill Sans Light" charset="0"/>
        <a:sym typeface="Gill Sans Light" charset="0"/>
      </a:defRPr>
    </a:lvl7pPr>
    <a:lvl8pPr marL="3200400" algn="l" defTabSz="914400" rtl="0" eaLnBrk="1" latinLnBrk="0" hangingPunct="1">
      <a:defRPr sz="3600" kern="1200">
        <a:solidFill>
          <a:srgbClr val="414141"/>
        </a:solidFill>
        <a:latin typeface="Gill Sans Light" charset="0"/>
        <a:ea typeface="Gill Sans Light" charset="0"/>
        <a:cs typeface="Gill Sans Light" charset="0"/>
        <a:sym typeface="Gill Sans Light" charset="0"/>
      </a:defRPr>
    </a:lvl8pPr>
    <a:lvl9pPr marL="3657600" algn="l" defTabSz="914400" rtl="0" eaLnBrk="1" latinLnBrk="0" hangingPunct="1">
      <a:defRPr sz="3600" kern="1200">
        <a:solidFill>
          <a:srgbClr val="414141"/>
        </a:solidFill>
        <a:latin typeface="Gill Sans Light" charset="0"/>
        <a:ea typeface="Gill Sans Light" charset="0"/>
        <a:cs typeface="Gill Sans Light" charset="0"/>
        <a:sym typeface="Gill Sans Light"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ittlere Formatvorlage 2 - Akz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CF1AB2-1976-4502-BF36-3FF5EA218861}" styleName="Mittlere Formatvorlage 4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9012ECD-51FC-41F1-AA8D-1B2483CD663E}" styleName="Helle Formatvorlage 2 - Akz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353" autoAdjust="0"/>
  </p:normalViewPr>
  <p:slideViewPr>
    <p:cSldViewPr>
      <p:cViewPr varScale="1">
        <p:scale>
          <a:sx n="58" d="100"/>
          <a:sy n="58" d="100"/>
        </p:scale>
        <p:origin x="-2322" y="-102"/>
      </p:cViewPr>
      <p:guideLst>
        <p:guide orient="horz" pos="3072"/>
        <p:guide pos="409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3" name="Rectangle 1"/>
          <p:cNvSpPr>
            <a:spLocks noGrp="1" noRot="1" noChangeAspect="1"/>
          </p:cNvSpPr>
          <p:nvPr>
            <p:ph type="sldImg" idx="2"/>
          </p:nvPr>
        </p:nvSpPr>
        <p:spPr bwMode="auto">
          <a:xfrm>
            <a:off x="1143000" y="685800"/>
            <a:ext cx="4572000" cy="342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074" name="Rectangle 2"/>
          <p:cNvSpPr>
            <a:spLocks noGrp="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rnd"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anchor="t" anchorCtr="0" compatLnSpc="1">
            <a:prstTxWarp prst="textNoShape">
              <a:avLst/>
            </a:prstTxWarp>
          </a:bodyPr>
          <a:lstStyle/>
          <a:p>
            <a:pPr lvl="0"/>
            <a:r>
              <a:rPr lang="de-DE" smtClean="0">
                <a:sym typeface="Noteworthy Bold" charset="0"/>
              </a:rPr>
              <a:t>Click to edit Master text styles</a:t>
            </a:r>
          </a:p>
          <a:p>
            <a:pPr lvl="1"/>
            <a:r>
              <a:rPr lang="de-DE" smtClean="0">
                <a:sym typeface="Noteworthy Bold" charset="0"/>
              </a:rPr>
              <a:t>Second level</a:t>
            </a:r>
          </a:p>
          <a:p>
            <a:pPr lvl="2"/>
            <a:r>
              <a:rPr lang="de-DE" smtClean="0">
                <a:sym typeface="Noteworthy Bold" charset="0"/>
              </a:rPr>
              <a:t>Third level</a:t>
            </a:r>
          </a:p>
          <a:p>
            <a:pPr lvl="3"/>
            <a:r>
              <a:rPr lang="de-DE" smtClean="0">
                <a:sym typeface="Noteworthy Bold" charset="0"/>
              </a:rPr>
              <a:t>Fourth level</a:t>
            </a:r>
          </a:p>
          <a:p>
            <a:pPr lvl="4"/>
            <a:r>
              <a:rPr lang="de-DE" smtClean="0">
                <a:sym typeface="Noteworthy Bold" charset="0"/>
              </a:rPr>
              <a:t>Fifth level</a:t>
            </a:r>
          </a:p>
        </p:txBody>
      </p:sp>
    </p:spTree>
    <p:extLst>
      <p:ext uri="{BB962C8B-B14F-4D97-AF65-F5344CB8AC3E}">
        <p14:creationId xmlns:p14="http://schemas.microsoft.com/office/powerpoint/2010/main" val="3294167338"/>
      </p:ext>
    </p:extLst>
  </p:cSld>
  <p:clrMap bg1="lt1" tx1="dk1" bg2="lt2" tx2="dk2" accent1="accent1" accent2="accent2" accent3="accent3" accent4="accent4" accent5="accent5" accent6="accent6" hlink="hlink" folHlink="folHlink"/>
  <p:notesStyle>
    <a:lvl1pPr algn="l" defTabSz="457200" rtl="0" fontAlgn="base" hangingPunct="0">
      <a:lnSpc>
        <a:spcPts val="3500"/>
      </a:lnSpc>
      <a:spcBef>
        <a:spcPct val="0"/>
      </a:spcBef>
      <a:spcAft>
        <a:spcPct val="0"/>
      </a:spcAft>
      <a:defRPr sz="2400" kern="1200">
        <a:solidFill>
          <a:srgbClr val="572E2D"/>
        </a:solidFill>
        <a:latin typeface="Noteworthy Bold" charset="0"/>
        <a:ea typeface="Noteworthy Bold" charset="0"/>
        <a:cs typeface="Noteworthy Bold" charset="0"/>
        <a:sym typeface="Noteworthy Bold" charset="0"/>
      </a:defRPr>
    </a:lvl1pPr>
    <a:lvl2pPr marL="342900" algn="l" defTabSz="457200" rtl="0" fontAlgn="base" hangingPunct="0">
      <a:lnSpc>
        <a:spcPts val="3500"/>
      </a:lnSpc>
      <a:spcBef>
        <a:spcPct val="0"/>
      </a:spcBef>
      <a:spcAft>
        <a:spcPct val="0"/>
      </a:spcAft>
      <a:defRPr sz="2400" kern="1200">
        <a:solidFill>
          <a:srgbClr val="572E2D"/>
        </a:solidFill>
        <a:latin typeface="Noteworthy Bold" charset="0"/>
        <a:ea typeface="Noteworthy Bold" charset="0"/>
        <a:cs typeface="Noteworthy Bold" charset="0"/>
        <a:sym typeface="Noteworthy Bold" charset="0"/>
      </a:defRPr>
    </a:lvl2pPr>
    <a:lvl3pPr marL="685800" algn="l" defTabSz="457200" rtl="0" fontAlgn="base" hangingPunct="0">
      <a:lnSpc>
        <a:spcPts val="3500"/>
      </a:lnSpc>
      <a:spcBef>
        <a:spcPct val="0"/>
      </a:spcBef>
      <a:spcAft>
        <a:spcPct val="0"/>
      </a:spcAft>
      <a:defRPr sz="2400" kern="1200">
        <a:solidFill>
          <a:srgbClr val="572E2D"/>
        </a:solidFill>
        <a:latin typeface="Noteworthy Bold" charset="0"/>
        <a:ea typeface="Noteworthy Bold" charset="0"/>
        <a:cs typeface="Noteworthy Bold" charset="0"/>
        <a:sym typeface="Noteworthy Bold" charset="0"/>
      </a:defRPr>
    </a:lvl3pPr>
    <a:lvl4pPr marL="1028700" algn="l" defTabSz="457200" rtl="0" fontAlgn="base" hangingPunct="0">
      <a:lnSpc>
        <a:spcPts val="3500"/>
      </a:lnSpc>
      <a:spcBef>
        <a:spcPct val="0"/>
      </a:spcBef>
      <a:spcAft>
        <a:spcPct val="0"/>
      </a:spcAft>
      <a:defRPr sz="2400" kern="1200">
        <a:solidFill>
          <a:srgbClr val="572E2D"/>
        </a:solidFill>
        <a:latin typeface="Noteworthy Bold" charset="0"/>
        <a:ea typeface="Noteworthy Bold" charset="0"/>
        <a:cs typeface="Noteworthy Bold" charset="0"/>
        <a:sym typeface="Noteworthy Bold" charset="0"/>
      </a:defRPr>
    </a:lvl4pPr>
    <a:lvl5pPr marL="1371600" algn="l" defTabSz="457200" rtl="0" fontAlgn="base" hangingPunct="0">
      <a:lnSpc>
        <a:spcPts val="3500"/>
      </a:lnSpc>
      <a:spcBef>
        <a:spcPct val="0"/>
      </a:spcBef>
      <a:spcAft>
        <a:spcPct val="0"/>
      </a:spcAft>
      <a:defRPr sz="2400" kern="1200">
        <a:solidFill>
          <a:srgbClr val="572E2D"/>
        </a:solidFill>
        <a:latin typeface="Noteworthy Bold" charset="0"/>
        <a:ea typeface="Noteworthy Bold" charset="0"/>
        <a:cs typeface="Noteworthy Bold" charset="0"/>
        <a:sym typeface="Noteworthy Bold"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2400" dirty="0" smtClean="0"/>
              <a:t>Portfolio-Name</a:t>
            </a:r>
          </a:p>
          <a:p>
            <a:r>
              <a:rPr lang="de-DE" sz="2400" dirty="0" smtClean="0">
                <a:solidFill>
                  <a:schemeClr val="bg2"/>
                </a:solidFill>
              </a:rPr>
              <a:t>Projekt-Tafel</a:t>
            </a:r>
          </a:p>
          <a:p>
            <a:r>
              <a:rPr lang="de-DE" sz="2400" dirty="0" smtClean="0">
                <a:solidFill>
                  <a:schemeClr val="bg2"/>
                </a:solidFill>
              </a:rPr>
              <a:t>Projekt-Tafel(Milestones R)</a:t>
            </a:r>
          </a:p>
          <a:p>
            <a:pPr marL="0" marR="0" indent="0" algn="l" defTabSz="457200" rtl="0" eaLnBrk="1" fontAlgn="base" latinLnBrk="0" hangingPunct="0">
              <a:lnSpc>
                <a:spcPts val="3500"/>
              </a:lnSpc>
              <a:spcBef>
                <a:spcPct val="0"/>
              </a:spcBef>
              <a:spcAft>
                <a:spcPct val="0"/>
              </a:spcAft>
              <a:buClrTx/>
              <a:buSzTx/>
              <a:buFontTx/>
              <a:buNone/>
              <a:tabLst/>
              <a:defRPr/>
            </a:pPr>
            <a:r>
              <a:rPr lang="de-DE" sz="2400" dirty="0" smtClean="0">
                <a:solidFill>
                  <a:schemeClr val="bg2"/>
                </a:solidFill>
              </a:rPr>
              <a:t>Projekt-Tafel(Milestones GR)</a:t>
            </a:r>
          </a:p>
          <a:p>
            <a:endParaRPr lang="de-DE" sz="2400" dirty="0" smtClean="0"/>
          </a:p>
          <a:p>
            <a:r>
              <a:rPr lang="de-DE" sz="2400" kern="1200" dirty="0" smtClean="0">
                <a:solidFill>
                  <a:srgbClr val="572E2D"/>
                </a:solidFill>
                <a:latin typeface="Noteworthy Bold" charset="0"/>
                <a:ea typeface="Noteworthy Bold" charset="0"/>
                <a:cs typeface="Noteworthy Bold" charset="0"/>
                <a:sym typeface="Noteworthy Bold" charset="0"/>
              </a:rPr>
              <a:t>Ergebnis</a:t>
            </a:r>
          </a:p>
          <a:p>
            <a:r>
              <a:rPr lang="de-DE" sz="2400" dirty="0" smtClean="0">
                <a:solidFill>
                  <a:schemeClr val="bg2"/>
                </a:solidFill>
                <a:sym typeface="Noteworthy Bold" charset="0"/>
              </a:rPr>
              <a:t>Ergebnis Verbesserungspotential</a:t>
            </a:r>
          </a:p>
          <a:p>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Strategie/Risiko/Marge</a:t>
            </a:r>
          </a:p>
          <a:p>
            <a:endPar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endParaRPr>
          </a:p>
          <a:p>
            <a:r>
              <a:rPr lang="de-DE" sz="2400" kern="1200" dirty="0" smtClean="0">
                <a:solidFill>
                  <a:srgbClr val="572E2D"/>
                </a:solidFill>
                <a:latin typeface="Noteworthy Bold" charset="0"/>
                <a:ea typeface="Noteworthy Bold" charset="0"/>
                <a:cs typeface="Noteworthy Bold" charset="0"/>
                <a:sym typeface="Noteworthy Bold" charset="0"/>
              </a:rPr>
              <a:t>Übersicht Auslastung</a:t>
            </a:r>
          </a:p>
          <a:p>
            <a:r>
              <a:rPr lang="de-DE" sz="2400" kern="1200" dirty="0" smtClean="0">
                <a:solidFill>
                  <a:srgbClr val="572E2D"/>
                </a:solidFill>
                <a:latin typeface="Noteworthy Bold" charset="0"/>
                <a:ea typeface="Noteworthy Bold" charset="0"/>
                <a:cs typeface="Noteworthy Bold" charset="0"/>
                <a:sym typeface="Noteworthy Bold" charset="0"/>
              </a:rPr>
              <a:t>Details Unterauslastung</a:t>
            </a:r>
          </a:p>
          <a:p>
            <a:r>
              <a:rPr lang="de-DE" sz="2400" kern="1200" dirty="0" smtClean="0">
                <a:solidFill>
                  <a:srgbClr val="572E2D"/>
                </a:solidFill>
                <a:latin typeface="Noteworthy Bold" charset="0"/>
                <a:ea typeface="Noteworthy Bold" charset="0"/>
                <a:cs typeface="Noteworthy Bold" charset="0"/>
                <a:sym typeface="Noteworthy Bold" charset="0"/>
              </a:rPr>
              <a:t>Details Überauslastung</a:t>
            </a:r>
            <a:endPar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endParaRPr>
          </a:p>
          <a:p>
            <a:endPar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endParaRPr>
          </a:p>
          <a:p>
            <a:r>
              <a:rPr lang="de-DE" sz="2400" kern="1200" dirty="0" smtClean="0">
                <a:solidFill>
                  <a:srgbClr val="572E2D"/>
                </a:solidFill>
                <a:latin typeface="Noteworthy Bold" charset="0"/>
                <a:ea typeface="Noteworthy Bold" charset="0"/>
                <a:cs typeface="Noteworthy Bold" charset="0"/>
                <a:sym typeface="Noteworthy Bold" charset="0"/>
              </a:rPr>
              <a:t>Bisherige Zielerreichung</a:t>
            </a:r>
          </a:p>
          <a:p>
            <a:r>
              <a:rPr lang="de-DE" sz="2400" kern="1200" dirty="0" smtClean="0">
                <a:solidFill>
                  <a:srgbClr val="572E2D"/>
                </a:solidFill>
                <a:latin typeface="Noteworthy Bold" charset="0"/>
                <a:ea typeface="Noteworthy Bold" charset="0"/>
                <a:cs typeface="Noteworthy Bold" charset="0"/>
                <a:sym typeface="Noteworthy Bold" charset="0"/>
              </a:rPr>
              <a:t>Prognose Zielerreichung</a:t>
            </a:r>
            <a:endPar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endParaRPr>
          </a:p>
          <a:p>
            <a:endPar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endParaRPr>
          </a:p>
          <a:p>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Personalkosten </a:t>
            </a:r>
          </a:p>
          <a:p>
            <a:pPr marL="0" marR="0" indent="0" algn="l" defTabSz="457200" rtl="0" eaLnBrk="1" fontAlgn="base" latinLnBrk="0" hangingPunct="0">
              <a:lnSpc>
                <a:spcPts val="3500"/>
              </a:lnSpc>
              <a:spcBef>
                <a:spcPct val="0"/>
              </a:spcBef>
              <a:spcAft>
                <a:spcPct val="0"/>
              </a:spcAft>
              <a:buClrTx/>
              <a:buSzTx/>
              <a:buFontTx/>
              <a:buNone/>
              <a:tabLst/>
              <a:defRPr/>
            </a:pPr>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Sonstige Kosten</a:t>
            </a:r>
          </a:p>
          <a:p>
            <a:pPr marL="0" marR="0" indent="0" algn="l" defTabSz="457200" rtl="0" eaLnBrk="1" fontAlgn="base" latinLnBrk="0" hangingPunct="0">
              <a:lnSpc>
                <a:spcPts val="3500"/>
              </a:lnSpc>
              <a:spcBef>
                <a:spcPct val="0"/>
              </a:spcBef>
              <a:spcAft>
                <a:spcPct val="0"/>
              </a:spcAft>
              <a:buClrTx/>
              <a:buSzTx/>
              <a:buFontTx/>
              <a:buNone/>
              <a:tabLst/>
              <a:defRPr/>
            </a:pPr>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Gesamtkosten</a:t>
            </a:r>
          </a:p>
          <a:p>
            <a:pPr marL="0" marR="0" indent="0" algn="l" defTabSz="457200" rtl="0" eaLnBrk="1" fontAlgn="base" latinLnBrk="0" hangingPunct="0">
              <a:lnSpc>
                <a:spcPts val="3500"/>
              </a:lnSpc>
              <a:spcBef>
                <a:spcPct val="0"/>
              </a:spcBef>
              <a:spcAft>
                <a:spcPct val="0"/>
              </a:spcAft>
              <a:buClrTx/>
              <a:buSzTx/>
              <a:buFontTx/>
              <a:buNone/>
              <a:tabLst/>
              <a:defRPr/>
            </a:pPr>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Rolle(…)</a:t>
            </a:r>
          </a:p>
          <a:p>
            <a:pPr marL="0" marR="0" indent="0" algn="l" defTabSz="457200" rtl="0" eaLnBrk="1" fontAlgn="base" latinLnBrk="0" hangingPunct="0">
              <a:lnSpc>
                <a:spcPts val="3500"/>
              </a:lnSpc>
              <a:spcBef>
                <a:spcPct val="0"/>
              </a:spcBef>
              <a:spcAft>
                <a:spcPct val="0"/>
              </a:spcAft>
              <a:buClrTx/>
              <a:buSzTx/>
              <a:buFontTx/>
              <a:buNone/>
              <a:tabLst/>
              <a:defRPr/>
            </a:pPr>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Kostenart(…) </a:t>
            </a:r>
          </a:p>
          <a:p>
            <a:endParaRPr lang="de-DE" sz="2400" kern="1200" dirty="0" smtClean="0">
              <a:solidFill>
                <a:srgbClr val="572E2D"/>
              </a:solidFill>
              <a:latin typeface="Noteworthy Bold" charset="0"/>
              <a:ea typeface="Noteworthy Bold" charset="0"/>
              <a:cs typeface="Noteworthy Bold" charset="0"/>
              <a:sym typeface="Noteworthy Bold" charset="0"/>
            </a:endParaRPr>
          </a:p>
          <a:p>
            <a:r>
              <a:rPr lang="de-DE" sz="2400" kern="1200" dirty="0" smtClean="0">
                <a:solidFill>
                  <a:srgbClr val="572E2D"/>
                </a:solidFill>
                <a:latin typeface="Noteworthy Bold" charset="0"/>
                <a:ea typeface="Noteworthy Bold" charset="0"/>
                <a:cs typeface="Noteworthy Bold" charset="0"/>
                <a:sym typeface="Noteworthy Bold" charset="0"/>
              </a:rPr>
              <a:t>Stand:</a:t>
            </a:r>
          </a:p>
          <a:p>
            <a:r>
              <a:rPr lang="de-DE" sz="2400" dirty="0" smtClean="0">
                <a:solidFill>
                  <a:schemeClr val="bg2"/>
                </a:solidFill>
              </a:rPr>
              <a:t>Zeitraum</a:t>
            </a:r>
            <a:r>
              <a:rPr lang="de-DE" sz="2400" kern="1200" dirty="0" smtClean="0">
                <a:solidFill>
                  <a:srgbClr val="572E2D"/>
                </a:solidFill>
                <a:latin typeface="Noteworthy Bold" charset="0"/>
                <a:ea typeface="Noteworthy Bold" charset="0"/>
                <a:cs typeface="Noteworthy Bold" charset="0"/>
                <a:sym typeface="Noteworthy Bold" charset="0"/>
              </a:rPr>
              <a:t>:</a:t>
            </a:r>
          </a:p>
          <a:p>
            <a:pPr marL="0" marR="0" indent="0" algn="l" defTabSz="457200" rtl="0" eaLnBrk="1" fontAlgn="base" latinLnBrk="0" hangingPunct="0">
              <a:lnSpc>
                <a:spcPts val="3500"/>
              </a:lnSpc>
              <a:spcBef>
                <a:spcPct val="0"/>
              </a:spcBef>
              <a:spcAft>
                <a:spcPct val="0"/>
              </a:spcAft>
              <a:buClrTx/>
              <a:buSzTx/>
              <a:buFontTx/>
              <a:buNone/>
              <a:tabLst/>
              <a:defRPr/>
            </a:pPr>
            <a:r>
              <a:rPr lang="de-DE" sz="2400" dirty="0" smtClean="0">
                <a:solidFill>
                  <a:schemeClr val="bg2"/>
                </a:solidFill>
                <a:sym typeface="Noteworthy Bold" charset="0"/>
              </a:rPr>
              <a:t>Phase (…)</a:t>
            </a:r>
          </a:p>
          <a:p>
            <a:pPr marL="0" marR="0" indent="0" algn="l" defTabSz="457200" rtl="0" eaLnBrk="1" fontAlgn="base" latinLnBrk="0" hangingPunct="0">
              <a:lnSpc>
                <a:spcPts val="3500"/>
              </a:lnSpc>
              <a:spcBef>
                <a:spcPct val="0"/>
              </a:spcBef>
              <a:spcAft>
                <a:spcPct val="0"/>
              </a:spcAft>
              <a:buClrTx/>
              <a:buSzTx/>
              <a:buFontTx/>
              <a:buNone/>
              <a:tabLst/>
              <a:defRPr/>
            </a:pPr>
            <a:r>
              <a:rPr lang="de-DE" sz="2400" dirty="0" smtClean="0">
                <a:solidFill>
                  <a:schemeClr val="bg2"/>
                </a:solidFill>
                <a:sym typeface="Noteworthy Bold" charset="0"/>
              </a:rPr>
              <a:t>Rolle (…)</a:t>
            </a:r>
          </a:p>
          <a:p>
            <a:pPr marL="0" marR="0" indent="0" algn="l" defTabSz="457200" rtl="0" eaLnBrk="1" fontAlgn="base" latinLnBrk="0" hangingPunct="0">
              <a:lnSpc>
                <a:spcPts val="3500"/>
              </a:lnSpc>
              <a:spcBef>
                <a:spcPct val="0"/>
              </a:spcBef>
              <a:spcAft>
                <a:spcPct val="0"/>
              </a:spcAft>
              <a:buClrTx/>
              <a:buSzTx/>
              <a:buFontTx/>
              <a:buNone/>
              <a:tabLst/>
              <a:defRPr/>
            </a:pPr>
            <a:r>
              <a:rPr lang="de-DE" sz="2400" dirty="0" smtClean="0">
                <a:solidFill>
                  <a:schemeClr val="bg2"/>
                </a:solidFill>
                <a:sym typeface="Noteworthy Bold" charset="0"/>
              </a:rPr>
              <a:t>Kostenart (…)</a:t>
            </a:r>
          </a:p>
          <a:p>
            <a:pPr marL="0" marR="0" indent="0" algn="l" defTabSz="457200" rtl="0" eaLnBrk="1" fontAlgn="base" latinLnBrk="0" hangingPunct="0">
              <a:lnSpc>
                <a:spcPts val="3500"/>
              </a:lnSpc>
              <a:spcBef>
                <a:spcPct val="0"/>
              </a:spcBef>
              <a:spcAft>
                <a:spcPct val="0"/>
              </a:spcAft>
              <a:buClrTx/>
              <a:buSzTx/>
              <a:buFontTx/>
              <a:buNone/>
              <a:tabLst/>
              <a:defRPr/>
            </a:pPr>
            <a:endParaRPr lang="de-DE" sz="2400" dirty="0" smtClean="0">
              <a:solidFill>
                <a:schemeClr val="bg2"/>
              </a:solidFill>
            </a:endParaRPr>
          </a:p>
          <a:p>
            <a:pPr marL="0" marR="0" indent="0" algn="l" defTabSz="457200" rtl="0" eaLnBrk="1" fontAlgn="base" latinLnBrk="0" hangingPunct="0">
              <a:lnSpc>
                <a:spcPts val="3500"/>
              </a:lnSpc>
              <a:spcBef>
                <a:spcPct val="0"/>
              </a:spcBef>
              <a:spcAft>
                <a:spcPct val="0"/>
              </a:spcAft>
              <a:buClrTx/>
              <a:buSzTx/>
              <a:buFontTx/>
              <a:buNone/>
              <a:tabLst/>
              <a:defRPr/>
            </a:pPr>
            <a:endParaRPr lang="de-DE" sz="2400" dirty="0" smtClean="0">
              <a:solidFill>
                <a:schemeClr val="bg2"/>
              </a:solidFill>
            </a:endParaRPr>
          </a:p>
          <a:p>
            <a:pPr marL="0" marR="0" indent="0" algn="l" defTabSz="457200" rtl="0" eaLnBrk="1" fontAlgn="base" latinLnBrk="0" hangingPunct="0">
              <a:lnSpc>
                <a:spcPts val="3500"/>
              </a:lnSpc>
              <a:spcBef>
                <a:spcPct val="0"/>
              </a:spcBef>
              <a:spcAft>
                <a:spcPct val="0"/>
              </a:spcAft>
              <a:buClrTx/>
              <a:buSzTx/>
              <a:buFontTx/>
              <a:buNone/>
              <a:tabLst/>
              <a:defRPr/>
            </a:pPr>
            <a:endParaRPr lang="de-DE" sz="2400" dirty="0" smtClean="0">
              <a:solidFill>
                <a:schemeClr val="bg2"/>
              </a:solidFill>
            </a:endParaRPr>
          </a:p>
          <a:p>
            <a:pPr marL="0" marR="0" indent="0" algn="l" defTabSz="457200" rtl="0" eaLnBrk="1" fontAlgn="base" latinLnBrk="0" hangingPunct="0">
              <a:lnSpc>
                <a:spcPts val="3500"/>
              </a:lnSpc>
              <a:spcBef>
                <a:spcPct val="0"/>
              </a:spcBef>
              <a:spcAft>
                <a:spcPct val="0"/>
              </a:spcAft>
              <a:buClrTx/>
              <a:buSzTx/>
              <a:buFontTx/>
              <a:buNone/>
              <a:tabLst/>
              <a:defRPr/>
            </a:pPr>
            <a:endParaRPr lang="de-DE" sz="2400" dirty="0" smtClean="0">
              <a:solidFill>
                <a:schemeClr val="bg2"/>
              </a:solidFill>
            </a:endParaRPr>
          </a:p>
          <a:p>
            <a:pPr marL="0" marR="0" indent="0" algn="l" defTabSz="457200" rtl="0" eaLnBrk="1" fontAlgn="base" latinLnBrk="0" hangingPunct="0">
              <a:lnSpc>
                <a:spcPts val="3500"/>
              </a:lnSpc>
              <a:spcBef>
                <a:spcPct val="0"/>
              </a:spcBef>
              <a:spcAft>
                <a:spcPct val="0"/>
              </a:spcAft>
              <a:buClrTx/>
              <a:buSzTx/>
              <a:buFontTx/>
              <a:buNone/>
              <a:tabLst/>
              <a:defRPr/>
            </a:pPr>
            <a:endParaRPr lang="de-DE" sz="2400" dirty="0" smtClean="0">
              <a:solidFill>
                <a:schemeClr val="bg2"/>
              </a:solidFill>
            </a:endParaRPr>
          </a:p>
          <a:p>
            <a:pPr marL="0" marR="0" indent="0" algn="l" defTabSz="457200" rtl="0" eaLnBrk="1" fontAlgn="base" latinLnBrk="0" hangingPunct="0">
              <a:lnSpc>
                <a:spcPts val="3500"/>
              </a:lnSpc>
              <a:spcBef>
                <a:spcPct val="0"/>
              </a:spcBef>
              <a:spcAft>
                <a:spcPct val="0"/>
              </a:spcAft>
              <a:buClrTx/>
              <a:buSzTx/>
              <a:buFontTx/>
              <a:buNone/>
              <a:tabLst/>
              <a:defRPr/>
            </a:pPr>
            <a:endParaRPr lang="de-DE" sz="2400" dirty="0" smtClean="0">
              <a:solidFill>
                <a:schemeClr val="bg2"/>
              </a:solidFill>
            </a:endParaRPr>
          </a:p>
          <a:p>
            <a:pPr marL="0" marR="0" indent="0" algn="l" defTabSz="457200" rtl="0" eaLnBrk="1" fontAlgn="base" latinLnBrk="0" hangingPunct="0">
              <a:lnSpc>
                <a:spcPts val="3500"/>
              </a:lnSpc>
              <a:spcBef>
                <a:spcPct val="0"/>
              </a:spcBef>
              <a:spcAft>
                <a:spcPct val="0"/>
              </a:spcAft>
              <a:buClrTx/>
              <a:buSzTx/>
              <a:buFontTx/>
              <a:buNone/>
              <a:tabLst/>
              <a:defRPr/>
            </a:pPr>
            <a:endParaRPr lang="de-DE" sz="2400" dirty="0" smtClean="0">
              <a:solidFill>
                <a:schemeClr val="bg2"/>
              </a:solidFill>
            </a:endParaRPr>
          </a:p>
          <a:p>
            <a:endParaRPr lang="de-DE" sz="2400" kern="1200" dirty="0" smtClean="0">
              <a:solidFill>
                <a:srgbClr val="572E2D"/>
              </a:solidFill>
              <a:latin typeface="Noteworthy Bold" charset="0"/>
              <a:ea typeface="Noteworthy Bold" charset="0"/>
              <a:cs typeface="Noteworthy Bold" charset="0"/>
              <a:sym typeface="Noteworthy Bold" charset="0"/>
            </a:endParaRPr>
          </a:p>
        </p:txBody>
      </p:sp>
    </p:spTree>
    <p:extLst>
      <p:ext uri="{BB962C8B-B14F-4D97-AF65-F5344CB8AC3E}">
        <p14:creationId xmlns:p14="http://schemas.microsoft.com/office/powerpoint/2010/main" val="18220322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2400" dirty="0" smtClean="0"/>
              <a:t>Portfolio-Name</a:t>
            </a:r>
          </a:p>
          <a:p>
            <a:r>
              <a:rPr lang="de-DE" sz="2400" dirty="0" smtClean="0">
                <a:solidFill>
                  <a:schemeClr val="bg2"/>
                </a:solidFill>
              </a:rPr>
              <a:t>Projekt-Tafel</a:t>
            </a:r>
          </a:p>
          <a:p>
            <a:r>
              <a:rPr lang="de-DE" sz="2400" dirty="0" smtClean="0">
                <a:solidFill>
                  <a:schemeClr val="bg2"/>
                </a:solidFill>
              </a:rPr>
              <a:t>Projekt-Tafel(Milestones R)</a:t>
            </a:r>
          </a:p>
          <a:p>
            <a:pPr marL="0" marR="0" indent="0" algn="l" defTabSz="457200" rtl="0" eaLnBrk="1" fontAlgn="base" latinLnBrk="0" hangingPunct="0">
              <a:lnSpc>
                <a:spcPts val="3500"/>
              </a:lnSpc>
              <a:spcBef>
                <a:spcPct val="0"/>
              </a:spcBef>
              <a:spcAft>
                <a:spcPct val="0"/>
              </a:spcAft>
              <a:buClrTx/>
              <a:buSzTx/>
              <a:buFontTx/>
              <a:buNone/>
              <a:tabLst/>
              <a:defRPr/>
            </a:pPr>
            <a:r>
              <a:rPr lang="de-DE" sz="2400" dirty="0" smtClean="0">
                <a:solidFill>
                  <a:schemeClr val="bg2"/>
                </a:solidFill>
              </a:rPr>
              <a:t>Projekt-Tafel(Milestones GR)</a:t>
            </a:r>
          </a:p>
          <a:p>
            <a:endParaRPr lang="de-DE" sz="2400" dirty="0" smtClean="0"/>
          </a:p>
          <a:p>
            <a:r>
              <a:rPr lang="de-DE" sz="2400" kern="1200" dirty="0" smtClean="0">
                <a:solidFill>
                  <a:srgbClr val="572E2D"/>
                </a:solidFill>
                <a:latin typeface="Noteworthy Bold" charset="0"/>
                <a:ea typeface="Noteworthy Bold" charset="0"/>
                <a:cs typeface="Noteworthy Bold" charset="0"/>
                <a:sym typeface="Noteworthy Bold" charset="0"/>
              </a:rPr>
              <a:t>Ergebnis</a:t>
            </a:r>
          </a:p>
          <a:p>
            <a:r>
              <a:rPr lang="de-DE" sz="2400" dirty="0" smtClean="0">
                <a:solidFill>
                  <a:schemeClr val="bg2"/>
                </a:solidFill>
                <a:sym typeface="Noteworthy Bold" charset="0"/>
              </a:rPr>
              <a:t>Ergebnis Verbesserungspotential</a:t>
            </a:r>
          </a:p>
          <a:p>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Strategie/Risiko/Marge</a:t>
            </a:r>
          </a:p>
          <a:p>
            <a:endPar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endParaRPr>
          </a:p>
          <a:p>
            <a:r>
              <a:rPr lang="de-DE" sz="2400" kern="1200" dirty="0" smtClean="0">
                <a:solidFill>
                  <a:srgbClr val="572E2D"/>
                </a:solidFill>
                <a:latin typeface="Noteworthy Bold" charset="0"/>
                <a:ea typeface="Noteworthy Bold" charset="0"/>
                <a:cs typeface="Noteworthy Bold" charset="0"/>
                <a:sym typeface="Noteworthy Bold" charset="0"/>
              </a:rPr>
              <a:t>Übersicht Auslastung</a:t>
            </a:r>
          </a:p>
          <a:p>
            <a:r>
              <a:rPr lang="de-DE" sz="2400" kern="1200" dirty="0" smtClean="0">
                <a:solidFill>
                  <a:srgbClr val="572E2D"/>
                </a:solidFill>
                <a:latin typeface="Noteworthy Bold" charset="0"/>
                <a:ea typeface="Noteworthy Bold" charset="0"/>
                <a:cs typeface="Noteworthy Bold" charset="0"/>
                <a:sym typeface="Noteworthy Bold" charset="0"/>
              </a:rPr>
              <a:t>Details Unterauslastung</a:t>
            </a:r>
          </a:p>
          <a:p>
            <a:r>
              <a:rPr lang="de-DE" sz="2400" kern="1200" dirty="0" smtClean="0">
                <a:solidFill>
                  <a:srgbClr val="572E2D"/>
                </a:solidFill>
                <a:latin typeface="Noteworthy Bold" charset="0"/>
                <a:ea typeface="Noteworthy Bold" charset="0"/>
                <a:cs typeface="Noteworthy Bold" charset="0"/>
                <a:sym typeface="Noteworthy Bold" charset="0"/>
              </a:rPr>
              <a:t>Details Überauslastung</a:t>
            </a:r>
            <a:endPar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endParaRPr>
          </a:p>
          <a:p>
            <a:endPar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endParaRPr>
          </a:p>
          <a:p>
            <a:r>
              <a:rPr lang="de-DE" sz="2400" kern="1200" dirty="0" smtClean="0">
                <a:solidFill>
                  <a:srgbClr val="572E2D"/>
                </a:solidFill>
                <a:latin typeface="Noteworthy Bold" charset="0"/>
                <a:ea typeface="Noteworthy Bold" charset="0"/>
                <a:cs typeface="Noteworthy Bold" charset="0"/>
                <a:sym typeface="Noteworthy Bold" charset="0"/>
              </a:rPr>
              <a:t>Bisherige Zielerreichung</a:t>
            </a:r>
          </a:p>
          <a:p>
            <a:r>
              <a:rPr lang="de-DE" sz="2400" kern="1200" dirty="0" smtClean="0">
                <a:solidFill>
                  <a:srgbClr val="572E2D"/>
                </a:solidFill>
                <a:latin typeface="Noteworthy Bold" charset="0"/>
                <a:ea typeface="Noteworthy Bold" charset="0"/>
                <a:cs typeface="Noteworthy Bold" charset="0"/>
                <a:sym typeface="Noteworthy Bold" charset="0"/>
              </a:rPr>
              <a:t>Prognose Zielerreichung</a:t>
            </a:r>
            <a:endPar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endParaRPr>
          </a:p>
          <a:p>
            <a:endPar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endParaRPr>
          </a:p>
          <a:p>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Personalkosten </a:t>
            </a:r>
          </a:p>
          <a:p>
            <a:pPr marL="0" marR="0" indent="0" algn="l" defTabSz="457200" rtl="0" eaLnBrk="1" fontAlgn="base" latinLnBrk="0" hangingPunct="0">
              <a:lnSpc>
                <a:spcPts val="3500"/>
              </a:lnSpc>
              <a:spcBef>
                <a:spcPct val="0"/>
              </a:spcBef>
              <a:spcAft>
                <a:spcPct val="0"/>
              </a:spcAft>
              <a:buClrTx/>
              <a:buSzTx/>
              <a:buFontTx/>
              <a:buNone/>
              <a:tabLst/>
              <a:defRPr/>
            </a:pPr>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Sonstige Kosten</a:t>
            </a:r>
          </a:p>
          <a:p>
            <a:pPr marL="0" marR="0" indent="0" algn="l" defTabSz="457200" rtl="0" eaLnBrk="1" fontAlgn="base" latinLnBrk="0" hangingPunct="0">
              <a:lnSpc>
                <a:spcPts val="3500"/>
              </a:lnSpc>
              <a:spcBef>
                <a:spcPct val="0"/>
              </a:spcBef>
              <a:spcAft>
                <a:spcPct val="0"/>
              </a:spcAft>
              <a:buClrTx/>
              <a:buSzTx/>
              <a:buFontTx/>
              <a:buNone/>
              <a:tabLst/>
              <a:defRPr/>
            </a:pPr>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Gesamtkosten</a:t>
            </a:r>
          </a:p>
          <a:p>
            <a:pPr marL="0" marR="0" indent="0" algn="l" defTabSz="457200" rtl="0" eaLnBrk="1" fontAlgn="base" latinLnBrk="0" hangingPunct="0">
              <a:lnSpc>
                <a:spcPts val="3500"/>
              </a:lnSpc>
              <a:spcBef>
                <a:spcPct val="0"/>
              </a:spcBef>
              <a:spcAft>
                <a:spcPct val="0"/>
              </a:spcAft>
              <a:buClrTx/>
              <a:buSzTx/>
              <a:buFontTx/>
              <a:buNone/>
              <a:tabLst/>
              <a:defRPr/>
            </a:pPr>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Rolle(…)</a:t>
            </a:r>
          </a:p>
          <a:p>
            <a:pPr marL="0" marR="0" indent="0" algn="l" defTabSz="457200" rtl="0" eaLnBrk="1" fontAlgn="base" latinLnBrk="0" hangingPunct="0">
              <a:lnSpc>
                <a:spcPts val="3500"/>
              </a:lnSpc>
              <a:spcBef>
                <a:spcPct val="0"/>
              </a:spcBef>
              <a:spcAft>
                <a:spcPct val="0"/>
              </a:spcAft>
              <a:buClrTx/>
              <a:buSzTx/>
              <a:buFontTx/>
              <a:buNone/>
              <a:tabLst/>
              <a:defRPr/>
            </a:pPr>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Kostenart(…) </a:t>
            </a:r>
          </a:p>
          <a:p>
            <a:endParaRPr lang="de-DE" sz="2400" kern="1200" dirty="0" smtClean="0">
              <a:solidFill>
                <a:srgbClr val="572E2D"/>
              </a:solidFill>
              <a:latin typeface="Noteworthy Bold" charset="0"/>
              <a:ea typeface="Noteworthy Bold" charset="0"/>
              <a:cs typeface="Noteworthy Bold" charset="0"/>
              <a:sym typeface="Noteworthy Bold" charset="0"/>
            </a:endParaRPr>
          </a:p>
          <a:p>
            <a:r>
              <a:rPr lang="de-DE" sz="2400" kern="1200" dirty="0" smtClean="0">
                <a:solidFill>
                  <a:srgbClr val="572E2D"/>
                </a:solidFill>
                <a:latin typeface="Noteworthy Bold" charset="0"/>
                <a:ea typeface="Noteworthy Bold" charset="0"/>
                <a:cs typeface="Noteworthy Bold" charset="0"/>
                <a:sym typeface="Noteworthy Bold" charset="0"/>
              </a:rPr>
              <a:t>Stand:</a:t>
            </a:r>
          </a:p>
          <a:p>
            <a:r>
              <a:rPr lang="de-DE" sz="2400" dirty="0" smtClean="0">
                <a:solidFill>
                  <a:schemeClr val="bg2"/>
                </a:solidFill>
              </a:rPr>
              <a:t>Zeitraum</a:t>
            </a:r>
            <a:r>
              <a:rPr lang="de-DE" sz="2400" kern="1200" dirty="0" smtClean="0">
                <a:solidFill>
                  <a:srgbClr val="572E2D"/>
                </a:solidFill>
                <a:latin typeface="Noteworthy Bold" charset="0"/>
                <a:ea typeface="Noteworthy Bold" charset="0"/>
                <a:cs typeface="Noteworthy Bold" charset="0"/>
                <a:sym typeface="Noteworthy Bold" charset="0"/>
              </a:rPr>
              <a:t>:</a:t>
            </a:r>
          </a:p>
          <a:p>
            <a:pPr marL="0" marR="0" indent="0" algn="l" defTabSz="457200" rtl="0" eaLnBrk="1" fontAlgn="base" latinLnBrk="0" hangingPunct="0">
              <a:lnSpc>
                <a:spcPts val="3500"/>
              </a:lnSpc>
              <a:spcBef>
                <a:spcPct val="0"/>
              </a:spcBef>
              <a:spcAft>
                <a:spcPct val="0"/>
              </a:spcAft>
              <a:buClrTx/>
              <a:buSzTx/>
              <a:buFontTx/>
              <a:buNone/>
              <a:tabLst/>
              <a:defRPr/>
            </a:pPr>
            <a:r>
              <a:rPr lang="de-DE" sz="2400" dirty="0" smtClean="0">
                <a:solidFill>
                  <a:schemeClr val="bg2"/>
                </a:solidFill>
                <a:sym typeface="Noteworthy Bold" charset="0"/>
              </a:rPr>
              <a:t>Phase (…)</a:t>
            </a:r>
          </a:p>
          <a:p>
            <a:pPr marL="0" marR="0" indent="0" algn="l" defTabSz="457200" rtl="0" eaLnBrk="1" fontAlgn="base" latinLnBrk="0" hangingPunct="0">
              <a:lnSpc>
                <a:spcPts val="3500"/>
              </a:lnSpc>
              <a:spcBef>
                <a:spcPct val="0"/>
              </a:spcBef>
              <a:spcAft>
                <a:spcPct val="0"/>
              </a:spcAft>
              <a:buClrTx/>
              <a:buSzTx/>
              <a:buFontTx/>
              <a:buNone/>
              <a:tabLst/>
              <a:defRPr/>
            </a:pPr>
            <a:r>
              <a:rPr lang="de-DE" sz="2400" dirty="0" smtClean="0">
                <a:solidFill>
                  <a:schemeClr val="bg2"/>
                </a:solidFill>
                <a:sym typeface="Noteworthy Bold" charset="0"/>
              </a:rPr>
              <a:t>Rolle (…)</a:t>
            </a:r>
          </a:p>
          <a:p>
            <a:pPr marL="0" marR="0" indent="0" algn="l" defTabSz="457200" rtl="0" eaLnBrk="1" fontAlgn="base" latinLnBrk="0" hangingPunct="0">
              <a:lnSpc>
                <a:spcPts val="3500"/>
              </a:lnSpc>
              <a:spcBef>
                <a:spcPct val="0"/>
              </a:spcBef>
              <a:spcAft>
                <a:spcPct val="0"/>
              </a:spcAft>
              <a:buClrTx/>
              <a:buSzTx/>
              <a:buFontTx/>
              <a:buNone/>
              <a:tabLst/>
              <a:defRPr/>
            </a:pPr>
            <a:r>
              <a:rPr lang="de-DE" sz="2400" dirty="0" smtClean="0">
                <a:solidFill>
                  <a:schemeClr val="bg2"/>
                </a:solidFill>
                <a:sym typeface="Noteworthy Bold" charset="0"/>
              </a:rPr>
              <a:t>Kostenart (…)</a:t>
            </a:r>
          </a:p>
          <a:p>
            <a:pPr marL="0" marR="0" indent="0" algn="l" defTabSz="457200" rtl="0" eaLnBrk="1" fontAlgn="base" latinLnBrk="0" hangingPunct="0">
              <a:lnSpc>
                <a:spcPts val="3500"/>
              </a:lnSpc>
              <a:spcBef>
                <a:spcPct val="0"/>
              </a:spcBef>
              <a:spcAft>
                <a:spcPct val="0"/>
              </a:spcAft>
              <a:buClrTx/>
              <a:buSzTx/>
              <a:buFontTx/>
              <a:buNone/>
              <a:tabLst/>
              <a:defRPr/>
            </a:pPr>
            <a:endParaRPr lang="de-DE" sz="2400" dirty="0" smtClean="0">
              <a:solidFill>
                <a:schemeClr val="bg2"/>
              </a:solidFill>
            </a:endParaRPr>
          </a:p>
          <a:p>
            <a:pPr marL="0" marR="0" indent="0" algn="l" defTabSz="457200" rtl="0" eaLnBrk="1" fontAlgn="base" latinLnBrk="0" hangingPunct="0">
              <a:lnSpc>
                <a:spcPts val="3500"/>
              </a:lnSpc>
              <a:spcBef>
                <a:spcPct val="0"/>
              </a:spcBef>
              <a:spcAft>
                <a:spcPct val="0"/>
              </a:spcAft>
              <a:buClrTx/>
              <a:buSzTx/>
              <a:buFontTx/>
              <a:buNone/>
              <a:tabLst/>
              <a:defRPr/>
            </a:pPr>
            <a:endParaRPr lang="de-DE" sz="2400" dirty="0" smtClean="0">
              <a:solidFill>
                <a:schemeClr val="bg2"/>
              </a:solidFill>
            </a:endParaRPr>
          </a:p>
          <a:p>
            <a:pPr marL="0" marR="0" indent="0" algn="l" defTabSz="457200" rtl="0" eaLnBrk="1" fontAlgn="base" latinLnBrk="0" hangingPunct="0">
              <a:lnSpc>
                <a:spcPts val="3500"/>
              </a:lnSpc>
              <a:spcBef>
                <a:spcPct val="0"/>
              </a:spcBef>
              <a:spcAft>
                <a:spcPct val="0"/>
              </a:spcAft>
              <a:buClrTx/>
              <a:buSzTx/>
              <a:buFontTx/>
              <a:buNone/>
              <a:tabLst/>
              <a:defRPr/>
            </a:pPr>
            <a:endParaRPr lang="de-DE" sz="2400" dirty="0" smtClean="0">
              <a:solidFill>
                <a:schemeClr val="bg2"/>
              </a:solidFill>
            </a:endParaRPr>
          </a:p>
          <a:p>
            <a:pPr marL="0" marR="0" indent="0" algn="l" defTabSz="457200" rtl="0" eaLnBrk="1" fontAlgn="base" latinLnBrk="0" hangingPunct="0">
              <a:lnSpc>
                <a:spcPts val="3500"/>
              </a:lnSpc>
              <a:spcBef>
                <a:spcPct val="0"/>
              </a:spcBef>
              <a:spcAft>
                <a:spcPct val="0"/>
              </a:spcAft>
              <a:buClrTx/>
              <a:buSzTx/>
              <a:buFontTx/>
              <a:buNone/>
              <a:tabLst/>
              <a:defRPr/>
            </a:pPr>
            <a:endParaRPr lang="de-DE" sz="2400" dirty="0" smtClean="0">
              <a:solidFill>
                <a:schemeClr val="bg2"/>
              </a:solidFill>
            </a:endParaRPr>
          </a:p>
          <a:p>
            <a:pPr marL="0" marR="0" indent="0" algn="l" defTabSz="457200" rtl="0" eaLnBrk="1" fontAlgn="base" latinLnBrk="0" hangingPunct="0">
              <a:lnSpc>
                <a:spcPts val="3500"/>
              </a:lnSpc>
              <a:spcBef>
                <a:spcPct val="0"/>
              </a:spcBef>
              <a:spcAft>
                <a:spcPct val="0"/>
              </a:spcAft>
              <a:buClrTx/>
              <a:buSzTx/>
              <a:buFontTx/>
              <a:buNone/>
              <a:tabLst/>
              <a:defRPr/>
            </a:pPr>
            <a:endParaRPr lang="de-DE" sz="2400" dirty="0" smtClean="0">
              <a:solidFill>
                <a:schemeClr val="bg2"/>
              </a:solidFill>
            </a:endParaRPr>
          </a:p>
          <a:p>
            <a:pPr marL="0" marR="0" indent="0" algn="l" defTabSz="457200" rtl="0" eaLnBrk="1" fontAlgn="base" latinLnBrk="0" hangingPunct="0">
              <a:lnSpc>
                <a:spcPts val="3500"/>
              </a:lnSpc>
              <a:spcBef>
                <a:spcPct val="0"/>
              </a:spcBef>
              <a:spcAft>
                <a:spcPct val="0"/>
              </a:spcAft>
              <a:buClrTx/>
              <a:buSzTx/>
              <a:buFontTx/>
              <a:buNone/>
              <a:tabLst/>
              <a:defRPr/>
            </a:pPr>
            <a:endParaRPr lang="de-DE" sz="2400" dirty="0" smtClean="0">
              <a:solidFill>
                <a:schemeClr val="bg2"/>
              </a:solidFill>
            </a:endParaRPr>
          </a:p>
          <a:p>
            <a:pPr marL="0" marR="0" indent="0" algn="l" defTabSz="457200" rtl="0" eaLnBrk="1" fontAlgn="base" latinLnBrk="0" hangingPunct="0">
              <a:lnSpc>
                <a:spcPts val="3500"/>
              </a:lnSpc>
              <a:spcBef>
                <a:spcPct val="0"/>
              </a:spcBef>
              <a:spcAft>
                <a:spcPct val="0"/>
              </a:spcAft>
              <a:buClrTx/>
              <a:buSzTx/>
              <a:buFontTx/>
              <a:buNone/>
              <a:tabLst/>
              <a:defRPr/>
            </a:pPr>
            <a:endParaRPr lang="de-DE" sz="2400" dirty="0" smtClean="0">
              <a:solidFill>
                <a:schemeClr val="bg2"/>
              </a:solidFill>
            </a:endParaRPr>
          </a:p>
          <a:p>
            <a:endParaRPr lang="de-DE" sz="2400" kern="1200" dirty="0" smtClean="0">
              <a:solidFill>
                <a:srgbClr val="572E2D"/>
              </a:solidFill>
              <a:latin typeface="Noteworthy Bold" charset="0"/>
              <a:ea typeface="Noteworthy Bold" charset="0"/>
              <a:cs typeface="Noteworthy Bold" charset="0"/>
              <a:sym typeface="Noteworthy Bold" charset="0"/>
            </a:endParaRPr>
          </a:p>
        </p:txBody>
      </p:sp>
    </p:spTree>
    <p:extLst>
      <p:ext uri="{BB962C8B-B14F-4D97-AF65-F5344CB8AC3E}">
        <p14:creationId xmlns:p14="http://schemas.microsoft.com/office/powerpoint/2010/main" val="18220322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2400" dirty="0" smtClean="0"/>
              <a:t>Portfolio-Name</a:t>
            </a:r>
          </a:p>
          <a:p>
            <a:r>
              <a:rPr lang="de-DE" sz="2400" dirty="0" smtClean="0">
                <a:solidFill>
                  <a:schemeClr val="bg2"/>
                </a:solidFill>
              </a:rPr>
              <a:t>Projekt-Tafel</a:t>
            </a:r>
          </a:p>
          <a:p>
            <a:r>
              <a:rPr lang="de-DE" sz="2400" dirty="0" smtClean="0">
                <a:solidFill>
                  <a:schemeClr val="bg2"/>
                </a:solidFill>
              </a:rPr>
              <a:t>Projekt-Tafel(Milestones R)</a:t>
            </a:r>
          </a:p>
          <a:p>
            <a:pPr marL="0" marR="0" indent="0" algn="l" defTabSz="457200" rtl="0" eaLnBrk="1" fontAlgn="base" latinLnBrk="0" hangingPunct="0">
              <a:lnSpc>
                <a:spcPts val="3500"/>
              </a:lnSpc>
              <a:spcBef>
                <a:spcPct val="0"/>
              </a:spcBef>
              <a:spcAft>
                <a:spcPct val="0"/>
              </a:spcAft>
              <a:buClrTx/>
              <a:buSzTx/>
              <a:buFontTx/>
              <a:buNone/>
              <a:tabLst/>
              <a:defRPr/>
            </a:pPr>
            <a:r>
              <a:rPr lang="de-DE" sz="2400" dirty="0" smtClean="0">
                <a:solidFill>
                  <a:schemeClr val="bg2"/>
                </a:solidFill>
              </a:rPr>
              <a:t>Projekt-Tafel(Milestones GR)</a:t>
            </a:r>
          </a:p>
          <a:p>
            <a:r>
              <a:rPr lang="de-DE" sz="2400" kern="1200" dirty="0" smtClean="0">
                <a:solidFill>
                  <a:srgbClr val="572E2D"/>
                </a:solidFill>
                <a:latin typeface="Noteworthy Bold" charset="0"/>
                <a:ea typeface="Noteworthy Bold" charset="0"/>
                <a:cs typeface="Noteworthy Bold" charset="0"/>
                <a:sym typeface="Noteworthy Bold" charset="0"/>
              </a:rPr>
              <a:t>Ergebnis</a:t>
            </a:r>
          </a:p>
          <a:p>
            <a:r>
              <a:rPr lang="de-DE" sz="2400" dirty="0" smtClean="0">
                <a:solidFill>
                  <a:schemeClr val="bg2"/>
                </a:solidFill>
                <a:sym typeface="Noteworthy Bold" charset="0"/>
              </a:rPr>
              <a:t>Ergebnis Verbesserungspotential</a:t>
            </a:r>
          </a:p>
          <a:p>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Strategie/Risiko/Marge</a:t>
            </a:r>
          </a:p>
          <a:p>
            <a:endPar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endParaRPr>
          </a:p>
          <a:p>
            <a:r>
              <a:rPr lang="de-DE" sz="2400" kern="1200" dirty="0" smtClean="0">
                <a:solidFill>
                  <a:srgbClr val="572E2D"/>
                </a:solidFill>
                <a:latin typeface="Noteworthy Bold" charset="0"/>
                <a:ea typeface="Noteworthy Bold" charset="0"/>
                <a:cs typeface="Noteworthy Bold" charset="0"/>
                <a:sym typeface="Noteworthy Bold" charset="0"/>
              </a:rPr>
              <a:t>Übersicht Auslastung</a:t>
            </a:r>
          </a:p>
          <a:p>
            <a:r>
              <a:rPr lang="de-DE" sz="2400" kern="1200" dirty="0" smtClean="0">
                <a:solidFill>
                  <a:srgbClr val="572E2D"/>
                </a:solidFill>
                <a:latin typeface="Noteworthy Bold" charset="0"/>
                <a:ea typeface="Noteworthy Bold" charset="0"/>
                <a:cs typeface="Noteworthy Bold" charset="0"/>
                <a:sym typeface="Noteworthy Bold" charset="0"/>
              </a:rPr>
              <a:t>Details Unterauslastung</a:t>
            </a:r>
          </a:p>
          <a:p>
            <a:r>
              <a:rPr lang="de-DE" sz="2400" kern="1200" dirty="0" smtClean="0">
                <a:solidFill>
                  <a:srgbClr val="572E2D"/>
                </a:solidFill>
                <a:latin typeface="Noteworthy Bold" charset="0"/>
                <a:ea typeface="Noteworthy Bold" charset="0"/>
                <a:cs typeface="Noteworthy Bold" charset="0"/>
                <a:sym typeface="Noteworthy Bold" charset="0"/>
              </a:rPr>
              <a:t>Details Überauslastung</a:t>
            </a:r>
            <a:endPar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endParaRPr>
          </a:p>
          <a:p>
            <a:endPar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endParaRPr>
          </a:p>
          <a:p>
            <a:r>
              <a:rPr lang="de-DE" sz="2400" kern="1200" dirty="0" smtClean="0">
                <a:solidFill>
                  <a:srgbClr val="572E2D"/>
                </a:solidFill>
                <a:latin typeface="Noteworthy Bold" charset="0"/>
                <a:ea typeface="Noteworthy Bold" charset="0"/>
                <a:cs typeface="Noteworthy Bold" charset="0"/>
                <a:sym typeface="Noteworthy Bold" charset="0"/>
              </a:rPr>
              <a:t>Bisherige Zielerreichung</a:t>
            </a:r>
          </a:p>
          <a:p>
            <a:r>
              <a:rPr lang="de-DE" sz="2400" kern="1200" dirty="0" smtClean="0">
                <a:solidFill>
                  <a:srgbClr val="572E2D"/>
                </a:solidFill>
                <a:latin typeface="Noteworthy Bold" charset="0"/>
                <a:ea typeface="Noteworthy Bold" charset="0"/>
                <a:cs typeface="Noteworthy Bold" charset="0"/>
                <a:sym typeface="Noteworthy Bold" charset="0"/>
              </a:rPr>
              <a:t>Prognose Zielerreichung</a:t>
            </a:r>
            <a:endPar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endParaRPr>
          </a:p>
          <a:p>
            <a:endPar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endParaRPr>
          </a:p>
          <a:p>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Personalkosten </a:t>
            </a:r>
          </a:p>
          <a:p>
            <a:pPr marL="0" marR="0" indent="0" algn="l" defTabSz="457200" rtl="0" eaLnBrk="1" fontAlgn="base" latinLnBrk="0" hangingPunct="0">
              <a:lnSpc>
                <a:spcPts val="3500"/>
              </a:lnSpc>
              <a:spcBef>
                <a:spcPct val="0"/>
              </a:spcBef>
              <a:spcAft>
                <a:spcPct val="0"/>
              </a:spcAft>
              <a:buClrTx/>
              <a:buSzTx/>
              <a:buFontTx/>
              <a:buNone/>
              <a:tabLst/>
              <a:defRPr/>
            </a:pPr>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Sonstige Kosten</a:t>
            </a:r>
          </a:p>
          <a:p>
            <a:pPr marL="0" marR="0" indent="0" algn="l" defTabSz="457200" rtl="0" eaLnBrk="1" fontAlgn="base" latinLnBrk="0" hangingPunct="0">
              <a:lnSpc>
                <a:spcPts val="3500"/>
              </a:lnSpc>
              <a:spcBef>
                <a:spcPct val="0"/>
              </a:spcBef>
              <a:spcAft>
                <a:spcPct val="0"/>
              </a:spcAft>
              <a:buClrTx/>
              <a:buSzTx/>
              <a:buFontTx/>
              <a:buNone/>
              <a:tabLst/>
              <a:defRPr/>
            </a:pPr>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Gesamtkosten</a:t>
            </a:r>
          </a:p>
          <a:p>
            <a:pPr marL="0" marR="0" indent="0" algn="l" defTabSz="457200" rtl="0" eaLnBrk="1" fontAlgn="base" latinLnBrk="0" hangingPunct="0">
              <a:lnSpc>
                <a:spcPts val="3500"/>
              </a:lnSpc>
              <a:spcBef>
                <a:spcPct val="0"/>
              </a:spcBef>
              <a:spcAft>
                <a:spcPct val="0"/>
              </a:spcAft>
              <a:buClrTx/>
              <a:buSzTx/>
              <a:buFontTx/>
              <a:buNone/>
              <a:tabLst/>
              <a:defRPr/>
            </a:pPr>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Rolle(…)</a:t>
            </a:r>
          </a:p>
          <a:p>
            <a:pPr marL="0" marR="0" indent="0" algn="l" defTabSz="457200" rtl="0" eaLnBrk="1" fontAlgn="base" latinLnBrk="0" hangingPunct="0">
              <a:lnSpc>
                <a:spcPts val="3500"/>
              </a:lnSpc>
              <a:spcBef>
                <a:spcPct val="0"/>
              </a:spcBef>
              <a:spcAft>
                <a:spcPct val="0"/>
              </a:spcAft>
              <a:buClrTx/>
              <a:buSzTx/>
              <a:buFontTx/>
              <a:buNone/>
              <a:tabLst/>
              <a:defRPr/>
            </a:pPr>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Kostenart(…) </a:t>
            </a:r>
          </a:p>
          <a:p>
            <a:endParaRPr lang="de-DE" sz="2400" kern="1200" dirty="0" smtClean="0">
              <a:solidFill>
                <a:srgbClr val="572E2D"/>
              </a:solidFill>
              <a:latin typeface="Noteworthy Bold" charset="0"/>
              <a:ea typeface="Noteworthy Bold" charset="0"/>
              <a:cs typeface="Noteworthy Bold" charset="0"/>
              <a:sym typeface="Noteworthy Bold" charset="0"/>
            </a:endParaRPr>
          </a:p>
          <a:p>
            <a:r>
              <a:rPr lang="de-DE" sz="2400" kern="1200" dirty="0" smtClean="0">
                <a:solidFill>
                  <a:srgbClr val="572E2D"/>
                </a:solidFill>
                <a:latin typeface="Noteworthy Bold" charset="0"/>
                <a:ea typeface="Noteworthy Bold" charset="0"/>
                <a:cs typeface="Noteworthy Bold" charset="0"/>
                <a:sym typeface="Noteworthy Bold" charset="0"/>
              </a:rPr>
              <a:t>Stand:</a:t>
            </a:r>
          </a:p>
          <a:p>
            <a:r>
              <a:rPr lang="de-DE" sz="2400" dirty="0" smtClean="0">
                <a:solidFill>
                  <a:schemeClr val="bg2"/>
                </a:solidFill>
              </a:rPr>
              <a:t>Zeitraum</a:t>
            </a:r>
            <a:r>
              <a:rPr lang="de-DE" sz="2400" kern="1200" dirty="0" smtClean="0">
                <a:solidFill>
                  <a:srgbClr val="572E2D"/>
                </a:solidFill>
                <a:latin typeface="Noteworthy Bold" charset="0"/>
                <a:ea typeface="Noteworthy Bold" charset="0"/>
                <a:cs typeface="Noteworthy Bold" charset="0"/>
                <a:sym typeface="Noteworthy Bold" charset="0"/>
              </a:rPr>
              <a:t>:</a:t>
            </a:r>
          </a:p>
          <a:p>
            <a:pPr marL="0" marR="0" indent="0" algn="l" defTabSz="457200" rtl="0" eaLnBrk="1" fontAlgn="base" latinLnBrk="0" hangingPunct="0">
              <a:lnSpc>
                <a:spcPts val="3500"/>
              </a:lnSpc>
              <a:spcBef>
                <a:spcPct val="0"/>
              </a:spcBef>
              <a:spcAft>
                <a:spcPct val="0"/>
              </a:spcAft>
              <a:buClrTx/>
              <a:buSzTx/>
              <a:buFontTx/>
              <a:buNone/>
              <a:tabLst/>
              <a:defRPr/>
            </a:pPr>
            <a:r>
              <a:rPr lang="de-DE" sz="2400" dirty="0" smtClean="0">
                <a:solidFill>
                  <a:schemeClr val="bg2"/>
                </a:solidFill>
                <a:sym typeface="Noteworthy Bold" charset="0"/>
              </a:rPr>
              <a:t>Phase (…)</a:t>
            </a:r>
          </a:p>
          <a:p>
            <a:pPr marL="0" marR="0" indent="0" algn="l" defTabSz="457200" rtl="0" eaLnBrk="1" fontAlgn="base" latinLnBrk="0" hangingPunct="0">
              <a:lnSpc>
                <a:spcPts val="3500"/>
              </a:lnSpc>
              <a:spcBef>
                <a:spcPct val="0"/>
              </a:spcBef>
              <a:spcAft>
                <a:spcPct val="0"/>
              </a:spcAft>
              <a:buClrTx/>
              <a:buSzTx/>
              <a:buFontTx/>
              <a:buNone/>
              <a:tabLst/>
              <a:defRPr/>
            </a:pPr>
            <a:r>
              <a:rPr lang="de-DE" sz="2400" dirty="0" smtClean="0">
                <a:solidFill>
                  <a:schemeClr val="bg2"/>
                </a:solidFill>
                <a:sym typeface="Noteworthy Bold" charset="0"/>
              </a:rPr>
              <a:t>Rolle (…)</a:t>
            </a:r>
          </a:p>
          <a:p>
            <a:pPr marL="0" marR="0" indent="0" algn="l" defTabSz="457200" rtl="0" eaLnBrk="1" fontAlgn="base" latinLnBrk="0" hangingPunct="0">
              <a:lnSpc>
                <a:spcPts val="3500"/>
              </a:lnSpc>
              <a:spcBef>
                <a:spcPct val="0"/>
              </a:spcBef>
              <a:spcAft>
                <a:spcPct val="0"/>
              </a:spcAft>
              <a:buClrTx/>
              <a:buSzTx/>
              <a:buFontTx/>
              <a:buNone/>
              <a:tabLst/>
              <a:defRPr/>
            </a:pPr>
            <a:r>
              <a:rPr lang="de-DE" sz="2400" dirty="0" smtClean="0">
                <a:solidFill>
                  <a:schemeClr val="bg2"/>
                </a:solidFill>
                <a:sym typeface="Noteworthy Bold" charset="0"/>
              </a:rPr>
              <a:t>Kostenart (…)</a:t>
            </a:r>
          </a:p>
          <a:p>
            <a:pPr marL="0" marR="0" indent="0" algn="l" defTabSz="457200" rtl="0" eaLnBrk="1" fontAlgn="base" latinLnBrk="0" hangingPunct="0">
              <a:lnSpc>
                <a:spcPts val="3500"/>
              </a:lnSpc>
              <a:spcBef>
                <a:spcPct val="0"/>
              </a:spcBef>
              <a:spcAft>
                <a:spcPct val="0"/>
              </a:spcAft>
              <a:buClrTx/>
              <a:buSzTx/>
              <a:buFontTx/>
              <a:buNone/>
              <a:tabLst/>
              <a:defRPr/>
            </a:pPr>
            <a:endParaRPr lang="de-DE" sz="2400" dirty="0" smtClean="0">
              <a:solidFill>
                <a:schemeClr val="bg2"/>
              </a:solidFill>
            </a:endParaRPr>
          </a:p>
          <a:p>
            <a:pPr marL="0" marR="0" indent="0" algn="l" defTabSz="457200" rtl="0" eaLnBrk="1" fontAlgn="base" latinLnBrk="0" hangingPunct="0">
              <a:lnSpc>
                <a:spcPts val="3500"/>
              </a:lnSpc>
              <a:spcBef>
                <a:spcPct val="0"/>
              </a:spcBef>
              <a:spcAft>
                <a:spcPct val="0"/>
              </a:spcAft>
              <a:buClrTx/>
              <a:buSzTx/>
              <a:buFontTx/>
              <a:buNone/>
              <a:tabLst/>
              <a:defRPr/>
            </a:pPr>
            <a:endParaRPr lang="de-DE" sz="2400" dirty="0" smtClean="0">
              <a:solidFill>
                <a:schemeClr val="bg2"/>
              </a:solidFill>
            </a:endParaRPr>
          </a:p>
          <a:p>
            <a:pPr marL="0" marR="0" indent="0" algn="l" defTabSz="457200" rtl="0" eaLnBrk="1" fontAlgn="base" latinLnBrk="0" hangingPunct="0">
              <a:lnSpc>
                <a:spcPts val="3500"/>
              </a:lnSpc>
              <a:spcBef>
                <a:spcPct val="0"/>
              </a:spcBef>
              <a:spcAft>
                <a:spcPct val="0"/>
              </a:spcAft>
              <a:buClrTx/>
              <a:buSzTx/>
              <a:buFontTx/>
              <a:buNone/>
              <a:tabLst/>
              <a:defRPr/>
            </a:pPr>
            <a:endParaRPr lang="de-DE" sz="2400" dirty="0" smtClean="0">
              <a:solidFill>
                <a:schemeClr val="bg2"/>
              </a:solidFill>
            </a:endParaRPr>
          </a:p>
          <a:p>
            <a:pPr marL="0" marR="0" indent="0" algn="l" defTabSz="457200" rtl="0" eaLnBrk="1" fontAlgn="base" latinLnBrk="0" hangingPunct="0">
              <a:lnSpc>
                <a:spcPts val="3500"/>
              </a:lnSpc>
              <a:spcBef>
                <a:spcPct val="0"/>
              </a:spcBef>
              <a:spcAft>
                <a:spcPct val="0"/>
              </a:spcAft>
              <a:buClrTx/>
              <a:buSzTx/>
              <a:buFontTx/>
              <a:buNone/>
              <a:tabLst/>
              <a:defRPr/>
            </a:pPr>
            <a:endParaRPr lang="de-DE" sz="2400" dirty="0" smtClean="0">
              <a:solidFill>
                <a:schemeClr val="bg2"/>
              </a:solidFill>
            </a:endParaRPr>
          </a:p>
          <a:p>
            <a:pPr marL="0" marR="0" indent="0" algn="l" defTabSz="457200" rtl="0" eaLnBrk="1" fontAlgn="base" latinLnBrk="0" hangingPunct="0">
              <a:lnSpc>
                <a:spcPts val="3500"/>
              </a:lnSpc>
              <a:spcBef>
                <a:spcPct val="0"/>
              </a:spcBef>
              <a:spcAft>
                <a:spcPct val="0"/>
              </a:spcAft>
              <a:buClrTx/>
              <a:buSzTx/>
              <a:buFontTx/>
              <a:buNone/>
              <a:tabLst/>
              <a:defRPr/>
            </a:pPr>
            <a:endParaRPr lang="de-DE" sz="2400" dirty="0" smtClean="0">
              <a:solidFill>
                <a:schemeClr val="bg2"/>
              </a:solidFill>
            </a:endParaRPr>
          </a:p>
          <a:p>
            <a:pPr marL="0" marR="0" indent="0" algn="l" defTabSz="457200" rtl="0" eaLnBrk="1" fontAlgn="base" latinLnBrk="0" hangingPunct="0">
              <a:lnSpc>
                <a:spcPts val="3500"/>
              </a:lnSpc>
              <a:spcBef>
                <a:spcPct val="0"/>
              </a:spcBef>
              <a:spcAft>
                <a:spcPct val="0"/>
              </a:spcAft>
              <a:buClrTx/>
              <a:buSzTx/>
              <a:buFontTx/>
              <a:buNone/>
              <a:tabLst/>
              <a:defRPr/>
            </a:pPr>
            <a:endParaRPr lang="de-DE" sz="2400" dirty="0" smtClean="0">
              <a:solidFill>
                <a:schemeClr val="bg2"/>
              </a:solidFill>
            </a:endParaRPr>
          </a:p>
          <a:p>
            <a:pPr marL="0" marR="0" indent="0" algn="l" defTabSz="457200" rtl="0" eaLnBrk="1" fontAlgn="base" latinLnBrk="0" hangingPunct="0">
              <a:lnSpc>
                <a:spcPts val="3500"/>
              </a:lnSpc>
              <a:spcBef>
                <a:spcPct val="0"/>
              </a:spcBef>
              <a:spcAft>
                <a:spcPct val="0"/>
              </a:spcAft>
              <a:buClrTx/>
              <a:buSzTx/>
              <a:buFontTx/>
              <a:buNone/>
              <a:tabLst/>
              <a:defRPr/>
            </a:pPr>
            <a:endParaRPr lang="de-DE" sz="2400" dirty="0" smtClean="0">
              <a:solidFill>
                <a:schemeClr val="bg2"/>
              </a:solidFill>
            </a:endParaRPr>
          </a:p>
          <a:p>
            <a:endParaRPr lang="de-DE" sz="2400" kern="1200" dirty="0" smtClean="0">
              <a:solidFill>
                <a:srgbClr val="572E2D"/>
              </a:solidFill>
              <a:latin typeface="Noteworthy Bold" charset="0"/>
              <a:ea typeface="Noteworthy Bold" charset="0"/>
              <a:cs typeface="Noteworthy Bold" charset="0"/>
              <a:sym typeface="Noteworthy Bold" charset="0"/>
            </a:endParaRPr>
          </a:p>
        </p:txBody>
      </p:sp>
    </p:spTree>
    <p:extLst>
      <p:ext uri="{BB962C8B-B14F-4D97-AF65-F5344CB8AC3E}">
        <p14:creationId xmlns:p14="http://schemas.microsoft.com/office/powerpoint/2010/main" val="18220322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2400" dirty="0" smtClean="0"/>
              <a:t>Portfolio-Name</a:t>
            </a:r>
          </a:p>
          <a:p>
            <a:r>
              <a:rPr lang="de-DE" sz="2400" dirty="0" smtClean="0">
                <a:solidFill>
                  <a:schemeClr val="bg2"/>
                </a:solidFill>
              </a:rPr>
              <a:t>Projekt-Tafel</a:t>
            </a:r>
            <a:endParaRPr lang="de-DE" sz="2400" dirty="0" smtClean="0"/>
          </a:p>
          <a:p>
            <a:r>
              <a:rPr lang="de-DE" sz="2400" dirty="0" smtClean="0">
                <a:solidFill>
                  <a:schemeClr val="bg2"/>
                </a:solidFill>
              </a:rPr>
              <a:t>Projekt-Tafel(Milestones R)</a:t>
            </a:r>
          </a:p>
          <a:p>
            <a:pPr marL="0" marR="0" indent="0" algn="l" defTabSz="457200" rtl="0" eaLnBrk="1" fontAlgn="base" latinLnBrk="0" hangingPunct="0">
              <a:lnSpc>
                <a:spcPts val="3500"/>
              </a:lnSpc>
              <a:spcBef>
                <a:spcPct val="0"/>
              </a:spcBef>
              <a:spcAft>
                <a:spcPct val="0"/>
              </a:spcAft>
              <a:buClrTx/>
              <a:buSzTx/>
              <a:buFontTx/>
              <a:buNone/>
              <a:tabLst/>
              <a:defRPr/>
            </a:pPr>
            <a:r>
              <a:rPr lang="de-DE" sz="2400" dirty="0" smtClean="0">
                <a:solidFill>
                  <a:schemeClr val="bg2"/>
                </a:solidFill>
              </a:rPr>
              <a:t>Projekt-Tafel(Milestones GR)</a:t>
            </a:r>
          </a:p>
          <a:p>
            <a:r>
              <a:rPr lang="de-DE" sz="2400" dirty="0" smtClean="0">
                <a:solidFill>
                  <a:schemeClr val="bg2"/>
                </a:solidFill>
                <a:sym typeface="Noteworthy Bold" charset="0"/>
              </a:rPr>
              <a:t>Ergebnis Verbesserungspotential</a:t>
            </a:r>
          </a:p>
          <a:p>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Strategie/Risiko/Marge</a:t>
            </a:r>
          </a:p>
          <a:p>
            <a:endPar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endParaRPr>
          </a:p>
          <a:p>
            <a:r>
              <a:rPr lang="de-DE" sz="2400" kern="1200" dirty="0" smtClean="0">
                <a:solidFill>
                  <a:srgbClr val="572E2D"/>
                </a:solidFill>
                <a:latin typeface="Noteworthy Bold" charset="0"/>
                <a:ea typeface="Noteworthy Bold" charset="0"/>
                <a:cs typeface="Noteworthy Bold" charset="0"/>
                <a:sym typeface="Noteworthy Bold" charset="0"/>
              </a:rPr>
              <a:t>Übersicht Auslastung</a:t>
            </a:r>
          </a:p>
          <a:p>
            <a:r>
              <a:rPr lang="de-DE" sz="2400" kern="1200" dirty="0" smtClean="0">
                <a:solidFill>
                  <a:srgbClr val="572E2D"/>
                </a:solidFill>
                <a:latin typeface="Noteworthy Bold" charset="0"/>
                <a:ea typeface="Noteworthy Bold" charset="0"/>
                <a:cs typeface="Noteworthy Bold" charset="0"/>
                <a:sym typeface="Noteworthy Bold" charset="0"/>
              </a:rPr>
              <a:t>Details Unterauslastung</a:t>
            </a:r>
          </a:p>
          <a:p>
            <a:r>
              <a:rPr lang="de-DE" sz="2400" kern="1200" dirty="0" smtClean="0">
                <a:solidFill>
                  <a:srgbClr val="572E2D"/>
                </a:solidFill>
                <a:latin typeface="Noteworthy Bold" charset="0"/>
                <a:ea typeface="Noteworthy Bold" charset="0"/>
                <a:cs typeface="Noteworthy Bold" charset="0"/>
                <a:sym typeface="Noteworthy Bold" charset="0"/>
              </a:rPr>
              <a:t>Details Überauslastung</a:t>
            </a:r>
            <a:endPar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endParaRPr>
          </a:p>
          <a:p>
            <a:endPar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endParaRPr>
          </a:p>
          <a:p>
            <a:endPar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endParaRPr>
          </a:p>
          <a:p>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Personalkosten </a:t>
            </a:r>
          </a:p>
          <a:p>
            <a:pPr marL="0" marR="0" indent="0" algn="l" defTabSz="457200" rtl="0" eaLnBrk="1" fontAlgn="base" latinLnBrk="0" hangingPunct="0">
              <a:lnSpc>
                <a:spcPts val="3500"/>
              </a:lnSpc>
              <a:spcBef>
                <a:spcPct val="0"/>
              </a:spcBef>
              <a:spcAft>
                <a:spcPct val="0"/>
              </a:spcAft>
              <a:buClrTx/>
              <a:buSzTx/>
              <a:buFontTx/>
              <a:buNone/>
              <a:tabLst/>
              <a:defRPr/>
            </a:pPr>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Sonstige Kosten</a:t>
            </a:r>
          </a:p>
          <a:p>
            <a:pPr marL="0" marR="0" indent="0" algn="l" defTabSz="457200" rtl="0" eaLnBrk="1" fontAlgn="base" latinLnBrk="0" hangingPunct="0">
              <a:lnSpc>
                <a:spcPts val="3500"/>
              </a:lnSpc>
              <a:spcBef>
                <a:spcPct val="0"/>
              </a:spcBef>
              <a:spcAft>
                <a:spcPct val="0"/>
              </a:spcAft>
              <a:buClrTx/>
              <a:buSzTx/>
              <a:buFontTx/>
              <a:buNone/>
              <a:tabLst/>
              <a:defRPr/>
            </a:pPr>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Gesamtkosten</a:t>
            </a:r>
          </a:p>
          <a:p>
            <a:pPr marL="0" marR="0" indent="0" algn="l" defTabSz="457200" rtl="0" eaLnBrk="1" fontAlgn="base" latinLnBrk="0" hangingPunct="0">
              <a:lnSpc>
                <a:spcPts val="3500"/>
              </a:lnSpc>
              <a:spcBef>
                <a:spcPct val="0"/>
              </a:spcBef>
              <a:spcAft>
                <a:spcPct val="0"/>
              </a:spcAft>
              <a:buClrTx/>
              <a:buSzTx/>
              <a:buFontTx/>
              <a:buNone/>
              <a:tabLst/>
              <a:defRPr/>
            </a:pPr>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Rolle(…)</a:t>
            </a:r>
          </a:p>
          <a:p>
            <a:pPr marL="0" marR="0" indent="0" algn="l" defTabSz="457200" rtl="0" eaLnBrk="1" fontAlgn="base" latinLnBrk="0" hangingPunct="0">
              <a:lnSpc>
                <a:spcPts val="3500"/>
              </a:lnSpc>
              <a:spcBef>
                <a:spcPct val="0"/>
              </a:spcBef>
              <a:spcAft>
                <a:spcPct val="0"/>
              </a:spcAft>
              <a:buClrTx/>
              <a:buSzTx/>
              <a:buFontTx/>
              <a:buNone/>
              <a:tabLst/>
              <a:defRPr/>
            </a:pPr>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Kostenart(…) </a:t>
            </a:r>
          </a:p>
          <a:p>
            <a:endParaRPr lang="de-DE" sz="2400" kern="1200" dirty="0" smtClean="0">
              <a:solidFill>
                <a:srgbClr val="572E2D"/>
              </a:solidFill>
              <a:latin typeface="Noteworthy Bold" charset="0"/>
              <a:ea typeface="Noteworthy Bold" charset="0"/>
              <a:cs typeface="Noteworthy Bold" charset="0"/>
              <a:sym typeface="Noteworthy Bold" charset="0"/>
            </a:endParaRPr>
          </a:p>
          <a:p>
            <a:r>
              <a:rPr lang="de-DE" sz="2400" kern="1200" dirty="0" smtClean="0">
                <a:solidFill>
                  <a:srgbClr val="572E2D"/>
                </a:solidFill>
                <a:latin typeface="Noteworthy Bold" charset="0"/>
                <a:ea typeface="Noteworthy Bold" charset="0"/>
                <a:cs typeface="Noteworthy Bold" charset="0"/>
                <a:sym typeface="Noteworthy Bold" charset="0"/>
              </a:rPr>
              <a:t>Stand:</a:t>
            </a:r>
          </a:p>
          <a:p>
            <a:r>
              <a:rPr lang="de-DE" sz="2400" dirty="0" smtClean="0">
                <a:solidFill>
                  <a:schemeClr val="bg2"/>
                </a:solidFill>
              </a:rPr>
              <a:t>Zeitraum</a:t>
            </a:r>
            <a:r>
              <a:rPr lang="de-DE" sz="2400" kern="1200" dirty="0" smtClean="0">
                <a:solidFill>
                  <a:srgbClr val="572E2D"/>
                </a:solidFill>
                <a:latin typeface="Noteworthy Bold" charset="0"/>
                <a:ea typeface="Noteworthy Bold" charset="0"/>
                <a:cs typeface="Noteworthy Bold" charset="0"/>
                <a:sym typeface="Noteworthy Bold" charset="0"/>
              </a:rPr>
              <a:t>:</a:t>
            </a:r>
          </a:p>
          <a:p>
            <a:pPr marL="0" marR="0" indent="0" algn="l" defTabSz="457200" rtl="0" eaLnBrk="1" fontAlgn="base" latinLnBrk="0" hangingPunct="0">
              <a:lnSpc>
                <a:spcPts val="3500"/>
              </a:lnSpc>
              <a:spcBef>
                <a:spcPct val="0"/>
              </a:spcBef>
              <a:spcAft>
                <a:spcPct val="0"/>
              </a:spcAft>
              <a:buClrTx/>
              <a:buSzTx/>
              <a:buFontTx/>
              <a:buNone/>
              <a:tabLst/>
              <a:defRPr/>
            </a:pPr>
            <a:r>
              <a:rPr lang="de-DE" sz="2400" dirty="0" smtClean="0">
                <a:solidFill>
                  <a:schemeClr val="bg2"/>
                </a:solidFill>
                <a:sym typeface="Noteworthy Bold" charset="0"/>
              </a:rPr>
              <a:t>Phase (…)</a:t>
            </a:r>
          </a:p>
          <a:p>
            <a:pPr marL="0" marR="0" indent="0" algn="l" defTabSz="457200" rtl="0" eaLnBrk="1" fontAlgn="base" latinLnBrk="0" hangingPunct="0">
              <a:lnSpc>
                <a:spcPts val="3500"/>
              </a:lnSpc>
              <a:spcBef>
                <a:spcPct val="0"/>
              </a:spcBef>
              <a:spcAft>
                <a:spcPct val="0"/>
              </a:spcAft>
              <a:buClrTx/>
              <a:buSzTx/>
              <a:buFontTx/>
              <a:buNone/>
              <a:tabLst/>
              <a:defRPr/>
            </a:pPr>
            <a:r>
              <a:rPr lang="de-DE" sz="2400" dirty="0" smtClean="0">
                <a:solidFill>
                  <a:schemeClr val="bg2"/>
                </a:solidFill>
                <a:sym typeface="Noteworthy Bold" charset="0"/>
              </a:rPr>
              <a:t>Rolle (…)</a:t>
            </a:r>
          </a:p>
          <a:p>
            <a:pPr marL="0" marR="0" indent="0" algn="l" defTabSz="457200" rtl="0" eaLnBrk="1" fontAlgn="base" latinLnBrk="0" hangingPunct="0">
              <a:lnSpc>
                <a:spcPts val="3500"/>
              </a:lnSpc>
              <a:spcBef>
                <a:spcPct val="0"/>
              </a:spcBef>
              <a:spcAft>
                <a:spcPct val="0"/>
              </a:spcAft>
              <a:buClrTx/>
              <a:buSzTx/>
              <a:buFontTx/>
              <a:buNone/>
              <a:tabLst/>
              <a:defRPr/>
            </a:pPr>
            <a:r>
              <a:rPr lang="de-DE" sz="2400" dirty="0" smtClean="0">
                <a:solidFill>
                  <a:schemeClr val="bg2"/>
                </a:solidFill>
                <a:sym typeface="Noteworthy Bold" charset="0"/>
              </a:rPr>
              <a:t>Kostenart (…)</a:t>
            </a:r>
          </a:p>
        </p:txBody>
      </p:sp>
    </p:spTree>
    <p:extLst>
      <p:ext uri="{BB962C8B-B14F-4D97-AF65-F5344CB8AC3E}">
        <p14:creationId xmlns:p14="http://schemas.microsoft.com/office/powerpoint/2010/main" val="18220322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2400" dirty="0" smtClean="0"/>
              <a:t>Portfolio-Name</a:t>
            </a:r>
          </a:p>
          <a:p>
            <a:r>
              <a:rPr lang="de-DE" sz="2400" dirty="0" smtClean="0">
                <a:solidFill>
                  <a:schemeClr val="bg2"/>
                </a:solidFill>
              </a:rPr>
              <a:t>Projekt-Tafel</a:t>
            </a:r>
            <a:endParaRPr lang="de-DE" sz="2400" dirty="0" smtClean="0"/>
          </a:p>
          <a:p>
            <a:r>
              <a:rPr lang="de-DE" sz="2400" dirty="0" smtClean="0">
                <a:solidFill>
                  <a:schemeClr val="bg2"/>
                </a:solidFill>
              </a:rPr>
              <a:t>Projekt-Tafel(Milestones R)</a:t>
            </a:r>
          </a:p>
          <a:p>
            <a:pPr marL="0" marR="0" indent="0" algn="l" defTabSz="457200" rtl="0" eaLnBrk="1" fontAlgn="base" latinLnBrk="0" hangingPunct="0">
              <a:lnSpc>
                <a:spcPts val="3500"/>
              </a:lnSpc>
              <a:spcBef>
                <a:spcPct val="0"/>
              </a:spcBef>
              <a:spcAft>
                <a:spcPct val="0"/>
              </a:spcAft>
              <a:buClrTx/>
              <a:buSzTx/>
              <a:buFontTx/>
              <a:buNone/>
              <a:tabLst/>
              <a:defRPr/>
            </a:pPr>
            <a:r>
              <a:rPr lang="de-DE" sz="2400" dirty="0" smtClean="0">
                <a:solidFill>
                  <a:schemeClr val="bg2"/>
                </a:solidFill>
              </a:rPr>
              <a:t>Projekt-Tafel(Milestones GR)</a:t>
            </a:r>
          </a:p>
          <a:p>
            <a:r>
              <a:rPr lang="de-DE" sz="2400" kern="1200" dirty="0" smtClean="0">
                <a:solidFill>
                  <a:srgbClr val="572E2D"/>
                </a:solidFill>
                <a:latin typeface="Noteworthy Bold" charset="0"/>
                <a:ea typeface="Noteworthy Bold" charset="0"/>
                <a:cs typeface="Noteworthy Bold" charset="0"/>
                <a:sym typeface="Noteworthy Bold" charset="0"/>
              </a:rPr>
              <a:t>Ergebnis</a:t>
            </a:r>
          </a:p>
          <a:p>
            <a:r>
              <a:rPr lang="de-DE" sz="2400" dirty="0" smtClean="0">
                <a:solidFill>
                  <a:schemeClr val="bg2"/>
                </a:solidFill>
                <a:sym typeface="Noteworthy Bold" charset="0"/>
              </a:rPr>
              <a:t>Ergebnis Verbesserungspotential</a:t>
            </a:r>
          </a:p>
          <a:p>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Strategie/Risiko/Marge</a:t>
            </a:r>
          </a:p>
          <a:p>
            <a:endPar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endParaRPr>
          </a:p>
          <a:p>
            <a:r>
              <a:rPr lang="de-DE" sz="2400" kern="1200" dirty="0" smtClean="0">
                <a:solidFill>
                  <a:srgbClr val="572E2D"/>
                </a:solidFill>
                <a:latin typeface="Noteworthy Bold" charset="0"/>
                <a:ea typeface="Noteworthy Bold" charset="0"/>
                <a:cs typeface="Noteworthy Bold" charset="0"/>
                <a:sym typeface="Noteworthy Bold" charset="0"/>
              </a:rPr>
              <a:t>Übersicht Auslastung</a:t>
            </a:r>
          </a:p>
          <a:p>
            <a:r>
              <a:rPr lang="de-DE" sz="2400" kern="1200" dirty="0" smtClean="0">
                <a:solidFill>
                  <a:srgbClr val="572E2D"/>
                </a:solidFill>
                <a:latin typeface="Noteworthy Bold" charset="0"/>
                <a:ea typeface="Noteworthy Bold" charset="0"/>
                <a:cs typeface="Noteworthy Bold" charset="0"/>
                <a:sym typeface="Noteworthy Bold" charset="0"/>
              </a:rPr>
              <a:t>Details Unterauslastung</a:t>
            </a:r>
          </a:p>
          <a:p>
            <a:r>
              <a:rPr lang="de-DE" sz="2400" kern="1200" dirty="0" smtClean="0">
                <a:solidFill>
                  <a:srgbClr val="572E2D"/>
                </a:solidFill>
                <a:latin typeface="Noteworthy Bold" charset="0"/>
                <a:ea typeface="Noteworthy Bold" charset="0"/>
                <a:cs typeface="Noteworthy Bold" charset="0"/>
                <a:sym typeface="Noteworthy Bold" charset="0"/>
              </a:rPr>
              <a:t>Details Überauslastung</a:t>
            </a:r>
            <a:endPar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endParaRPr>
          </a:p>
          <a:p>
            <a:endPar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endParaRPr>
          </a:p>
          <a:p>
            <a:endPar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endParaRPr>
          </a:p>
          <a:p>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Personalkosten </a:t>
            </a:r>
          </a:p>
          <a:p>
            <a:pPr marL="0" marR="0" indent="0" algn="l" defTabSz="457200" rtl="0" eaLnBrk="1" fontAlgn="base" latinLnBrk="0" hangingPunct="0">
              <a:lnSpc>
                <a:spcPts val="3500"/>
              </a:lnSpc>
              <a:spcBef>
                <a:spcPct val="0"/>
              </a:spcBef>
              <a:spcAft>
                <a:spcPct val="0"/>
              </a:spcAft>
              <a:buClrTx/>
              <a:buSzTx/>
              <a:buFontTx/>
              <a:buNone/>
              <a:tabLst/>
              <a:defRPr/>
            </a:pPr>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Sonstige Kosten</a:t>
            </a:r>
          </a:p>
          <a:p>
            <a:pPr marL="0" marR="0" indent="0" algn="l" defTabSz="457200" rtl="0" eaLnBrk="1" fontAlgn="base" latinLnBrk="0" hangingPunct="0">
              <a:lnSpc>
                <a:spcPts val="3500"/>
              </a:lnSpc>
              <a:spcBef>
                <a:spcPct val="0"/>
              </a:spcBef>
              <a:spcAft>
                <a:spcPct val="0"/>
              </a:spcAft>
              <a:buClrTx/>
              <a:buSzTx/>
              <a:buFontTx/>
              <a:buNone/>
              <a:tabLst/>
              <a:defRPr/>
            </a:pPr>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Gesamtkosten</a:t>
            </a:r>
          </a:p>
          <a:p>
            <a:pPr marL="0" marR="0" indent="0" algn="l" defTabSz="457200" rtl="0" eaLnBrk="1" fontAlgn="base" latinLnBrk="0" hangingPunct="0">
              <a:lnSpc>
                <a:spcPts val="3500"/>
              </a:lnSpc>
              <a:spcBef>
                <a:spcPct val="0"/>
              </a:spcBef>
              <a:spcAft>
                <a:spcPct val="0"/>
              </a:spcAft>
              <a:buClrTx/>
              <a:buSzTx/>
              <a:buFontTx/>
              <a:buNone/>
              <a:tabLst/>
              <a:defRPr/>
            </a:pPr>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Rolle(…)</a:t>
            </a:r>
          </a:p>
          <a:p>
            <a:pPr marL="0" marR="0" indent="0" algn="l" defTabSz="457200" rtl="0" eaLnBrk="1" fontAlgn="base" latinLnBrk="0" hangingPunct="0">
              <a:lnSpc>
                <a:spcPts val="3500"/>
              </a:lnSpc>
              <a:spcBef>
                <a:spcPct val="0"/>
              </a:spcBef>
              <a:spcAft>
                <a:spcPct val="0"/>
              </a:spcAft>
              <a:buClrTx/>
              <a:buSzTx/>
              <a:buFontTx/>
              <a:buNone/>
              <a:tabLst/>
              <a:defRPr/>
            </a:pPr>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Kostenart(…) </a:t>
            </a:r>
          </a:p>
          <a:p>
            <a:endParaRPr lang="de-DE" sz="2400" kern="1200" dirty="0" smtClean="0">
              <a:solidFill>
                <a:srgbClr val="572E2D"/>
              </a:solidFill>
              <a:latin typeface="Noteworthy Bold" charset="0"/>
              <a:ea typeface="Noteworthy Bold" charset="0"/>
              <a:cs typeface="Noteworthy Bold" charset="0"/>
              <a:sym typeface="Noteworthy Bold" charset="0"/>
            </a:endParaRPr>
          </a:p>
          <a:p>
            <a:r>
              <a:rPr lang="de-DE" sz="2400" kern="1200" dirty="0" smtClean="0">
                <a:solidFill>
                  <a:srgbClr val="572E2D"/>
                </a:solidFill>
                <a:latin typeface="Noteworthy Bold" charset="0"/>
                <a:ea typeface="Noteworthy Bold" charset="0"/>
                <a:cs typeface="Noteworthy Bold" charset="0"/>
                <a:sym typeface="Noteworthy Bold" charset="0"/>
              </a:rPr>
              <a:t>Stand:</a:t>
            </a:r>
          </a:p>
          <a:p>
            <a:r>
              <a:rPr lang="de-DE" sz="2400" dirty="0" smtClean="0">
                <a:solidFill>
                  <a:schemeClr val="bg2"/>
                </a:solidFill>
              </a:rPr>
              <a:t>Zeitraum</a:t>
            </a:r>
            <a:r>
              <a:rPr lang="de-DE" sz="2400" kern="1200" dirty="0" smtClean="0">
                <a:solidFill>
                  <a:srgbClr val="572E2D"/>
                </a:solidFill>
                <a:latin typeface="Noteworthy Bold" charset="0"/>
                <a:ea typeface="Noteworthy Bold" charset="0"/>
                <a:cs typeface="Noteworthy Bold" charset="0"/>
                <a:sym typeface="Noteworthy Bold" charset="0"/>
              </a:rPr>
              <a:t>:</a:t>
            </a:r>
          </a:p>
          <a:p>
            <a:pPr marL="0" marR="0" indent="0" algn="l" defTabSz="457200" rtl="0" eaLnBrk="1" fontAlgn="base" latinLnBrk="0" hangingPunct="0">
              <a:lnSpc>
                <a:spcPts val="3500"/>
              </a:lnSpc>
              <a:spcBef>
                <a:spcPct val="0"/>
              </a:spcBef>
              <a:spcAft>
                <a:spcPct val="0"/>
              </a:spcAft>
              <a:buClrTx/>
              <a:buSzTx/>
              <a:buFontTx/>
              <a:buNone/>
              <a:tabLst/>
              <a:defRPr/>
            </a:pPr>
            <a:r>
              <a:rPr lang="de-DE" sz="2400" dirty="0" smtClean="0">
                <a:solidFill>
                  <a:schemeClr val="bg2"/>
                </a:solidFill>
                <a:sym typeface="Noteworthy Bold" charset="0"/>
              </a:rPr>
              <a:t>Phase (…)</a:t>
            </a:r>
          </a:p>
          <a:p>
            <a:pPr marL="0" marR="0" indent="0" algn="l" defTabSz="457200" rtl="0" eaLnBrk="1" fontAlgn="base" latinLnBrk="0" hangingPunct="0">
              <a:lnSpc>
                <a:spcPts val="3500"/>
              </a:lnSpc>
              <a:spcBef>
                <a:spcPct val="0"/>
              </a:spcBef>
              <a:spcAft>
                <a:spcPct val="0"/>
              </a:spcAft>
              <a:buClrTx/>
              <a:buSzTx/>
              <a:buFontTx/>
              <a:buNone/>
              <a:tabLst/>
              <a:defRPr/>
            </a:pPr>
            <a:r>
              <a:rPr lang="de-DE" sz="2400" dirty="0" smtClean="0">
                <a:solidFill>
                  <a:schemeClr val="bg2"/>
                </a:solidFill>
                <a:sym typeface="Noteworthy Bold" charset="0"/>
              </a:rPr>
              <a:t>Rolle (…)</a:t>
            </a:r>
          </a:p>
          <a:p>
            <a:pPr marL="0" marR="0" indent="0" algn="l" defTabSz="457200" rtl="0" eaLnBrk="1" fontAlgn="base" latinLnBrk="0" hangingPunct="0">
              <a:lnSpc>
                <a:spcPts val="3500"/>
              </a:lnSpc>
              <a:spcBef>
                <a:spcPct val="0"/>
              </a:spcBef>
              <a:spcAft>
                <a:spcPct val="0"/>
              </a:spcAft>
              <a:buClrTx/>
              <a:buSzTx/>
              <a:buFontTx/>
              <a:buNone/>
              <a:tabLst/>
              <a:defRPr/>
            </a:pPr>
            <a:r>
              <a:rPr lang="de-DE" sz="2400" dirty="0" smtClean="0">
                <a:solidFill>
                  <a:schemeClr val="bg2"/>
                </a:solidFill>
                <a:sym typeface="Noteworthy Bold" charset="0"/>
              </a:rPr>
              <a:t>Kostenart (…)</a:t>
            </a:r>
          </a:p>
        </p:txBody>
      </p:sp>
    </p:spTree>
    <p:extLst>
      <p:ext uri="{BB962C8B-B14F-4D97-AF65-F5344CB8AC3E}">
        <p14:creationId xmlns:p14="http://schemas.microsoft.com/office/powerpoint/2010/main" val="18220322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2400" dirty="0" smtClean="0"/>
              <a:t>Portfolio-Name</a:t>
            </a:r>
          </a:p>
          <a:p>
            <a:r>
              <a:rPr lang="de-DE" sz="2400" dirty="0" smtClean="0">
                <a:solidFill>
                  <a:schemeClr val="bg2"/>
                </a:solidFill>
              </a:rPr>
              <a:t>Projekt-Tafel</a:t>
            </a:r>
            <a:endParaRPr lang="de-DE" sz="2400" dirty="0" smtClean="0"/>
          </a:p>
          <a:p>
            <a:r>
              <a:rPr lang="de-DE" sz="2400" dirty="0" smtClean="0">
                <a:solidFill>
                  <a:schemeClr val="bg2"/>
                </a:solidFill>
              </a:rPr>
              <a:t>Projekt-Tafel(Milestones R)</a:t>
            </a:r>
          </a:p>
          <a:p>
            <a:pPr marL="0" marR="0" indent="0" algn="l" defTabSz="457200" rtl="0" eaLnBrk="1" fontAlgn="base" latinLnBrk="0" hangingPunct="0">
              <a:lnSpc>
                <a:spcPts val="3500"/>
              </a:lnSpc>
              <a:spcBef>
                <a:spcPct val="0"/>
              </a:spcBef>
              <a:spcAft>
                <a:spcPct val="0"/>
              </a:spcAft>
              <a:buClrTx/>
              <a:buSzTx/>
              <a:buFontTx/>
              <a:buNone/>
              <a:tabLst/>
              <a:defRPr/>
            </a:pPr>
            <a:r>
              <a:rPr lang="de-DE" sz="2400" dirty="0" smtClean="0">
                <a:solidFill>
                  <a:schemeClr val="bg2"/>
                </a:solidFill>
              </a:rPr>
              <a:t>Projekt-Tafel(Milestones GR)</a:t>
            </a:r>
          </a:p>
          <a:p>
            <a:r>
              <a:rPr lang="de-DE" sz="2400" kern="1200" dirty="0" smtClean="0">
                <a:solidFill>
                  <a:srgbClr val="572E2D"/>
                </a:solidFill>
                <a:latin typeface="Noteworthy Bold" charset="0"/>
                <a:ea typeface="Noteworthy Bold" charset="0"/>
                <a:cs typeface="Noteworthy Bold" charset="0"/>
                <a:sym typeface="Noteworthy Bold" charset="0"/>
              </a:rPr>
              <a:t>Ergebnis</a:t>
            </a:r>
          </a:p>
          <a:p>
            <a:r>
              <a:rPr lang="de-DE" sz="2400" dirty="0" smtClean="0">
                <a:solidFill>
                  <a:schemeClr val="bg2"/>
                </a:solidFill>
                <a:sym typeface="Noteworthy Bold" charset="0"/>
              </a:rPr>
              <a:t>Ergebnis Verbesserungspotential</a:t>
            </a:r>
          </a:p>
          <a:p>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Strategie/Risiko/Marge</a:t>
            </a:r>
          </a:p>
          <a:p>
            <a:endPar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endParaRPr>
          </a:p>
          <a:p>
            <a:r>
              <a:rPr lang="de-DE" sz="2400" kern="1200" dirty="0" smtClean="0">
                <a:solidFill>
                  <a:srgbClr val="572E2D"/>
                </a:solidFill>
                <a:latin typeface="Noteworthy Bold" charset="0"/>
                <a:ea typeface="Noteworthy Bold" charset="0"/>
                <a:cs typeface="Noteworthy Bold" charset="0"/>
                <a:sym typeface="Noteworthy Bold" charset="0"/>
              </a:rPr>
              <a:t>Übersicht Auslastung</a:t>
            </a:r>
          </a:p>
          <a:p>
            <a:r>
              <a:rPr lang="de-DE" sz="2400" kern="1200" dirty="0" smtClean="0">
                <a:solidFill>
                  <a:srgbClr val="572E2D"/>
                </a:solidFill>
                <a:latin typeface="Noteworthy Bold" charset="0"/>
                <a:ea typeface="Noteworthy Bold" charset="0"/>
                <a:cs typeface="Noteworthy Bold" charset="0"/>
                <a:sym typeface="Noteworthy Bold" charset="0"/>
              </a:rPr>
              <a:t>Details Unterauslastung</a:t>
            </a:r>
          </a:p>
          <a:p>
            <a:r>
              <a:rPr lang="de-DE" sz="2400" kern="1200" dirty="0" smtClean="0">
                <a:solidFill>
                  <a:srgbClr val="572E2D"/>
                </a:solidFill>
                <a:latin typeface="Noteworthy Bold" charset="0"/>
                <a:ea typeface="Noteworthy Bold" charset="0"/>
                <a:cs typeface="Noteworthy Bold" charset="0"/>
                <a:sym typeface="Noteworthy Bold" charset="0"/>
              </a:rPr>
              <a:t>Details Überauslastung</a:t>
            </a:r>
            <a:endPar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endParaRPr>
          </a:p>
          <a:p>
            <a:endPar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endParaRPr>
          </a:p>
          <a:p>
            <a:endPar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endParaRPr>
          </a:p>
          <a:p>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Personalkosten </a:t>
            </a:r>
          </a:p>
          <a:p>
            <a:pPr marL="0" marR="0" indent="0" algn="l" defTabSz="457200" rtl="0" eaLnBrk="1" fontAlgn="base" latinLnBrk="0" hangingPunct="0">
              <a:lnSpc>
                <a:spcPts val="3500"/>
              </a:lnSpc>
              <a:spcBef>
                <a:spcPct val="0"/>
              </a:spcBef>
              <a:spcAft>
                <a:spcPct val="0"/>
              </a:spcAft>
              <a:buClrTx/>
              <a:buSzTx/>
              <a:buFontTx/>
              <a:buNone/>
              <a:tabLst/>
              <a:defRPr/>
            </a:pPr>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Sonstige Kosten</a:t>
            </a:r>
          </a:p>
          <a:p>
            <a:pPr marL="0" marR="0" indent="0" algn="l" defTabSz="457200" rtl="0" eaLnBrk="1" fontAlgn="base" latinLnBrk="0" hangingPunct="0">
              <a:lnSpc>
                <a:spcPts val="3500"/>
              </a:lnSpc>
              <a:spcBef>
                <a:spcPct val="0"/>
              </a:spcBef>
              <a:spcAft>
                <a:spcPct val="0"/>
              </a:spcAft>
              <a:buClrTx/>
              <a:buSzTx/>
              <a:buFontTx/>
              <a:buNone/>
              <a:tabLst/>
              <a:defRPr/>
            </a:pPr>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Gesamtkosten</a:t>
            </a:r>
          </a:p>
          <a:p>
            <a:pPr marL="0" marR="0" indent="0" algn="l" defTabSz="457200" rtl="0" eaLnBrk="1" fontAlgn="base" latinLnBrk="0" hangingPunct="0">
              <a:lnSpc>
                <a:spcPts val="3500"/>
              </a:lnSpc>
              <a:spcBef>
                <a:spcPct val="0"/>
              </a:spcBef>
              <a:spcAft>
                <a:spcPct val="0"/>
              </a:spcAft>
              <a:buClrTx/>
              <a:buSzTx/>
              <a:buFontTx/>
              <a:buNone/>
              <a:tabLst/>
              <a:defRPr/>
            </a:pPr>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Rolle(…)</a:t>
            </a:r>
          </a:p>
          <a:p>
            <a:pPr marL="0" marR="0" indent="0" algn="l" defTabSz="457200" rtl="0" eaLnBrk="1" fontAlgn="base" latinLnBrk="0" hangingPunct="0">
              <a:lnSpc>
                <a:spcPts val="3500"/>
              </a:lnSpc>
              <a:spcBef>
                <a:spcPct val="0"/>
              </a:spcBef>
              <a:spcAft>
                <a:spcPct val="0"/>
              </a:spcAft>
              <a:buClrTx/>
              <a:buSzTx/>
              <a:buFontTx/>
              <a:buNone/>
              <a:tabLst/>
              <a:defRPr/>
            </a:pPr>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Kostenart(…) </a:t>
            </a:r>
          </a:p>
          <a:p>
            <a:endParaRPr lang="de-DE" sz="2400" kern="1200" dirty="0" smtClean="0">
              <a:solidFill>
                <a:srgbClr val="572E2D"/>
              </a:solidFill>
              <a:latin typeface="Noteworthy Bold" charset="0"/>
              <a:ea typeface="Noteworthy Bold" charset="0"/>
              <a:cs typeface="Noteworthy Bold" charset="0"/>
              <a:sym typeface="Noteworthy Bold" charset="0"/>
            </a:endParaRPr>
          </a:p>
          <a:p>
            <a:r>
              <a:rPr lang="de-DE" sz="2400" kern="1200" dirty="0" smtClean="0">
                <a:solidFill>
                  <a:srgbClr val="572E2D"/>
                </a:solidFill>
                <a:latin typeface="Noteworthy Bold" charset="0"/>
                <a:ea typeface="Noteworthy Bold" charset="0"/>
                <a:cs typeface="Noteworthy Bold" charset="0"/>
                <a:sym typeface="Noteworthy Bold" charset="0"/>
              </a:rPr>
              <a:t>Stand:</a:t>
            </a:r>
          </a:p>
          <a:p>
            <a:r>
              <a:rPr lang="de-DE" sz="2400" dirty="0" smtClean="0">
                <a:solidFill>
                  <a:schemeClr val="bg2"/>
                </a:solidFill>
              </a:rPr>
              <a:t>Zeitraum</a:t>
            </a:r>
            <a:r>
              <a:rPr lang="de-DE" sz="2400" kern="1200" dirty="0" smtClean="0">
                <a:solidFill>
                  <a:srgbClr val="572E2D"/>
                </a:solidFill>
                <a:latin typeface="Noteworthy Bold" charset="0"/>
                <a:ea typeface="Noteworthy Bold" charset="0"/>
                <a:cs typeface="Noteworthy Bold" charset="0"/>
                <a:sym typeface="Noteworthy Bold" charset="0"/>
              </a:rPr>
              <a:t>:</a:t>
            </a:r>
          </a:p>
          <a:p>
            <a:pPr marL="0" marR="0" indent="0" algn="l" defTabSz="457200" rtl="0" eaLnBrk="1" fontAlgn="base" latinLnBrk="0" hangingPunct="0">
              <a:lnSpc>
                <a:spcPts val="3500"/>
              </a:lnSpc>
              <a:spcBef>
                <a:spcPct val="0"/>
              </a:spcBef>
              <a:spcAft>
                <a:spcPct val="0"/>
              </a:spcAft>
              <a:buClrTx/>
              <a:buSzTx/>
              <a:buFontTx/>
              <a:buNone/>
              <a:tabLst/>
              <a:defRPr/>
            </a:pPr>
            <a:r>
              <a:rPr lang="de-DE" sz="2400" dirty="0" smtClean="0">
                <a:solidFill>
                  <a:schemeClr val="bg2"/>
                </a:solidFill>
                <a:sym typeface="Noteworthy Bold" charset="0"/>
              </a:rPr>
              <a:t>Phase (…)</a:t>
            </a:r>
          </a:p>
          <a:p>
            <a:pPr marL="0" marR="0" indent="0" algn="l" defTabSz="457200" rtl="0" eaLnBrk="1" fontAlgn="base" latinLnBrk="0" hangingPunct="0">
              <a:lnSpc>
                <a:spcPts val="3500"/>
              </a:lnSpc>
              <a:spcBef>
                <a:spcPct val="0"/>
              </a:spcBef>
              <a:spcAft>
                <a:spcPct val="0"/>
              </a:spcAft>
              <a:buClrTx/>
              <a:buSzTx/>
              <a:buFontTx/>
              <a:buNone/>
              <a:tabLst/>
              <a:defRPr/>
            </a:pPr>
            <a:r>
              <a:rPr lang="de-DE" sz="2400" dirty="0" smtClean="0">
                <a:solidFill>
                  <a:schemeClr val="bg2"/>
                </a:solidFill>
                <a:sym typeface="Noteworthy Bold" charset="0"/>
              </a:rPr>
              <a:t>Rolle (…)</a:t>
            </a:r>
          </a:p>
          <a:p>
            <a:pPr marL="0" marR="0" indent="0" algn="l" defTabSz="457200" rtl="0" eaLnBrk="1" fontAlgn="base" latinLnBrk="0" hangingPunct="0">
              <a:lnSpc>
                <a:spcPts val="3500"/>
              </a:lnSpc>
              <a:spcBef>
                <a:spcPct val="0"/>
              </a:spcBef>
              <a:spcAft>
                <a:spcPct val="0"/>
              </a:spcAft>
              <a:buClrTx/>
              <a:buSzTx/>
              <a:buFontTx/>
              <a:buNone/>
              <a:tabLst/>
              <a:defRPr/>
            </a:pPr>
            <a:r>
              <a:rPr lang="de-DE" sz="2400" dirty="0" smtClean="0">
                <a:solidFill>
                  <a:schemeClr val="bg2"/>
                </a:solidFill>
                <a:sym typeface="Noteworthy Bold" charset="0"/>
              </a:rPr>
              <a:t>Kostenart (…)</a:t>
            </a:r>
          </a:p>
        </p:txBody>
      </p:sp>
    </p:spTree>
    <p:extLst>
      <p:ext uri="{BB962C8B-B14F-4D97-AF65-F5344CB8AC3E}">
        <p14:creationId xmlns:p14="http://schemas.microsoft.com/office/powerpoint/2010/main" val="18220322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2400" dirty="0" smtClean="0"/>
              <a:t>Portfolio-Name</a:t>
            </a:r>
          </a:p>
          <a:p>
            <a:r>
              <a:rPr lang="de-DE" sz="2400" dirty="0" smtClean="0">
                <a:solidFill>
                  <a:schemeClr val="bg2"/>
                </a:solidFill>
              </a:rPr>
              <a:t>Projekt-Tafel</a:t>
            </a:r>
            <a:endParaRPr lang="de-DE" sz="2400" dirty="0" smtClean="0"/>
          </a:p>
          <a:p>
            <a:r>
              <a:rPr lang="de-DE" sz="2400" dirty="0" smtClean="0">
                <a:solidFill>
                  <a:schemeClr val="bg2"/>
                </a:solidFill>
              </a:rPr>
              <a:t>Projekt-Tafel(Milestones R)</a:t>
            </a:r>
          </a:p>
          <a:p>
            <a:pPr marL="0" marR="0" indent="0" algn="l" defTabSz="457200" rtl="0" eaLnBrk="1" fontAlgn="base" latinLnBrk="0" hangingPunct="0">
              <a:lnSpc>
                <a:spcPts val="3500"/>
              </a:lnSpc>
              <a:spcBef>
                <a:spcPct val="0"/>
              </a:spcBef>
              <a:spcAft>
                <a:spcPct val="0"/>
              </a:spcAft>
              <a:buClrTx/>
              <a:buSzTx/>
              <a:buFontTx/>
              <a:buNone/>
              <a:tabLst/>
              <a:defRPr/>
            </a:pPr>
            <a:r>
              <a:rPr lang="de-DE" sz="2400" dirty="0" smtClean="0">
                <a:solidFill>
                  <a:schemeClr val="bg2"/>
                </a:solidFill>
              </a:rPr>
              <a:t>Projekt-Tafel(Milestones GR)</a:t>
            </a:r>
          </a:p>
          <a:p>
            <a:r>
              <a:rPr lang="de-DE" sz="2400" kern="1200" dirty="0" smtClean="0">
                <a:solidFill>
                  <a:srgbClr val="572E2D"/>
                </a:solidFill>
                <a:latin typeface="Noteworthy Bold" charset="0"/>
                <a:ea typeface="Noteworthy Bold" charset="0"/>
                <a:cs typeface="Noteworthy Bold" charset="0"/>
                <a:sym typeface="Noteworthy Bold" charset="0"/>
              </a:rPr>
              <a:t>Ergebnis</a:t>
            </a:r>
          </a:p>
          <a:p>
            <a:r>
              <a:rPr lang="de-DE" sz="2400" dirty="0" smtClean="0">
                <a:solidFill>
                  <a:schemeClr val="bg2"/>
                </a:solidFill>
                <a:sym typeface="Noteworthy Bold" charset="0"/>
              </a:rPr>
              <a:t>Ergebnis Verbesserungspotential</a:t>
            </a:r>
          </a:p>
          <a:p>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Strategie/Risiko/Marge</a:t>
            </a:r>
          </a:p>
          <a:p>
            <a:endPar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endParaRPr>
          </a:p>
          <a:p>
            <a:r>
              <a:rPr lang="de-DE" sz="2400" kern="1200" dirty="0" smtClean="0">
                <a:solidFill>
                  <a:srgbClr val="572E2D"/>
                </a:solidFill>
                <a:latin typeface="Noteworthy Bold" charset="0"/>
                <a:ea typeface="Noteworthy Bold" charset="0"/>
                <a:cs typeface="Noteworthy Bold" charset="0"/>
                <a:sym typeface="Noteworthy Bold" charset="0"/>
              </a:rPr>
              <a:t>Übersicht Auslastung</a:t>
            </a:r>
          </a:p>
          <a:p>
            <a:r>
              <a:rPr lang="de-DE" sz="2400" kern="1200" dirty="0" smtClean="0">
                <a:solidFill>
                  <a:srgbClr val="572E2D"/>
                </a:solidFill>
                <a:latin typeface="Noteworthy Bold" charset="0"/>
                <a:ea typeface="Noteworthy Bold" charset="0"/>
                <a:cs typeface="Noteworthy Bold" charset="0"/>
                <a:sym typeface="Noteworthy Bold" charset="0"/>
              </a:rPr>
              <a:t>Details Unterauslastung</a:t>
            </a:r>
          </a:p>
          <a:p>
            <a:r>
              <a:rPr lang="de-DE" sz="2400" kern="1200" dirty="0" smtClean="0">
                <a:solidFill>
                  <a:srgbClr val="572E2D"/>
                </a:solidFill>
                <a:latin typeface="Noteworthy Bold" charset="0"/>
                <a:ea typeface="Noteworthy Bold" charset="0"/>
                <a:cs typeface="Noteworthy Bold" charset="0"/>
                <a:sym typeface="Noteworthy Bold" charset="0"/>
              </a:rPr>
              <a:t>Details Überauslastung</a:t>
            </a:r>
            <a:endPar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endParaRPr>
          </a:p>
          <a:p>
            <a:endPar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endParaRPr>
          </a:p>
          <a:p>
            <a:endPar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endParaRPr>
          </a:p>
          <a:p>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Personalkosten </a:t>
            </a:r>
          </a:p>
          <a:p>
            <a:pPr marL="0" marR="0" indent="0" algn="l" defTabSz="457200" rtl="0" eaLnBrk="1" fontAlgn="base" latinLnBrk="0" hangingPunct="0">
              <a:lnSpc>
                <a:spcPts val="3500"/>
              </a:lnSpc>
              <a:spcBef>
                <a:spcPct val="0"/>
              </a:spcBef>
              <a:spcAft>
                <a:spcPct val="0"/>
              </a:spcAft>
              <a:buClrTx/>
              <a:buSzTx/>
              <a:buFontTx/>
              <a:buNone/>
              <a:tabLst/>
              <a:defRPr/>
            </a:pPr>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Sonstige Kosten</a:t>
            </a:r>
          </a:p>
          <a:p>
            <a:pPr marL="0" marR="0" indent="0" algn="l" defTabSz="457200" rtl="0" eaLnBrk="1" fontAlgn="base" latinLnBrk="0" hangingPunct="0">
              <a:lnSpc>
                <a:spcPts val="3500"/>
              </a:lnSpc>
              <a:spcBef>
                <a:spcPct val="0"/>
              </a:spcBef>
              <a:spcAft>
                <a:spcPct val="0"/>
              </a:spcAft>
              <a:buClrTx/>
              <a:buSzTx/>
              <a:buFontTx/>
              <a:buNone/>
              <a:tabLst/>
              <a:defRPr/>
            </a:pPr>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Gesamtkosten</a:t>
            </a:r>
          </a:p>
          <a:p>
            <a:pPr marL="0" marR="0" indent="0" algn="l" defTabSz="457200" rtl="0" eaLnBrk="1" fontAlgn="base" latinLnBrk="0" hangingPunct="0">
              <a:lnSpc>
                <a:spcPts val="3500"/>
              </a:lnSpc>
              <a:spcBef>
                <a:spcPct val="0"/>
              </a:spcBef>
              <a:spcAft>
                <a:spcPct val="0"/>
              </a:spcAft>
              <a:buClrTx/>
              <a:buSzTx/>
              <a:buFontTx/>
              <a:buNone/>
              <a:tabLst/>
              <a:defRPr/>
            </a:pPr>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Rolle(…)</a:t>
            </a:r>
          </a:p>
          <a:p>
            <a:pPr marL="0" marR="0" indent="0" algn="l" defTabSz="457200" rtl="0" eaLnBrk="1" fontAlgn="base" latinLnBrk="0" hangingPunct="0">
              <a:lnSpc>
                <a:spcPts val="3500"/>
              </a:lnSpc>
              <a:spcBef>
                <a:spcPct val="0"/>
              </a:spcBef>
              <a:spcAft>
                <a:spcPct val="0"/>
              </a:spcAft>
              <a:buClrTx/>
              <a:buSzTx/>
              <a:buFontTx/>
              <a:buNone/>
              <a:tabLst/>
              <a:defRPr/>
            </a:pPr>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Fortschritt Kostenart(…) </a:t>
            </a:r>
          </a:p>
          <a:p>
            <a:endParaRPr lang="de-DE" sz="2400" kern="1200" dirty="0" smtClean="0">
              <a:solidFill>
                <a:srgbClr val="572E2D"/>
              </a:solidFill>
              <a:latin typeface="Noteworthy Bold" charset="0"/>
              <a:ea typeface="Noteworthy Bold" charset="0"/>
              <a:cs typeface="Noteworthy Bold" charset="0"/>
              <a:sym typeface="Noteworthy Bold" charset="0"/>
            </a:endParaRPr>
          </a:p>
          <a:p>
            <a:r>
              <a:rPr lang="de-DE" sz="2400" kern="1200" dirty="0" smtClean="0">
                <a:solidFill>
                  <a:srgbClr val="572E2D"/>
                </a:solidFill>
                <a:latin typeface="Noteworthy Bold" charset="0"/>
                <a:ea typeface="Noteworthy Bold" charset="0"/>
                <a:cs typeface="Noteworthy Bold" charset="0"/>
                <a:sym typeface="Noteworthy Bold" charset="0"/>
              </a:rPr>
              <a:t>Stand:</a:t>
            </a:r>
          </a:p>
          <a:p>
            <a:r>
              <a:rPr lang="de-DE" sz="2400" dirty="0" smtClean="0">
                <a:solidFill>
                  <a:schemeClr val="bg2"/>
                </a:solidFill>
              </a:rPr>
              <a:t>Zeitraum</a:t>
            </a:r>
            <a:r>
              <a:rPr lang="de-DE" sz="2400" kern="1200" dirty="0" smtClean="0">
                <a:solidFill>
                  <a:srgbClr val="572E2D"/>
                </a:solidFill>
                <a:latin typeface="Noteworthy Bold" charset="0"/>
                <a:ea typeface="Noteworthy Bold" charset="0"/>
                <a:cs typeface="Noteworthy Bold" charset="0"/>
                <a:sym typeface="Noteworthy Bold" charset="0"/>
              </a:rPr>
              <a:t>:</a:t>
            </a:r>
          </a:p>
          <a:p>
            <a:pPr marL="0" marR="0" indent="0" algn="l" defTabSz="457200" rtl="0" eaLnBrk="1" fontAlgn="base" latinLnBrk="0" hangingPunct="0">
              <a:lnSpc>
                <a:spcPts val="3500"/>
              </a:lnSpc>
              <a:spcBef>
                <a:spcPct val="0"/>
              </a:spcBef>
              <a:spcAft>
                <a:spcPct val="0"/>
              </a:spcAft>
              <a:buClrTx/>
              <a:buSzTx/>
              <a:buFontTx/>
              <a:buNone/>
              <a:tabLst/>
              <a:defRPr/>
            </a:pPr>
            <a:r>
              <a:rPr lang="de-DE" sz="2400" dirty="0" smtClean="0">
                <a:solidFill>
                  <a:schemeClr val="bg2"/>
                </a:solidFill>
                <a:sym typeface="Noteworthy Bold" charset="0"/>
              </a:rPr>
              <a:t>Phase (…)</a:t>
            </a:r>
          </a:p>
          <a:p>
            <a:pPr marL="0" marR="0" indent="0" algn="l" defTabSz="457200" rtl="0" eaLnBrk="1" fontAlgn="base" latinLnBrk="0" hangingPunct="0">
              <a:lnSpc>
                <a:spcPts val="3500"/>
              </a:lnSpc>
              <a:spcBef>
                <a:spcPct val="0"/>
              </a:spcBef>
              <a:spcAft>
                <a:spcPct val="0"/>
              </a:spcAft>
              <a:buClrTx/>
              <a:buSzTx/>
              <a:buFontTx/>
              <a:buNone/>
              <a:tabLst/>
              <a:defRPr/>
            </a:pPr>
            <a:r>
              <a:rPr lang="de-DE" sz="2400" dirty="0" smtClean="0">
                <a:solidFill>
                  <a:schemeClr val="bg2"/>
                </a:solidFill>
                <a:sym typeface="Noteworthy Bold" charset="0"/>
              </a:rPr>
              <a:t>Rolle (…)</a:t>
            </a:r>
          </a:p>
          <a:p>
            <a:pPr marL="0" marR="0" indent="0" algn="l" defTabSz="457200" rtl="0" eaLnBrk="1" fontAlgn="base" latinLnBrk="0" hangingPunct="0">
              <a:lnSpc>
                <a:spcPts val="3500"/>
              </a:lnSpc>
              <a:spcBef>
                <a:spcPct val="0"/>
              </a:spcBef>
              <a:spcAft>
                <a:spcPct val="0"/>
              </a:spcAft>
              <a:buClrTx/>
              <a:buSzTx/>
              <a:buFontTx/>
              <a:buNone/>
              <a:tabLst/>
              <a:defRPr/>
            </a:pPr>
            <a:r>
              <a:rPr lang="de-DE" sz="2400" dirty="0" smtClean="0">
                <a:solidFill>
                  <a:schemeClr val="bg2"/>
                </a:solidFill>
                <a:sym typeface="Noteworthy Bold" charset="0"/>
              </a:rPr>
              <a:t>Kostenart (…)</a:t>
            </a:r>
          </a:p>
        </p:txBody>
      </p:sp>
    </p:spTree>
    <p:extLst>
      <p:ext uri="{BB962C8B-B14F-4D97-AF65-F5344CB8AC3E}">
        <p14:creationId xmlns:p14="http://schemas.microsoft.com/office/powerpoint/2010/main" val="18220322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974725" y="3030538"/>
            <a:ext cx="11055350" cy="2090737"/>
          </a:xfrm>
        </p:spPr>
        <p:txBody>
          <a:bodyPr/>
          <a:lstStyle/>
          <a:p>
            <a:r>
              <a:rPr lang="de-DE" dirty="0" smtClean="0"/>
              <a:t>Titelmasterformat durch Klicken bearbeiten</a:t>
            </a:r>
            <a:endParaRPr lang="de-DE" dirty="0"/>
          </a:p>
        </p:txBody>
      </p:sp>
      <p:sp>
        <p:nvSpPr>
          <p:cNvPr id="3" name="Untertitel 2"/>
          <p:cNvSpPr>
            <a:spLocks noGrp="1"/>
          </p:cNvSpPr>
          <p:nvPr>
            <p:ph type="subTitle" idx="1"/>
          </p:nvPr>
        </p:nvSpPr>
        <p:spPr>
          <a:xfrm>
            <a:off x="1951038" y="5527675"/>
            <a:ext cx="9102725" cy="2492375"/>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de-DE" smtClean="0"/>
              <a:t>Formatvorlage des Untertitelmasters durch Klicken bearbeiten</a:t>
            </a:r>
            <a:endParaRPr lang="de-DE"/>
          </a:p>
        </p:txBody>
      </p:sp>
    </p:spTree>
    <p:extLst>
      <p:ext uri="{BB962C8B-B14F-4D97-AF65-F5344CB8AC3E}">
        <p14:creationId xmlns:p14="http://schemas.microsoft.com/office/powerpoint/2010/main" val="586843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Vergleich">
    <p:spTree>
      <p:nvGrpSpPr>
        <p:cNvPr id="1" name=""/>
        <p:cNvGrpSpPr/>
        <p:nvPr/>
      </p:nvGrpSpPr>
      <p:grpSpPr>
        <a:xfrm>
          <a:off x="0" y="0"/>
          <a:ext cx="0" cy="0"/>
          <a:chOff x="0" y="0"/>
          <a:chExt cx="0" cy="0"/>
        </a:xfrm>
      </p:grpSpPr>
      <p:sp>
        <p:nvSpPr>
          <p:cNvPr id="5" name="Titel 4"/>
          <p:cNvSpPr>
            <a:spLocks noGrp="1"/>
          </p:cNvSpPr>
          <p:nvPr>
            <p:ph type="title"/>
          </p:nvPr>
        </p:nvSpPr>
        <p:spPr>
          <a:xfrm>
            <a:off x="355600" y="484312"/>
            <a:ext cx="12293600" cy="1282700"/>
          </a:xfrm>
        </p:spPr>
        <p:txBody>
          <a:bodyPr/>
          <a:lstStyle/>
          <a:p>
            <a:r>
              <a:rPr lang="de-DE" smtClean="0"/>
              <a:t>Titelmasterformat durch Klicken bearbeiten</a:t>
            </a:r>
            <a:endParaRPr lang="de-DE"/>
          </a:p>
        </p:txBody>
      </p:sp>
    </p:spTree>
    <p:extLst>
      <p:ext uri="{BB962C8B-B14F-4D97-AF65-F5344CB8AC3E}">
        <p14:creationId xmlns:p14="http://schemas.microsoft.com/office/powerpoint/2010/main" val="2367727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Inhaltsplatzhalter 2"/>
          <p:cNvSpPr>
            <a:spLocks noGrp="1"/>
          </p:cNvSpPr>
          <p:nvPr>
            <p:ph idx="1"/>
          </p:nvPr>
        </p:nvSpPr>
        <p:spPr>
          <a:xfrm>
            <a:off x="1270000" y="5130800"/>
            <a:ext cx="10464800" cy="1270000"/>
          </a:xfrm>
          <a:prstGeom prst="rect">
            <a:avLst/>
          </a:prstGeom>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Tree>
    <p:extLst>
      <p:ext uri="{BB962C8B-B14F-4D97-AF65-F5344CB8AC3E}">
        <p14:creationId xmlns:p14="http://schemas.microsoft.com/office/powerpoint/2010/main" val="241998764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5"/>
          <a:srcRect/>
          <a:stretch>
            <a:fillRect/>
          </a:stretch>
        </a:blipFill>
        <a:effectLst/>
      </p:bgPr>
    </p:bg>
    <p:spTree>
      <p:nvGrpSpPr>
        <p:cNvPr id="1" name=""/>
        <p:cNvGrpSpPr/>
        <p:nvPr/>
      </p:nvGrpSpPr>
      <p:grpSpPr>
        <a:xfrm>
          <a:off x="0" y="0"/>
          <a:ext cx="0" cy="0"/>
          <a:chOff x="0" y="0"/>
          <a:chExt cx="0" cy="0"/>
        </a:xfrm>
      </p:grpSpPr>
      <p:sp>
        <p:nvSpPr>
          <p:cNvPr id="1025" name="Rectangle 1"/>
          <p:cNvSpPr>
            <a:spLocks noGrp="1"/>
          </p:cNvSpPr>
          <p:nvPr>
            <p:ph type="title"/>
          </p:nvPr>
        </p:nvSpPr>
        <p:spPr bwMode="auto">
          <a:xfrm>
            <a:off x="355600" y="7416800"/>
            <a:ext cx="12293600" cy="1282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0" tIns="0" rIns="0" bIns="0" numCol="1" anchor="ctr" anchorCtr="0" compatLnSpc="1">
            <a:prstTxWarp prst="textNoShape">
              <a:avLst/>
            </a:prstTxWarp>
          </a:bodyPr>
          <a:lstStyle/>
          <a:p>
            <a:pPr lvl="0"/>
            <a:r>
              <a:rPr lang="de-DE" dirty="0" smtClean="0">
                <a:sym typeface="Gill Sans Light" charset="0"/>
              </a:rPr>
              <a:t>Click </a:t>
            </a:r>
            <a:r>
              <a:rPr lang="de-DE" dirty="0" err="1" smtClean="0">
                <a:sym typeface="Gill Sans Light" charset="0"/>
              </a:rPr>
              <a:t>to</a:t>
            </a:r>
            <a:r>
              <a:rPr lang="de-DE" dirty="0" smtClean="0">
                <a:sym typeface="Gill Sans Light" charset="0"/>
              </a:rPr>
              <a:t> </a:t>
            </a:r>
            <a:r>
              <a:rPr lang="de-DE" dirty="0" err="1" smtClean="0">
                <a:sym typeface="Gill Sans Light" charset="0"/>
              </a:rPr>
              <a:t>edit</a:t>
            </a:r>
            <a:r>
              <a:rPr lang="de-DE" dirty="0" smtClean="0">
                <a:sym typeface="Gill Sans Light" charset="0"/>
              </a:rPr>
              <a:t> Master title style</a:t>
            </a:r>
          </a:p>
        </p:txBody>
      </p:sp>
      <p:pic>
        <p:nvPicPr>
          <p:cNvPr id="3" name="Grafik 2"/>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1803384" y="9229297"/>
            <a:ext cx="963712" cy="400031"/>
          </a:xfrm>
          <a:prstGeom prst="rect">
            <a:avLst/>
          </a:prstGeom>
        </p:spPr>
      </p:pic>
      <p:sp>
        <p:nvSpPr>
          <p:cNvPr id="4" name="Textfeld 3"/>
          <p:cNvSpPr txBox="1"/>
          <p:nvPr userDrawn="1"/>
        </p:nvSpPr>
        <p:spPr>
          <a:xfrm>
            <a:off x="10871464" y="9327727"/>
            <a:ext cx="1075936" cy="261610"/>
          </a:xfrm>
          <a:prstGeom prst="rect">
            <a:avLst/>
          </a:prstGeom>
          <a:noFill/>
        </p:spPr>
        <p:txBody>
          <a:bodyPr wrap="none" rtlCol="0">
            <a:spAutoFit/>
          </a:bodyPr>
          <a:lstStyle/>
          <a:p>
            <a:r>
              <a:rPr lang="de-DE" sz="1050" dirty="0" smtClean="0"/>
              <a:t>Generated by </a:t>
            </a:r>
            <a:endParaRPr lang="de-DE" sz="1050" dirty="0"/>
          </a:p>
        </p:txBody>
      </p:sp>
    </p:spTree>
  </p:cSld>
  <p:clrMap bg1="dk2" tx1="lt1" bg2="dk1" tx2="lt2" accent1="accent1" accent2="accent2" accent3="accent3" accent4="accent4" accent5="accent5" accent6="accent6" hlink="hlink" folHlink="folHlink"/>
  <p:sldLayoutIdLst>
    <p:sldLayoutId id="2147483650" r:id="rId1"/>
    <p:sldLayoutId id="2147483654" r:id="rId2"/>
    <p:sldLayoutId id="2147483655" r:id="rId3"/>
  </p:sldLayoutIdLst>
  <p:hf hdr="0" dt="0"/>
  <p:txStyles>
    <p:titleStyle>
      <a:lvl1pPr algn="ctr" defTabSz="584200" rtl="0" fontAlgn="base" hangingPunct="0">
        <a:spcBef>
          <a:spcPct val="0"/>
        </a:spcBef>
        <a:spcAft>
          <a:spcPct val="0"/>
        </a:spcAft>
        <a:defRPr sz="7200">
          <a:solidFill>
            <a:srgbClr val="414141"/>
          </a:solidFill>
          <a:latin typeface="+mj-lt"/>
          <a:ea typeface="+mj-ea"/>
          <a:cs typeface="+mj-cs"/>
          <a:sym typeface="Gill Sans Light" charset="0"/>
        </a:defRPr>
      </a:lvl1pPr>
      <a:lvl2pPr algn="ctr" defTabSz="584200" rtl="0" fontAlgn="base" hangingPunct="0">
        <a:spcBef>
          <a:spcPct val="0"/>
        </a:spcBef>
        <a:spcAft>
          <a:spcPct val="0"/>
        </a:spcAft>
        <a:defRPr sz="7200">
          <a:solidFill>
            <a:srgbClr val="414141"/>
          </a:solidFill>
          <a:latin typeface="Gill Sans Light" charset="0"/>
          <a:ea typeface="Gill Sans Light" charset="0"/>
          <a:cs typeface="Gill Sans Light" charset="0"/>
          <a:sym typeface="Gill Sans Light" charset="0"/>
        </a:defRPr>
      </a:lvl2pPr>
      <a:lvl3pPr algn="ctr" defTabSz="584200" rtl="0" fontAlgn="base" hangingPunct="0">
        <a:spcBef>
          <a:spcPct val="0"/>
        </a:spcBef>
        <a:spcAft>
          <a:spcPct val="0"/>
        </a:spcAft>
        <a:defRPr sz="7200">
          <a:solidFill>
            <a:srgbClr val="414141"/>
          </a:solidFill>
          <a:latin typeface="Gill Sans Light" charset="0"/>
          <a:ea typeface="Gill Sans Light" charset="0"/>
          <a:cs typeface="Gill Sans Light" charset="0"/>
          <a:sym typeface="Gill Sans Light" charset="0"/>
        </a:defRPr>
      </a:lvl3pPr>
      <a:lvl4pPr algn="ctr" defTabSz="584200" rtl="0" fontAlgn="base" hangingPunct="0">
        <a:spcBef>
          <a:spcPct val="0"/>
        </a:spcBef>
        <a:spcAft>
          <a:spcPct val="0"/>
        </a:spcAft>
        <a:defRPr sz="7200">
          <a:solidFill>
            <a:srgbClr val="414141"/>
          </a:solidFill>
          <a:latin typeface="Gill Sans Light" charset="0"/>
          <a:ea typeface="Gill Sans Light" charset="0"/>
          <a:cs typeface="Gill Sans Light" charset="0"/>
          <a:sym typeface="Gill Sans Light" charset="0"/>
        </a:defRPr>
      </a:lvl4pPr>
      <a:lvl5pPr algn="ctr" defTabSz="584200" rtl="0" fontAlgn="base" hangingPunct="0">
        <a:spcBef>
          <a:spcPct val="0"/>
        </a:spcBef>
        <a:spcAft>
          <a:spcPct val="0"/>
        </a:spcAft>
        <a:defRPr sz="7200">
          <a:solidFill>
            <a:srgbClr val="414141"/>
          </a:solidFill>
          <a:latin typeface="Gill Sans Light" charset="0"/>
          <a:ea typeface="Gill Sans Light" charset="0"/>
          <a:cs typeface="Gill Sans Light" charset="0"/>
          <a:sym typeface="Gill Sans Light" charset="0"/>
        </a:defRPr>
      </a:lvl5pPr>
      <a:lvl6pPr marL="457200" algn="ctr" defTabSz="584200" rtl="0" fontAlgn="base" hangingPunct="0">
        <a:spcBef>
          <a:spcPct val="0"/>
        </a:spcBef>
        <a:spcAft>
          <a:spcPct val="0"/>
        </a:spcAft>
        <a:defRPr sz="7200">
          <a:solidFill>
            <a:srgbClr val="414141"/>
          </a:solidFill>
          <a:latin typeface="Gill Sans Light" charset="0"/>
          <a:ea typeface="Gill Sans Light" charset="0"/>
          <a:cs typeface="Gill Sans Light" charset="0"/>
          <a:sym typeface="Gill Sans Light" charset="0"/>
        </a:defRPr>
      </a:lvl6pPr>
      <a:lvl7pPr marL="914400" algn="ctr" defTabSz="584200" rtl="0" fontAlgn="base" hangingPunct="0">
        <a:spcBef>
          <a:spcPct val="0"/>
        </a:spcBef>
        <a:spcAft>
          <a:spcPct val="0"/>
        </a:spcAft>
        <a:defRPr sz="7200">
          <a:solidFill>
            <a:srgbClr val="414141"/>
          </a:solidFill>
          <a:latin typeface="Gill Sans Light" charset="0"/>
          <a:ea typeface="Gill Sans Light" charset="0"/>
          <a:cs typeface="Gill Sans Light" charset="0"/>
          <a:sym typeface="Gill Sans Light" charset="0"/>
        </a:defRPr>
      </a:lvl7pPr>
      <a:lvl8pPr marL="1371600" algn="ctr" defTabSz="584200" rtl="0" fontAlgn="base" hangingPunct="0">
        <a:spcBef>
          <a:spcPct val="0"/>
        </a:spcBef>
        <a:spcAft>
          <a:spcPct val="0"/>
        </a:spcAft>
        <a:defRPr sz="7200">
          <a:solidFill>
            <a:srgbClr val="414141"/>
          </a:solidFill>
          <a:latin typeface="Gill Sans Light" charset="0"/>
          <a:ea typeface="Gill Sans Light" charset="0"/>
          <a:cs typeface="Gill Sans Light" charset="0"/>
          <a:sym typeface="Gill Sans Light" charset="0"/>
        </a:defRPr>
      </a:lvl8pPr>
      <a:lvl9pPr marL="1828800" algn="ctr" defTabSz="584200" rtl="0" fontAlgn="base" hangingPunct="0">
        <a:spcBef>
          <a:spcPct val="0"/>
        </a:spcBef>
        <a:spcAft>
          <a:spcPct val="0"/>
        </a:spcAft>
        <a:defRPr sz="7200">
          <a:solidFill>
            <a:srgbClr val="414141"/>
          </a:solidFill>
          <a:latin typeface="Gill Sans Light" charset="0"/>
          <a:ea typeface="Gill Sans Light" charset="0"/>
          <a:cs typeface="Gill Sans Light" charset="0"/>
          <a:sym typeface="Gill Sans Light" charset="0"/>
        </a:defRPr>
      </a:lvl9pPr>
    </p:titleStyle>
    <p:bodyStyle>
      <a:lvl1pPr algn="ctr" defTabSz="584200" rtl="0" fontAlgn="base" hangingPunct="0">
        <a:spcBef>
          <a:spcPct val="0"/>
        </a:spcBef>
        <a:spcAft>
          <a:spcPct val="0"/>
        </a:spcAft>
        <a:defRPr sz="3600">
          <a:solidFill>
            <a:srgbClr val="414141"/>
          </a:solidFill>
          <a:latin typeface="+mn-lt"/>
          <a:ea typeface="+mn-ea"/>
          <a:cs typeface="+mn-cs"/>
          <a:sym typeface="Gill Sans Light" charset="0"/>
        </a:defRPr>
      </a:lvl1pPr>
      <a:lvl2pPr marL="342900" algn="ctr" defTabSz="584200" rtl="0" fontAlgn="base" hangingPunct="0">
        <a:spcBef>
          <a:spcPct val="0"/>
        </a:spcBef>
        <a:spcAft>
          <a:spcPct val="0"/>
        </a:spcAft>
        <a:defRPr sz="3600">
          <a:solidFill>
            <a:srgbClr val="414141"/>
          </a:solidFill>
          <a:latin typeface="+mn-lt"/>
          <a:ea typeface="+mn-ea"/>
          <a:cs typeface="+mn-cs"/>
          <a:sym typeface="Gill Sans Light" charset="0"/>
        </a:defRPr>
      </a:lvl2pPr>
      <a:lvl3pPr marL="685800" algn="ctr" defTabSz="584200" rtl="0" fontAlgn="base" hangingPunct="0">
        <a:spcBef>
          <a:spcPct val="0"/>
        </a:spcBef>
        <a:spcAft>
          <a:spcPct val="0"/>
        </a:spcAft>
        <a:defRPr sz="3600">
          <a:solidFill>
            <a:srgbClr val="414141"/>
          </a:solidFill>
          <a:latin typeface="+mn-lt"/>
          <a:ea typeface="+mn-ea"/>
          <a:cs typeface="+mn-cs"/>
          <a:sym typeface="Gill Sans Light" charset="0"/>
        </a:defRPr>
      </a:lvl3pPr>
      <a:lvl4pPr marL="1028700" algn="ctr" defTabSz="584200" rtl="0" fontAlgn="base" hangingPunct="0">
        <a:spcBef>
          <a:spcPct val="0"/>
        </a:spcBef>
        <a:spcAft>
          <a:spcPct val="0"/>
        </a:spcAft>
        <a:defRPr sz="3600">
          <a:solidFill>
            <a:srgbClr val="414141"/>
          </a:solidFill>
          <a:latin typeface="+mn-lt"/>
          <a:ea typeface="+mn-ea"/>
          <a:cs typeface="+mn-cs"/>
          <a:sym typeface="Gill Sans Light" charset="0"/>
        </a:defRPr>
      </a:lvl4pPr>
      <a:lvl5pPr marL="1371600" algn="ctr" defTabSz="584200" rtl="0" fontAlgn="base" hangingPunct="0">
        <a:spcBef>
          <a:spcPct val="0"/>
        </a:spcBef>
        <a:spcAft>
          <a:spcPct val="0"/>
        </a:spcAft>
        <a:defRPr sz="3600">
          <a:solidFill>
            <a:srgbClr val="414141"/>
          </a:solidFill>
          <a:latin typeface="+mn-lt"/>
          <a:ea typeface="+mn-ea"/>
          <a:cs typeface="+mn-cs"/>
          <a:sym typeface="Gill Sans Light" charset="0"/>
        </a:defRPr>
      </a:lvl5pPr>
      <a:lvl6pPr marL="1828800" algn="ctr" defTabSz="584200" rtl="0" fontAlgn="base" hangingPunct="0">
        <a:spcBef>
          <a:spcPct val="0"/>
        </a:spcBef>
        <a:spcAft>
          <a:spcPct val="0"/>
        </a:spcAft>
        <a:defRPr sz="3600">
          <a:solidFill>
            <a:srgbClr val="414141"/>
          </a:solidFill>
          <a:latin typeface="+mn-lt"/>
          <a:ea typeface="+mn-ea"/>
          <a:cs typeface="+mn-cs"/>
          <a:sym typeface="Gill Sans Light" charset="0"/>
        </a:defRPr>
      </a:lvl6pPr>
      <a:lvl7pPr marL="2286000" algn="ctr" defTabSz="584200" rtl="0" fontAlgn="base" hangingPunct="0">
        <a:spcBef>
          <a:spcPct val="0"/>
        </a:spcBef>
        <a:spcAft>
          <a:spcPct val="0"/>
        </a:spcAft>
        <a:defRPr sz="3600">
          <a:solidFill>
            <a:srgbClr val="414141"/>
          </a:solidFill>
          <a:latin typeface="+mn-lt"/>
          <a:ea typeface="+mn-ea"/>
          <a:cs typeface="+mn-cs"/>
          <a:sym typeface="Gill Sans Light" charset="0"/>
        </a:defRPr>
      </a:lvl7pPr>
      <a:lvl8pPr marL="2743200" algn="ctr" defTabSz="584200" rtl="0" fontAlgn="base" hangingPunct="0">
        <a:spcBef>
          <a:spcPct val="0"/>
        </a:spcBef>
        <a:spcAft>
          <a:spcPct val="0"/>
        </a:spcAft>
        <a:defRPr sz="3600">
          <a:solidFill>
            <a:srgbClr val="414141"/>
          </a:solidFill>
          <a:latin typeface="+mn-lt"/>
          <a:ea typeface="+mn-ea"/>
          <a:cs typeface="+mn-cs"/>
          <a:sym typeface="Gill Sans Light" charset="0"/>
        </a:defRPr>
      </a:lvl8pPr>
      <a:lvl9pPr marL="3200400" algn="ctr" defTabSz="584200" rtl="0" fontAlgn="base" hangingPunct="0">
        <a:spcBef>
          <a:spcPct val="0"/>
        </a:spcBef>
        <a:spcAft>
          <a:spcPct val="0"/>
        </a:spcAft>
        <a:defRPr sz="3600">
          <a:solidFill>
            <a:srgbClr val="414141"/>
          </a:solidFill>
          <a:latin typeface="+mn-lt"/>
          <a:ea typeface="+mn-ea"/>
          <a:cs typeface="+mn-cs"/>
          <a:sym typeface="Gill Sans Light" charset="0"/>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AutoShape 1"/>
          <p:cNvSpPr>
            <a:spLocks/>
          </p:cNvSpPr>
          <p:nvPr/>
        </p:nvSpPr>
        <p:spPr bwMode="auto">
          <a:xfrm>
            <a:off x="2998788" y="6088063"/>
            <a:ext cx="6997700" cy="8382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p>
            <a:r>
              <a:rPr lang="de-DE" sz="2400" dirty="0" smtClean="0">
                <a:solidFill>
                  <a:srgbClr val="4C4C4C"/>
                </a:solidFill>
                <a:latin typeface="Helvetica" charset="0"/>
                <a:ea typeface="Helvetica" charset="0"/>
                <a:cs typeface="Helvetica" charset="0"/>
                <a:sym typeface="Helvetica" charset="0"/>
              </a:rPr>
              <a:t>Multiprojekt Übersichten</a:t>
            </a:r>
          </a:p>
          <a:p>
            <a:r>
              <a:rPr lang="de-DE" sz="1800" dirty="0" smtClean="0">
                <a:solidFill>
                  <a:srgbClr val="4C4C4C"/>
                </a:solidFill>
                <a:latin typeface="Helvetica" charset="0"/>
                <a:ea typeface="Helvetica" charset="0"/>
                <a:cs typeface="Helvetica" charset="0"/>
                <a:sym typeface="Helvetica" charset="0"/>
              </a:rPr>
              <a:t>Erzeugt durch den VISBO Report Generator © 2013 </a:t>
            </a:r>
          </a:p>
        </p:txBody>
      </p:sp>
      <p:pic>
        <p:nvPicPr>
          <p:cNvPr id="4098" name="Picture 2" descr="visbo_logo_transparent_flat.tif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66900" y="2379663"/>
            <a:ext cx="8509000" cy="35321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4071060550"/>
      </p:ext>
    </p:extLst>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50875" y="390525"/>
            <a:ext cx="11703050" cy="1245915"/>
          </a:xfrm>
        </p:spPr>
        <p:txBody>
          <a:bodyPr/>
          <a:lstStyle/>
          <a:p>
            <a:r>
              <a:rPr lang="de-DE" sz="4400" dirty="0" smtClean="0"/>
              <a:t>Aktueller Status der Projekte</a:t>
            </a:r>
            <a:endParaRPr lang="de-DE" dirty="0"/>
          </a:p>
        </p:txBody>
      </p:sp>
      <p:sp>
        <p:nvSpPr>
          <p:cNvPr id="10" name="Rechteck 9"/>
          <p:cNvSpPr/>
          <p:nvPr/>
        </p:nvSpPr>
        <p:spPr bwMode="auto">
          <a:xfrm>
            <a:off x="504000" y="9197280"/>
            <a:ext cx="3478120" cy="340094"/>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0" tIns="50800" rIns="50800" bIns="50800" numCol="1" rtlCol="0" anchor="ctr" anchorCtr="0" compatLnSpc="1">
            <a:prstTxWarp prst="textNoShape">
              <a:avLst/>
            </a:prstTxWarp>
          </a:bodyPr>
          <a:lstStyle/>
          <a:p>
            <a:pPr marL="342900" algn="l"/>
            <a:r>
              <a:rPr lang="de-DE" sz="1400" dirty="0" smtClean="0">
                <a:solidFill>
                  <a:schemeClr val="bg2"/>
                </a:solidFill>
              </a:rPr>
              <a:t>Stand:</a:t>
            </a:r>
            <a:endParaRPr lang="de-DE" sz="1400" dirty="0">
              <a:solidFill>
                <a:schemeClr val="bg2"/>
              </a:solidFill>
            </a:endParaRPr>
          </a:p>
        </p:txBody>
      </p:sp>
      <p:sp>
        <p:nvSpPr>
          <p:cNvPr id="15" name="Rechteck 14"/>
          <p:cNvSpPr/>
          <p:nvPr/>
        </p:nvSpPr>
        <p:spPr bwMode="auto">
          <a:xfrm>
            <a:off x="4824480" y="9197280"/>
            <a:ext cx="3478120" cy="340094"/>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0" tIns="50800" rIns="50800" bIns="50800" numCol="1" rtlCol="0" anchor="ctr" anchorCtr="0" compatLnSpc="1">
            <a:prstTxWarp prst="textNoShape">
              <a:avLst/>
            </a:prstTxWarp>
          </a:bodyPr>
          <a:lstStyle/>
          <a:p>
            <a:pPr marL="342900" algn="l"/>
            <a:r>
              <a:rPr lang="de-DE" sz="1400" dirty="0" smtClean="0">
                <a:solidFill>
                  <a:schemeClr val="bg2"/>
                </a:solidFill>
              </a:rPr>
              <a:t>Zeitraum:</a:t>
            </a:r>
            <a:endParaRPr lang="de-DE" sz="1400" dirty="0">
              <a:solidFill>
                <a:schemeClr val="bg2"/>
              </a:solidFill>
            </a:endParaRPr>
          </a:p>
        </p:txBody>
      </p:sp>
      <p:sp>
        <p:nvSpPr>
          <p:cNvPr id="9" name="Rechteck 8"/>
          <p:cNvSpPr/>
          <p:nvPr/>
        </p:nvSpPr>
        <p:spPr bwMode="auto">
          <a:xfrm>
            <a:off x="504000" y="1636440"/>
            <a:ext cx="4140000" cy="6480720"/>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50800" tIns="50800" rIns="50800" bIns="50800" numCol="1" rtlCol="0" anchor="ctr" anchorCtr="0" compatLnSpc="1">
            <a:prstTxWarp prst="textNoShape">
              <a:avLst/>
            </a:prstTxWarp>
          </a:bodyPr>
          <a:lstStyle/>
          <a:p>
            <a:r>
              <a:rPr lang="de-DE" sz="2400" dirty="0" smtClean="0">
                <a:solidFill>
                  <a:schemeClr val="bg2"/>
                </a:solidFill>
              </a:rPr>
              <a:t>Projekt-Tafel(</a:t>
            </a:r>
            <a:r>
              <a:rPr lang="de-DE" sz="2400" dirty="0">
                <a:solidFill>
                  <a:schemeClr val="bg2"/>
                </a:solidFill>
              </a:rPr>
              <a:t>S</a:t>
            </a:r>
            <a:r>
              <a:rPr lang="de-DE" sz="2400" dirty="0" smtClean="0">
                <a:solidFill>
                  <a:schemeClr val="bg2"/>
                </a:solidFill>
              </a:rPr>
              <a:t>tatus)</a:t>
            </a:r>
            <a:endParaRPr lang="de-DE" sz="2400" dirty="0">
              <a:solidFill>
                <a:srgbClr val="572E2D"/>
              </a:solidFill>
              <a:latin typeface="Noteworthy Bold" charset="0"/>
              <a:ea typeface="Noteworthy Bold" charset="0"/>
              <a:cs typeface="Noteworthy Bold" charset="0"/>
              <a:sym typeface="Noteworthy Bold" charset="0"/>
            </a:endParaRPr>
          </a:p>
        </p:txBody>
      </p:sp>
      <p:graphicFrame>
        <p:nvGraphicFramePr>
          <p:cNvPr id="8" name="Shape3" title="Tabelle Projektstatus"/>
          <p:cNvGraphicFramePr>
            <a:graphicFrameLocks noGrp="1"/>
          </p:cNvGraphicFramePr>
          <p:nvPr>
            <p:extLst>
              <p:ext uri="{D42A27DB-BD31-4B8C-83A1-F6EECF244321}">
                <p14:modId xmlns:p14="http://schemas.microsoft.com/office/powerpoint/2010/main" val="2928574937"/>
              </p:ext>
            </p:extLst>
          </p:nvPr>
        </p:nvGraphicFramePr>
        <p:xfrm>
          <a:off x="4824478" y="1636440"/>
          <a:ext cx="7582578" cy="919480"/>
        </p:xfrm>
        <a:graphic>
          <a:graphicData uri="http://schemas.openxmlformats.org/drawingml/2006/table">
            <a:tbl>
              <a:tblPr firstRow="1" bandRow="1">
                <a:tableStyleId>{69012ECD-51FC-41F1-AA8D-1B2483CD663E}</a:tableStyleId>
              </a:tblPr>
              <a:tblGrid>
                <a:gridCol w="381778"/>
                <a:gridCol w="1224136"/>
                <a:gridCol w="5976664"/>
              </a:tblGrid>
              <a:tr h="370840">
                <a:tc>
                  <a:txBody>
                    <a:bodyPr/>
                    <a:lstStyle/>
                    <a:p>
                      <a:endParaRPr lang="de-DE" sz="1600" dirty="0"/>
                    </a:p>
                  </a:txBody>
                  <a:tcPr/>
                </a:tc>
                <a:tc>
                  <a:txBody>
                    <a:bodyPr/>
                    <a:lstStyle/>
                    <a:p>
                      <a:r>
                        <a:rPr lang="de-DE" sz="1600" dirty="0" smtClean="0"/>
                        <a:t>Projekt</a:t>
                      </a:r>
                      <a:endParaRPr lang="de-DE" sz="16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600" dirty="0" smtClean="0"/>
                        <a:t>Gesamt</a:t>
                      </a:r>
                      <a:r>
                        <a:rPr lang="de-DE" sz="1600" baseline="0" dirty="0" smtClean="0"/>
                        <a:t> Einschätzung Projektleitung</a:t>
                      </a:r>
                      <a:endParaRPr lang="de-DE" sz="1600" dirty="0" smtClean="0">
                        <a:solidFill>
                          <a:schemeClr val="bg2">
                            <a:lumMod val="50000"/>
                          </a:schemeClr>
                        </a:solidFill>
                      </a:endParaRPr>
                    </a:p>
                  </a:txBody>
                  <a:tcPr/>
                </a:tc>
              </a:tr>
              <a:tr h="370840">
                <a:tc>
                  <a:txBody>
                    <a:bodyPr/>
                    <a:lstStyle/>
                    <a:p>
                      <a:pPr marL="0" algn="l" defTabSz="914400" rtl="0" eaLnBrk="1" latinLnBrk="0" hangingPunct="1"/>
                      <a:endParaRPr lang="de-DE" sz="1000" kern="1200" dirty="0">
                        <a:solidFill>
                          <a:schemeClr val="tx1"/>
                        </a:solidFill>
                        <a:latin typeface="+mn-lt"/>
                        <a:ea typeface="+mn-ea"/>
                        <a:cs typeface="+mn-cs"/>
                      </a:endParaRPr>
                    </a:p>
                  </a:txBody>
                  <a:tcPr/>
                </a:tc>
                <a:tc>
                  <a:txBody>
                    <a:bodyPr/>
                    <a:lstStyle/>
                    <a:p>
                      <a:r>
                        <a:rPr lang="de-DE" sz="1000" dirty="0" smtClean="0"/>
                        <a:t>Entwicklung 5</a:t>
                      </a:r>
                      <a:endParaRPr lang="de-DE" sz="1000" dirty="0"/>
                    </a:p>
                  </a:txBody>
                  <a:tcPr/>
                </a:tc>
                <a:tc>
                  <a:txBody>
                    <a:bodyPr/>
                    <a:lstStyle/>
                    <a:p>
                      <a:r>
                        <a:rPr lang="de-DE" sz="1000" dirty="0" smtClean="0"/>
                        <a:t>es sind neue Anforderungen bezgl. Sicherheit dazugekommen - wir haben noch keinen Weg gefunden, die mit unser aktuellen Architektur zu leisten; es muss entschieden werden, ob die Anforderung in der Form bestehen bleiben muss </a:t>
                      </a:r>
                      <a:endParaRPr lang="de-DE" sz="1000" dirty="0"/>
                    </a:p>
                  </a:txBody>
                  <a:tcPr/>
                </a:tc>
              </a:tr>
            </a:tbl>
          </a:graphicData>
        </a:graphic>
      </p:graphicFrame>
    </p:spTree>
    <p:extLst>
      <p:ext uri="{BB962C8B-B14F-4D97-AF65-F5344CB8AC3E}">
        <p14:creationId xmlns:p14="http://schemas.microsoft.com/office/powerpoint/2010/main" val="217432268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50875" y="390525"/>
            <a:ext cx="11703050" cy="1245915"/>
          </a:xfrm>
        </p:spPr>
        <p:txBody>
          <a:bodyPr/>
          <a:lstStyle/>
          <a:p>
            <a:r>
              <a:rPr lang="de-DE" sz="4400" dirty="0" smtClean="0"/>
              <a:t>Status Ziele</a:t>
            </a:r>
            <a:endParaRPr lang="de-DE" dirty="0"/>
          </a:p>
        </p:txBody>
      </p:sp>
      <p:sp>
        <p:nvSpPr>
          <p:cNvPr id="10" name="Rechteck 9"/>
          <p:cNvSpPr/>
          <p:nvPr/>
        </p:nvSpPr>
        <p:spPr bwMode="auto">
          <a:xfrm>
            <a:off x="504000" y="9197280"/>
            <a:ext cx="3478120" cy="340094"/>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0" tIns="50800" rIns="50800" bIns="50800" numCol="1" rtlCol="0" anchor="ctr" anchorCtr="0" compatLnSpc="1">
            <a:prstTxWarp prst="textNoShape">
              <a:avLst/>
            </a:prstTxWarp>
          </a:bodyPr>
          <a:lstStyle/>
          <a:p>
            <a:pPr marL="342900" algn="l"/>
            <a:r>
              <a:rPr lang="de-DE" sz="1400" dirty="0" smtClean="0">
                <a:solidFill>
                  <a:schemeClr val="bg2"/>
                </a:solidFill>
              </a:rPr>
              <a:t>Stand:</a:t>
            </a:r>
            <a:endParaRPr lang="de-DE" sz="1400" dirty="0">
              <a:solidFill>
                <a:schemeClr val="bg2"/>
              </a:solidFill>
            </a:endParaRPr>
          </a:p>
        </p:txBody>
      </p:sp>
      <p:sp>
        <p:nvSpPr>
          <p:cNvPr id="15" name="Rechteck 14"/>
          <p:cNvSpPr/>
          <p:nvPr/>
        </p:nvSpPr>
        <p:spPr bwMode="auto">
          <a:xfrm>
            <a:off x="4824480" y="9197280"/>
            <a:ext cx="3478120" cy="340094"/>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0" tIns="50800" rIns="50800" bIns="50800" numCol="1" rtlCol="0" anchor="ctr" anchorCtr="0" compatLnSpc="1">
            <a:prstTxWarp prst="textNoShape">
              <a:avLst/>
            </a:prstTxWarp>
          </a:bodyPr>
          <a:lstStyle/>
          <a:p>
            <a:pPr marL="342900" algn="l"/>
            <a:r>
              <a:rPr lang="de-DE" sz="1400" dirty="0" smtClean="0">
                <a:solidFill>
                  <a:schemeClr val="bg2"/>
                </a:solidFill>
              </a:rPr>
              <a:t>Zeitraum:</a:t>
            </a:r>
            <a:endParaRPr lang="de-DE" sz="1400" dirty="0">
              <a:solidFill>
                <a:schemeClr val="bg2"/>
              </a:solidFill>
            </a:endParaRPr>
          </a:p>
        </p:txBody>
      </p:sp>
      <p:sp>
        <p:nvSpPr>
          <p:cNvPr id="7" name="Rechteck 6"/>
          <p:cNvSpPr/>
          <p:nvPr/>
        </p:nvSpPr>
        <p:spPr bwMode="auto">
          <a:xfrm>
            <a:off x="5184520" y="1636440"/>
            <a:ext cx="5638360" cy="3240360"/>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50800" tIns="50800" rIns="50800" bIns="50800" numCol="1" rtlCol="0" anchor="ctr" anchorCtr="0" compatLnSpc="1">
            <a:prstTxWarp prst="textNoShape">
              <a:avLst/>
            </a:prstTxWarp>
          </a:bodyPr>
          <a:lstStyle/>
          <a:p>
            <a:r>
              <a:rPr lang="de-DE" sz="1600" dirty="0">
                <a:solidFill>
                  <a:srgbClr val="572E2D"/>
                </a:solidFill>
                <a:latin typeface="Noteworthy Bold" charset="0"/>
                <a:ea typeface="Noteworthy Bold" charset="0"/>
                <a:cs typeface="Noteworthy Bold" charset="0"/>
                <a:sym typeface="Noteworthy Bold" charset="0"/>
              </a:rPr>
              <a:t>Bisherige Zielerreichung</a:t>
            </a:r>
          </a:p>
        </p:txBody>
      </p:sp>
      <p:sp>
        <p:nvSpPr>
          <p:cNvPr id="11" name="Rechteck 10"/>
          <p:cNvSpPr/>
          <p:nvPr/>
        </p:nvSpPr>
        <p:spPr bwMode="auto">
          <a:xfrm>
            <a:off x="5184520" y="4984812"/>
            <a:ext cx="5638360" cy="3240360"/>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50800" tIns="50800" rIns="50800" bIns="50800" numCol="1" rtlCol="0" anchor="ctr" anchorCtr="0" compatLnSpc="1">
            <a:prstTxWarp prst="textNoShape">
              <a:avLst/>
            </a:prstTxWarp>
          </a:bodyPr>
          <a:lstStyle/>
          <a:p>
            <a:r>
              <a:rPr lang="de-DE" sz="1600" dirty="0">
                <a:solidFill>
                  <a:srgbClr val="572E2D"/>
                </a:solidFill>
                <a:latin typeface="Noteworthy Bold" charset="0"/>
                <a:ea typeface="Noteworthy Bold" charset="0"/>
                <a:cs typeface="Noteworthy Bold" charset="0"/>
                <a:sym typeface="Noteworthy Bold" charset="0"/>
              </a:rPr>
              <a:t>Prognose</a:t>
            </a:r>
            <a:r>
              <a:rPr lang="de-DE" sz="1600" dirty="0">
                <a:solidFill>
                  <a:schemeClr val="bg2"/>
                </a:solidFill>
                <a:sym typeface="Noteworthy Bold" charset="0"/>
              </a:rPr>
              <a:t> </a:t>
            </a:r>
            <a:r>
              <a:rPr lang="de-DE" sz="1600" dirty="0">
                <a:solidFill>
                  <a:srgbClr val="572E2D"/>
                </a:solidFill>
                <a:latin typeface="Noteworthy Bold" charset="0"/>
                <a:ea typeface="Noteworthy Bold" charset="0"/>
                <a:cs typeface="Noteworthy Bold" charset="0"/>
                <a:sym typeface="Noteworthy Bold" charset="0"/>
              </a:rPr>
              <a:t>Zielerreichung</a:t>
            </a:r>
            <a:endParaRPr lang="de-DE" sz="1600" dirty="0">
              <a:solidFill>
                <a:srgbClr val="572E2D"/>
              </a:solidFill>
              <a:latin typeface="Noteworthy Bold" charset="0"/>
              <a:ea typeface="Noteworthy Bold" charset="0"/>
              <a:cs typeface="Noteworthy Bold" charset="0"/>
            </a:endParaRPr>
          </a:p>
        </p:txBody>
      </p:sp>
      <p:sp>
        <p:nvSpPr>
          <p:cNvPr id="8" name="Rechteck 7"/>
          <p:cNvSpPr/>
          <p:nvPr/>
        </p:nvSpPr>
        <p:spPr bwMode="auto">
          <a:xfrm>
            <a:off x="504000" y="1636440"/>
            <a:ext cx="4140000" cy="6480720"/>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50800" tIns="50800" rIns="50800" bIns="50800" numCol="1" rtlCol="0" anchor="ctr" anchorCtr="0" compatLnSpc="1">
            <a:prstTxWarp prst="textNoShape">
              <a:avLst/>
            </a:prstTxWarp>
          </a:bodyPr>
          <a:lstStyle/>
          <a:p>
            <a:r>
              <a:rPr lang="de-DE" sz="2400" dirty="0" smtClean="0">
                <a:solidFill>
                  <a:schemeClr val="bg2"/>
                </a:solidFill>
              </a:rPr>
              <a:t>Projekt-Tafel(Milestones GR)</a:t>
            </a:r>
            <a:endParaRPr lang="de-DE" sz="2400" dirty="0">
              <a:solidFill>
                <a:srgbClr val="572E2D"/>
              </a:solidFill>
              <a:latin typeface="Noteworthy Bold" charset="0"/>
              <a:ea typeface="Noteworthy Bold" charset="0"/>
              <a:cs typeface="Noteworthy Bold" charset="0"/>
              <a:sym typeface="Noteworthy Bold" charset="0"/>
            </a:endParaRPr>
          </a:p>
        </p:txBody>
      </p:sp>
    </p:spTree>
    <p:extLst>
      <p:ext uri="{BB962C8B-B14F-4D97-AF65-F5344CB8AC3E}">
        <p14:creationId xmlns:p14="http://schemas.microsoft.com/office/powerpoint/2010/main" val="19233929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50875" y="390525"/>
            <a:ext cx="11703050" cy="1245915"/>
          </a:xfrm>
        </p:spPr>
        <p:txBody>
          <a:bodyPr/>
          <a:lstStyle/>
          <a:p>
            <a:r>
              <a:rPr lang="de-DE" sz="4400" dirty="0" smtClean="0"/>
              <a:t>Details zu „Rot“ bewerteten Zielen</a:t>
            </a:r>
            <a:endParaRPr lang="de-DE" dirty="0"/>
          </a:p>
        </p:txBody>
      </p:sp>
      <p:sp>
        <p:nvSpPr>
          <p:cNvPr id="8" name="Rechteck 7"/>
          <p:cNvSpPr/>
          <p:nvPr/>
        </p:nvSpPr>
        <p:spPr bwMode="auto">
          <a:xfrm>
            <a:off x="504000" y="1636440"/>
            <a:ext cx="4140000" cy="6480720"/>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50800" tIns="50800" rIns="50800" bIns="50800" numCol="1" rtlCol="0" anchor="ctr" anchorCtr="0" compatLnSpc="1">
            <a:prstTxWarp prst="textNoShape">
              <a:avLst/>
            </a:prstTxWarp>
          </a:bodyPr>
          <a:lstStyle/>
          <a:p>
            <a:r>
              <a:rPr lang="de-DE" sz="2400" dirty="0" smtClean="0">
                <a:solidFill>
                  <a:schemeClr val="bg2"/>
                </a:solidFill>
              </a:rPr>
              <a:t>Projekt-Tafel(Milestones R)</a:t>
            </a:r>
            <a:endParaRPr lang="de-DE" sz="2400" dirty="0">
              <a:solidFill>
                <a:srgbClr val="572E2D"/>
              </a:solidFill>
              <a:latin typeface="Noteworthy Bold" charset="0"/>
              <a:ea typeface="Noteworthy Bold" charset="0"/>
              <a:cs typeface="Noteworthy Bold" charset="0"/>
              <a:sym typeface="Noteworthy Bold" charset="0"/>
            </a:endParaRPr>
          </a:p>
        </p:txBody>
      </p:sp>
      <p:sp>
        <p:nvSpPr>
          <p:cNvPr id="10" name="Rechteck 9"/>
          <p:cNvSpPr/>
          <p:nvPr/>
        </p:nvSpPr>
        <p:spPr bwMode="auto">
          <a:xfrm>
            <a:off x="504000" y="9197280"/>
            <a:ext cx="3478120" cy="340094"/>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0" tIns="50800" rIns="50800" bIns="50800" numCol="1" rtlCol="0" anchor="ctr" anchorCtr="0" compatLnSpc="1">
            <a:prstTxWarp prst="textNoShape">
              <a:avLst/>
            </a:prstTxWarp>
          </a:bodyPr>
          <a:lstStyle/>
          <a:p>
            <a:pPr marL="342900" algn="l"/>
            <a:r>
              <a:rPr lang="de-DE" sz="1400" dirty="0" smtClean="0">
                <a:solidFill>
                  <a:schemeClr val="bg2"/>
                </a:solidFill>
              </a:rPr>
              <a:t>Stand:</a:t>
            </a:r>
            <a:endParaRPr lang="de-DE" sz="1400" dirty="0">
              <a:solidFill>
                <a:schemeClr val="bg2"/>
              </a:solidFill>
            </a:endParaRPr>
          </a:p>
        </p:txBody>
      </p:sp>
      <p:sp>
        <p:nvSpPr>
          <p:cNvPr id="15" name="Rechteck 14"/>
          <p:cNvSpPr/>
          <p:nvPr/>
        </p:nvSpPr>
        <p:spPr bwMode="auto">
          <a:xfrm>
            <a:off x="4824480" y="9197280"/>
            <a:ext cx="3478120" cy="340094"/>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0" tIns="50800" rIns="50800" bIns="50800" numCol="1" rtlCol="0" anchor="ctr" anchorCtr="0" compatLnSpc="1">
            <a:prstTxWarp prst="textNoShape">
              <a:avLst/>
            </a:prstTxWarp>
          </a:bodyPr>
          <a:lstStyle/>
          <a:p>
            <a:pPr marL="342900" algn="l"/>
            <a:r>
              <a:rPr lang="de-DE" sz="1400" dirty="0" smtClean="0">
                <a:solidFill>
                  <a:schemeClr val="bg2"/>
                </a:solidFill>
              </a:rPr>
              <a:t>Zeitraum:</a:t>
            </a:r>
            <a:endParaRPr lang="de-DE" sz="1400" dirty="0">
              <a:solidFill>
                <a:schemeClr val="bg2"/>
              </a:solidFill>
            </a:endParaRPr>
          </a:p>
        </p:txBody>
      </p:sp>
      <p:graphicFrame>
        <p:nvGraphicFramePr>
          <p:cNvPr id="9" name="Shape3" descr="rot" title="Tabelle Zielerreichung"/>
          <p:cNvGraphicFramePr>
            <a:graphicFrameLocks noGrp="1"/>
          </p:cNvGraphicFramePr>
          <p:nvPr>
            <p:extLst>
              <p:ext uri="{D42A27DB-BD31-4B8C-83A1-F6EECF244321}">
                <p14:modId xmlns:p14="http://schemas.microsoft.com/office/powerpoint/2010/main" val="4111416186"/>
              </p:ext>
            </p:extLst>
          </p:nvPr>
        </p:nvGraphicFramePr>
        <p:xfrm>
          <a:off x="4824477" y="1636440"/>
          <a:ext cx="7438561" cy="1071880"/>
        </p:xfrm>
        <a:graphic>
          <a:graphicData uri="http://schemas.openxmlformats.org/drawingml/2006/table">
            <a:tbl>
              <a:tblPr firstRow="1" bandRow="1">
                <a:tableStyleId>{69012ECD-51FC-41F1-AA8D-1B2483CD663E}</a:tableStyleId>
              </a:tblPr>
              <a:tblGrid>
                <a:gridCol w="381778"/>
                <a:gridCol w="1008112"/>
                <a:gridCol w="1008112"/>
                <a:gridCol w="864097"/>
                <a:gridCol w="4176462"/>
              </a:tblGrid>
              <a:tr h="370840">
                <a:tc>
                  <a:txBody>
                    <a:bodyPr/>
                    <a:lstStyle/>
                    <a:p>
                      <a:endParaRPr lang="de-DE" sz="1600" dirty="0"/>
                    </a:p>
                  </a:txBody>
                  <a:tcPr/>
                </a:tc>
                <a:tc>
                  <a:txBody>
                    <a:bodyPr/>
                    <a:lstStyle/>
                    <a:p>
                      <a:r>
                        <a:rPr lang="de-DE" sz="1600" dirty="0" smtClean="0"/>
                        <a:t>Projekt</a:t>
                      </a:r>
                      <a:endParaRPr lang="de-DE" sz="1600" dirty="0"/>
                    </a:p>
                  </a:txBody>
                  <a:tcPr/>
                </a:tc>
                <a:tc>
                  <a:txBody>
                    <a:bodyPr/>
                    <a:lstStyle/>
                    <a:p>
                      <a:r>
                        <a:rPr lang="de-DE" sz="1600" dirty="0" smtClean="0"/>
                        <a:t>Ziel</a:t>
                      </a:r>
                      <a:endParaRPr lang="de-DE" sz="1600" dirty="0"/>
                    </a:p>
                  </a:txBody>
                  <a:tcPr/>
                </a:tc>
                <a:tc>
                  <a:txBody>
                    <a:bodyPr/>
                    <a:lstStyle/>
                    <a:p>
                      <a:r>
                        <a:rPr lang="de-DE" sz="1600" dirty="0" smtClean="0"/>
                        <a:t>Datum</a:t>
                      </a:r>
                      <a:endParaRPr lang="de-DE" sz="1600" dirty="0"/>
                    </a:p>
                  </a:txBody>
                  <a:tcPr/>
                </a:tc>
                <a:tc>
                  <a:txBody>
                    <a:bodyPr/>
                    <a:lstStyle/>
                    <a:p>
                      <a:r>
                        <a:rPr lang="de-DE" sz="1600" dirty="0" smtClean="0"/>
                        <a:t>Erläuterung</a:t>
                      </a:r>
                      <a:endParaRPr lang="de-DE" sz="1600" dirty="0"/>
                    </a:p>
                  </a:txBody>
                  <a:tcPr/>
                </a:tc>
              </a:tr>
              <a:tr h="370840">
                <a:tc>
                  <a:txBody>
                    <a:bodyPr/>
                    <a:lstStyle/>
                    <a:p>
                      <a:pPr marL="0" algn="l" defTabSz="914400" rtl="0" eaLnBrk="1" latinLnBrk="0" hangingPunct="1"/>
                      <a:r>
                        <a:rPr lang="de-DE" sz="1000" kern="1200" dirty="0" smtClean="0">
                          <a:solidFill>
                            <a:schemeClr val="tx1"/>
                          </a:solidFill>
                          <a:latin typeface="+mn-lt"/>
                          <a:ea typeface="+mn-ea"/>
                          <a:cs typeface="+mn-cs"/>
                        </a:rPr>
                        <a:t>11</a:t>
                      </a:r>
                      <a:endParaRPr lang="de-DE" sz="1000" kern="1200" dirty="0">
                        <a:solidFill>
                          <a:schemeClr val="tx1"/>
                        </a:solidFill>
                        <a:latin typeface="+mn-lt"/>
                        <a:ea typeface="+mn-ea"/>
                        <a:cs typeface="+mn-cs"/>
                      </a:endParaRPr>
                    </a:p>
                  </a:txBody>
                  <a:tcPr/>
                </a:tc>
                <a:tc>
                  <a:txBody>
                    <a:bodyPr/>
                    <a:lstStyle/>
                    <a:p>
                      <a:r>
                        <a:rPr lang="de-DE" sz="1000" dirty="0" smtClean="0"/>
                        <a:t>Entwicklung 5</a:t>
                      </a:r>
                      <a:endParaRPr lang="de-DE" sz="1000" dirty="0"/>
                    </a:p>
                  </a:txBody>
                  <a:tcPr/>
                </a:tc>
                <a:tc>
                  <a:txBody>
                    <a:bodyPr/>
                    <a:lstStyle/>
                    <a:p>
                      <a:r>
                        <a:rPr lang="de-DE" sz="1000" dirty="0" smtClean="0"/>
                        <a:t>Architektur Dokument</a:t>
                      </a:r>
                      <a:endParaRPr lang="de-DE" sz="1000" dirty="0"/>
                    </a:p>
                  </a:txBody>
                  <a:tcPr/>
                </a:tc>
                <a:tc>
                  <a:txBody>
                    <a:bodyPr/>
                    <a:lstStyle/>
                    <a:p>
                      <a:r>
                        <a:rPr lang="de-DE" sz="1000" dirty="0" smtClean="0"/>
                        <a:t>14.09.2013</a:t>
                      </a:r>
                      <a:endParaRPr lang="de-DE" sz="1000" dirty="0"/>
                    </a:p>
                  </a:txBody>
                  <a:tcPr/>
                </a:tc>
                <a:tc>
                  <a:txBody>
                    <a:bodyPr/>
                    <a:lstStyle/>
                    <a:p>
                      <a:r>
                        <a:rPr lang="de-DE" sz="1000" dirty="0" smtClean="0"/>
                        <a:t>es sind neue Anforderungen bezgl. Sicherheit dazugekommen - wir haben noch keinen Weg gefunden, die mit unser aktuellen Architektur zu leisten; es muss entschieden werden, ob die Anforderung in der Form bestehen bleiben muss </a:t>
                      </a:r>
                      <a:endParaRPr lang="de-DE" sz="1000" dirty="0"/>
                    </a:p>
                  </a:txBody>
                  <a:tcPr/>
                </a:tc>
              </a:tr>
            </a:tbl>
          </a:graphicData>
        </a:graphic>
      </p:graphicFrame>
    </p:spTree>
    <p:extLst>
      <p:ext uri="{BB962C8B-B14F-4D97-AF65-F5344CB8AC3E}">
        <p14:creationId xmlns:p14="http://schemas.microsoft.com/office/powerpoint/2010/main" val="298853133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525736" y="390525"/>
            <a:ext cx="11828189" cy="1245915"/>
          </a:xfrm>
        </p:spPr>
        <p:txBody>
          <a:bodyPr/>
          <a:lstStyle/>
          <a:p>
            <a:r>
              <a:rPr lang="de-DE" sz="3600" dirty="0" smtClean="0"/>
              <a:t>Einordnung strategischer Fit / technisches Risiko / Rendite</a:t>
            </a:r>
            <a:endParaRPr lang="de-DE" sz="6000" dirty="0"/>
          </a:p>
        </p:txBody>
      </p:sp>
      <p:sp>
        <p:nvSpPr>
          <p:cNvPr id="8" name="Rechteck 7"/>
          <p:cNvSpPr/>
          <p:nvPr/>
        </p:nvSpPr>
        <p:spPr bwMode="auto">
          <a:xfrm>
            <a:off x="525736" y="1780456"/>
            <a:ext cx="11881320" cy="6336704"/>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50800" tIns="50800" rIns="50800" bIns="50800" numCol="1" rtlCol="0" anchor="ctr" anchorCtr="0" compatLnSpc="1">
            <a:prstTxWarp prst="textNoShape">
              <a:avLst/>
            </a:prstTxWarp>
          </a:bodyPr>
          <a:lstStyle/>
          <a:p>
            <a:pPr marL="342900" marR="0" indent="0" algn="ctr" defTabSz="584200" rtl="0" eaLnBrk="1" fontAlgn="base" latinLnBrk="0" hangingPunct="0">
              <a:lnSpc>
                <a:spcPct val="100000"/>
              </a:lnSpc>
              <a:spcBef>
                <a:spcPct val="0"/>
              </a:spcBef>
              <a:spcAft>
                <a:spcPct val="0"/>
              </a:spcAft>
              <a:buClrTx/>
              <a:buSzTx/>
              <a:buFontTx/>
              <a:buNone/>
              <a:tabLst/>
            </a:pPr>
            <a:r>
              <a:rPr kumimoji="0" lang="de-DE" sz="2400" b="0" i="0" u="none" strike="noStrike" cap="none" normalizeH="0" baseline="0" dirty="0" smtClean="0">
                <a:ln>
                  <a:noFill/>
                </a:ln>
                <a:solidFill>
                  <a:schemeClr val="bg2"/>
                </a:solidFill>
                <a:effectLst/>
                <a:latin typeface="Gill Sans Light" charset="0"/>
                <a:ea typeface="Gill Sans Light" charset="0"/>
                <a:cs typeface="Gill Sans Light" charset="0"/>
                <a:sym typeface="Gill Sans Light" charset="0"/>
              </a:rPr>
              <a:t>Strategie/Risiko/Marge</a:t>
            </a:r>
          </a:p>
        </p:txBody>
      </p:sp>
      <p:sp>
        <p:nvSpPr>
          <p:cNvPr id="10" name="Rechteck 9"/>
          <p:cNvSpPr/>
          <p:nvPr/>
        </p:nvSpPr>
        <p:spPr bwMode="auto">
          <a:xfrm>
            <a:off x="504000" y="9197280"/>
            <a:ext cx="3478120" cy="340094"/>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0" tIns="50800" rIns="50800" bIns="50800" numCol="1" rtlCol="0" anchor="ctr" anchorCtr="0" compatLnSpc="1">
            <a:prstTxWarp prst="textNoShape">
              <a:avLst/>
            </a:prstTxWarp>
          </a:bodyPr>
          <a:lstStyle/>
          <a:p>
            <a:pPr marL="342900" algn="l"/>
            <a:r>
              <a:rPr lang="de-DE" sz="1400" dirty="0" smtClean="0">
                <a:solidFill>
                  <a:schemeClr val="bg2"/>
                </a:solidFill>
              </a:rPr>
              <a:t>Stand:</a:t>
            </a:r>
            <a:endParaRPr lang="de-DE" sz="1400" dirty="0">
              <a:solidFill>
                <a:schemeClr val="bg2"/>
              </a:solidFill>
            </a:endParaRPr>
          </a:p>
        </p:txBody>
      </p:sp>
      <p:sp>
        <p:nvSpPr>
          <p:cNvPr id="15" name="Rechteck 14"/>
          <p:cNvSpPr/>
          <p:nvPr/>
        </p:nvSpPr>
        <p:spPr bwMode="auto">
          <a:xfrm>
            <a:off x="4824480" y="9197280"/>
            <a:ext cx="3478120" cy="340094"/>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0" tIns="50800" rIns="50800" bIns="50800" numCol="1" rtlCol="0" anchor="ctr" anchorCtr="0" compatLnSpc="1">
            <a:prstTxWarp prst="textNoShape">
              <a:avLst/>
            </a:prstTxWarp>
          </a:bodyPr>
          <a:lstStyle/>
          <a:p>
            <a:pPr marL="342900" algn="l"/>
            <a:r>
              <a:rPr lang="de-DE" sz="1400" dirty="0" smtClean="0">
                <a:solidFill>
                  <a:schemeClr val="bg2"/>
                </a:solidFill>
              </a:rPr>
              <a:t>Zeitraum:</a:t>
            </a:r>
            <a:endParaRPr lang="de-DE" sz="1400" dirty="0">
              <a:solidFill>
                <a:schemeClr val="bg2"/>
              </a:solidFill>
            </a:endParaRPr>
          </a:p>
        </p:txBody>
      </p:sp>
      <p:sp>
        <p:nvSpPr>
          <p:cNvPr id="6" name="Textfeld 2"/>
          <p:cNvSpPr txBox="1"/>
          <p:nvPr/>
        </p:nvSpPr>
        <p:spPr>
          <a:xfrm>
            <a:off x="7432617" y="8135330"/>
            <a:ext cx="4974439" cy="830997"/>
          </a:xfrm>
          <a:prstGeom prst="rect">
            <a:avLst/>
          </a:prstGeom>
          <a:noFill/>
        </p:spPr>
        <p:txBody>
          <a:bodyPr wrap="none" rtlCol="0">
            <a:spAutoFit/>
          </a:bodyPr>
          <a:lstStyle>
            <a:defPPr>
              <a:defRPr lang="de-DE"/>
            </a:defPPr>
            <a:lvl1pPr algn="ctr" defTabSz="584200" rtl="0" fontAlgn="base" hangingPunct="0">
              <a:spcBef>
                <a:spcPct val="0"/>
              </a:spcBef>
              <a:spcAft>
                <a:spcPct val="0"/>
              </a:spcAft>
              <a:defRPr sz="3600" kern="1200">
                <a:solidFill>
                  <a:srgbClr val="414141"/>
                </a:solidFill>
                <a:latin typeface="Gill Sans Light" charset="0"/>
                <a:ea typeface="Gill Sans Light" charset="0"/>
                <a:cs typeface="Gill Sans Light" charset="0"/>
                <a:sym typeface="Gill Sans Light" charset="0"/>
              </a:defRPr>
            </a:lvl1pPr>
            <a:lvl2pPr marL="342900" algn="ctr" defTabSz="584200" rtl="0" fontAlgn="base" hangingPunct="0">
              <a:spcBef>
                <a:spcPct val="0"/>
              </a:spcBef>
              <a:spcAft>
                <a:spcPct val="0"/>
              </a:spcAft>
              <a:defRPr sz="3600" kern="1200">
                <a:solidFill>
                  <a:srgbClr val="414141"/>
                </a:solidFill>
                <a:latin typeface="Gill Sans Light" charset="0"/>
                <a:ea typeface="Gill Sans Light" charset="0"/>
                <a:cs typeface="Gill Sans Light" charset="0"/>
                <a:sym typeface="Gill Sans Light" charset="0"/>
              </a:defRPr>
            </a:lvl2pPr>
            <a:lvl3pPr marL="685800" algn="ctr" defTabSz="584200" rtl="0" fontAlgn="base" hangingPunct="0">
              <a:spcBef>
                <a:spcPct val="0"/>
              </a:spcBef>
              <a:spcAft>
                <a:spcPct val="0"/>
              </a:spcAft>
              <a:defRPr sz="3600" kern="1200">
                <a:solidFill>
                  <a:srgbClr val="414141"/>
                </a:solidFill>
                <a:latin typeface="Gill Sans Light" charset="0"/>
                <a:ea typeface="Gill Sans Light" charset="0"/>
                <a:cs typeface="Gill Sans Light" charset="0"/>
                <a:sym typeface="Gill Sans Light" charset="0"/>
              </a:defRPr>
            </a:lvl3pPr>
            <a:lvl4pPr marL="1028700" algn="ctr" defTabSz="584200" rtl="0" fontAlgn="base" hangingPunct="0">
              <a:spcBef>
                <a:spcPct val="0"/>
              </a:spcBef>
              <a:spcAft>
                <a:spcPct val="0"/>
              </a:spcAft>
              <a:defRPr sz="3600" kern="1200">
                <a:solidFill>
                  <a:srgbClr val="414141"/>
                </a:solidFill>
                <a:latin typeface="Gill Sans Light" charset="0"/>
                <a:ea typeface="Gill Sans Light" charset="0"/>
                <a:cs typeface="Gill Sans Light" charset="0"/>
                <a:sym typeface="Gill Sans Light" charset="0"/>
              </a:defRPr>
            </a:lvl4pPr>
            <a:lvl5pPr marL="1371600" algn="ctr" defTabSz="584200" rtl="0" fontAlgn="base" hangingPunct="0">
              <a:spcBef>
                <a:spcPct val="0"/>
              </a:spcBef>
              <a:spcAft>
                <a:spcPct val="0"/>
              </a:spcAft>
              <a:defRPr sz="3600" kern="1200">
                <a:solidFill>
                  <a:srgbClr val="414141"/>
                </a:solidFill>
                <a:latin typeface="Gill Sans Light" charset="0"/>
                <a:ea typeface="Gill Sans Light" charset="0"/>
                <a:cs typeface="Gill Sans Light" charset="0"/>
                <a:sym typeface="Gill Sans Light" charset="0"/>
              </a:defRPr>
            </a:lvl5pPr>
            <a:lvl6pPr marL="2286000" algn="l" defTabSz="914400" rtl="0" eaLnBrk="1" latinLnBrk="0" hangingPunct="1">
              <a:defRPr sz="3600" kern="1200">
                <a:solidFill>
                  <a:srgbClr val="414141"/>
                </a:solidFill>
                <a:latin typeface="Gill Sans Light" charset="0"/>
                <a:ea typeface="Gill Sans Light" charset="0"/>
                <a:cs typeface="Gill Sans Light" charset="0"/>
                <a:sym typeface="Gill Sans Light" charset="0"/>
              </a:defRPr>
            </a:lvl6pPr>
            <a:lvl7pPr marL="2743200" algn="l" defTabSz="914400" rtl="0" eaLnBrk="1" latinLnBrk="0" hangingPunct="1">
              <a:defRPr sz="3600" kern="1200">
                <a:solidFill>
                  <a:srgbClr val="414141"/>
                </a:solidFill>
                <a:latin typeface="Gill Sans Light" charset="0"/>
                <a:ea typeface="Gill Sans Light" charset="0"/>
                <a:cs typeface="Gill Sans Light" charset="0"/>
                <a:sym typeface="Gill Sans Light" charset="0"/>
              </a:defRPr>
            </a:lvl7pPr>
            <a:lvl8pPr marL="3200400" algn="l" defTabSz="914400" rtl="0" eaLnBrk="1" latinLnBrk="0" hangingPunct="1">
              <a:defRPr sz="3600" kern="1200">
                <a:solidFill>
                  <a:srgbClr val="414141"/>
                </a:solidFill>
                <a:latin typeface="Gill Sans Light" charset="0"/>
                <a:ea typeface="Gill Sans Light" charset="0"/>
                <a:cs typeface="Gill Sans Light" charset="0"/>
                <a:sym typeface="Gill Sans Light" charset="0"/>
              </a:defRPr>
            </a:lvl8pPr>
            <a:lvl9pPr marL="3657600" algn="l" defTabSz="914400" rtl="0" eaLnBrk="1" latinLnBrk="0" hangingPunct="1">
              <a:defRPr sz="3600" kern="1200">
                <a:solidFill>
                  <a:srgbClr val="414141"/>
                </a:solidFill>
                <a:latin typeface="Gill Sans Light" charset="0"/>
                <a:ea typeface="Gill Sans Light" charset="0"/>
                <a:cs typeface="Gill Sans Light" charset="0"/>
                <a:sym typeface="Gill Sans Light" charset="0"/>
              </a:defRPr>
            </a:lvl9pPr>
          </a:lstStyle>
          <a:p>
            <a:pPr algn="l"/>
            <a:r>
              <a:rPr lang="de-DE" sz="1200" dirty="0" smtClean="0"/>
              <a:t>Erläuterung: </a:t>
            </a:r>
          </a:p>
          <a:p>
            <a:pPr marL="171450" indent="-171450" algn="l">
              <a:buFont typeface="Arial" pitchFamily="34" charset="0"/>
              <a:buChar char="•"/>
            </a:pPr>
            <a:r>
              <a:rPr lang="de-DE" sz="1200" dirty="0" smtClean="0"/>
              <a:t>Größe der Kugel entspricht der Projekt-Rendite, wenn sie positiv ist </a:t>
            </a:r>
          </a:p>
          <a:p>
            <a:pPr marL="171450" indent="-171450" algn="l">
              <a:buFont typeface="Arial" pitchFamily="34" charset="0"/>
              <a:buChar char="•"/>
            </a:pPr>
            <a:r>
              <a:rPr lang="de-DE" sz="1200" dirty="0" smtClean="0"/>
              <a:t>Farbe der Kugel gibt den Projekt-Typ wieder</a:t>
            </a:r>
          </a:p>
          <a:p>
            <a:pPr marL="171450" indent="-171450" algn="l">
              <a:buFont typeface="Arial" pitchFamily="34" charset="0"/>
              <a:buChar char="•"/>
            </a:pPr>
            <a:r>
              <a:rPr lang="de-DE" sz="1200" dirty="0" smtClean="0"/>
              <a:t>Rote Kugel: Projekt hat negative Rendite</a:t>
            </a:r>
            <a:endParaRPr lang="de-DE" sz="1200" dirty="0"/>
          </a:p>
        </p:txBody>
      </p:sp>
    </p:spTree>
    <p:extLst>
      <p:ext uri="{BB962C8B-B14F-4D97-AF65-F5344CB8AC3E}">
        <p14:creationId xmlns:p14="http://schemas.microsoft.com/office/powerpoint/2010/main" val="237581848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50875" y="390525"/>
            <a:ext cx="11703050" cy="1245915"/>
          </a:xfrm>
        </p:spPr>
        <p:txBody>
          <a:bodyPr/>
          <a:lstStyle/>
          <a:p>
            <a:r>
              <a:rPr lang="de-DE" sz="4400" dirty="0" smtClean="0"/>
              <a:t>Ergebnis-Potenzial</a:t>
            </a:r>
            <a:endParaRPr lang="de-DE" dirty="0"/>
          </a:p>
        </p:txBody>
      </p:sp>
      <p:sp>
        <p:nvSpPr>
          <p:cNvPr id="8" name="Rechteck 7"/>
          <p:cNvSpPr/>
          <p:nvPr/>
        </p:nvSpPr>
        <p:spPr bwMode="auto">
          <a:xfrm>
            <a:off x="5566296" y="1693529"/>
            <a:ext cx="5940660" cy="4757501"/>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50800" tIns="50800" rIns="50800" bIns="50800" numCol="1" rtlCol="0" anchor="ctr" anchorCtr="0" compatLnSpc="1">
            <a:prstTxWarp prst="textNoShape">
              <a:avLst/>
            </a:prstTxWarp>
          </a:bodyPr>
          <a:lstStyle/>
          <a:p>
            <a:pPr marL="342900"/>
            <a:r>
              <a:rPr lang="de-DE" sz="2400" dirty="0" smtClean="0">
                <a:solidFill>
                  <a:schemeClr val="bg2"/>
                </a:solidFill>
                <a:sym typeface="Noteworthy Bold" charset="0"/>
              </a:rPr>
              <a:t>Ergebnis Verbesserungspotential</a:t>
            </a:r>
            <a:endParaRPr lang="de-DE" sz="2400" dirty="0">
              <a:solidFill>
                <a:schemeClr val="bg2"/>
              </a:solidFill>
              <a:sym typeface="Noteworthy Bold" charset="0"/>
            </a:endParaRPr>
          </a:p>
        </p:txBody>
      </p:sp>
      <p:sp>
        <p:nvSpPr>
          <p:cNvPr id="10" name="Rechteck 9"/>
          <p:cNvSpPr/>
          <p:nvPr/>
        </p:nvSpPr>
        <p:spPr bwMode="auto">
          <a:xfrm>
            <a:off x="504000" y="9197280"/>
            <a:ext cx="3478120" cy="340094"/>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0" tIns="50800" rIns="50800" bIns="50800" numCol="1" rtlCol="0" anchor="ctr" anchorCtr="0" compatLnSpc="1">
            <a:prstTxWarp prst="textNoShape">
              <a:avLst/>
            </a:prstTxWarp>
          </a:bodyPr>
          <a:lstStyle/>
          <a:p>
            <a:pPr marL="342900" algn="l"/>
            <a:r>
              <a:rPr lang="de-DE" sz="1400" dirty="0" smtClean="0">
                <a:solidFill>
                  <a:schemeClr val="bg2"/>
                </a:solidFill>
              </a:rPr>
              <a:t>Stand:</a:t>
            </a:r>
            <a:endParaRPr lang="de-DE" sz="1400" dirty="0">
              <a:solidFill>
                <a:schemeClr val="bg2"/>
              </a:solidFill>
            </a:endParaRPr>
          </a:p>
        </p:txBody>
      </p:sp>
      <p:sp>
        <p:nvSpPr>
          <p:cNvPr id="15" name="Rechteck 14"/>
          <p:cNvSpPr/>
          <p:nvPr/>
        </p:nvSpPr>
        <p:spPr bwMode="auto">
          <a:xfrm>
            <a:off x="4824480" y="9197280"/>
            <a:ext cx="3478120" cy="340094"/>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0" tIns="50800" rIns="50800" bIns="50800" numCol="1" rtlCol="0" anchor="ctr" anchorCtr="0" compatLnSpc="1">
            <a:prstTxWarp prst="textNoShape">
              <a:avLst/>
            </a:prstTxWarp>
          </a:bodyPr>
          <a:lstStyle/>
          <a:p>
            <a:pPr marL="342900" algn="l"/>
            <a:r>
              <a:rPr lang="de-DE" sz="1400" dirty="0" smtClean="0">
                <a:solidFill>
                  <a:schemeClr val="bg2"/>
                </a:solidFill>
              </a:rPr>
              <a:t>Zeitraum:</a:t>
            </a:r>
            <a:endParaRPr lang="de-DE" sz="1400" dirty="0">
              <a:solidFill>
                <a:schemeClr val="bg2"/>
              </a:solidFill>
            </a:endParaRPr>
          </a:p>
        </p:txBody>
      </p:sp>
      <p:sp>
        <p:nvSpPr>
          <p:cNvPr id="16" name="Rechteck 15"/>
          <p:cNvSpPr/>
          <p:nvPr/>
        </p:nvSpPr>
        <p:spPr bwMode="auto">
          <a:xfrm>
            <a:off x="504000" y="1693530"/>
            <a:ext cx="4547979" cy="2314201"/>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50800" tIns="50800" rIns="50800" bIns="50800" numCol="1" rtlCol="0" anchor="ctr" anchorCtr="0" compatLnSpc="1">
            <a:prstTxWarp prst="textNoShape">
              <a:avLst/>
            </a:prstTxWarp>
          </a:bodyPr>
          <a:lstStyle/>
          <a:p>
            <a:r>
              <a:rPr lang="de-DE" sz="1400" b="1" dirty="0">
                <a:solidFill>
                  <a:schemeClr val="bg2"/>
                </a:solidFill>
                <a:latin typeface="Noteworthy Bold" charset="0"/>
                <a:ea typeface="Noteworthy Bold" charset="0"/>
                <a:cs typeface="Noteworthy Bold" charset="0"/>
                <a:sym typeface="Noteworthy Bold" charset="0"/>
              </a:rPr>
              <a:t>Übersicht Auslastung</a:t>
            </a:r>
          </a:p>
        </p:txBody>
      </p:sp>
      <p:sp>
        <p:nvSpPr>
          <p:cNvPr id="17" name="Rechteck 16"/>
          <p:cNvSpPr/>
          <p:nvPr/>
        </p:nvSpPr>
        <p:spPr bwMode="auto">
          <a:xfrm>
            <a:off x="504000" y="4136830"/>
            <a:ext cx="4547980" cy="2314201"/>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50800" tIns="50800" rIns="50800" bIns="50800" numCol="1" rtlCol="0" anchor="ctr" anchorCtr="0" compatLnSpc="1">
            <a:prstTxWarp prst="textNoShape">
              <a:avLst/>
            </a:prstTxWarp>
          </a:bodyPr>
          <a:lstStyle/>
          <a:p>
            <a:r>
              <a:rPr lang="de-DE" sz="1400" b="1" dirty="0">
                <a:solidFill>
                  <a:schemeClr val="bg2"/>
                </a:solidFill>
                <a:latin typeface="Noteworthy Bold" charset="0"/>
                <a:ea typeface="Noteworthy Bold" charset="0"/>
                <a:cs typeface="Noteworthy Bold" charset="0"/>
                <a:sym typeface="Noteworthy Bold" charset="0"/>
              </a:rPr>
              <a:t>Details Überauslastung</a:t>
            </a:r>
            <a:endParaRPr lang="de-DE" sz="1400" b="1" dirty="0">
              <a:solidFill>
                <a:schemeClr val="bg2"/>
              </a:solidFill>
            </a:endParaRPr>
          </a:p>
        </p:txBody>
      </p:sp>
      <p:sp>
        <p:nvSpPr>
          <p:cNvPr id="18" name="Rechteck 17"/>
          <p:cNvSpPr/>
          <p:nvPr/>
        </p:nvSpPr>
        <p:spPr bwMode="auto">
          <a:xfrm>
            <a:off x="504000" y="6580129"/>
            <a:ext cx="4547980" cy="2314201"/>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50800" tIns="50800" rIns="50800" bIns="50800" numCol="1" rtlCol="0" anchor="ctr" anchorCtr="0" compatLnSpc="1">
            <a:prstTxWarp prst="textNoShape">
              <a:avLst/>
            </a:prstTxWarp>
          </a:bodyPr>
          <a:lstStyle/>
          <a:p>
            <a:r>
              <a:rPr lang="de-DE" sz="1400" b="1" dirty="0">
                <a:solidFill>
                  <a:schemeClr val="bg2"/>
                </a:solidFill>
                <a:latin typeface="Noteworthy Bold" charset="0"/>
                <a:ea typeface="Noteworthy Bold" charset="0"/>
                <a:cs typeface="Noteworthy Bold" charset="0"/>
                <a:sym typeface="Noteworthy Bold" charset="0"/>
              </a:rPr>
              <a:t>Details </a:t>
            </a:r>
            <a:r>
              <a:rPr lang="de-DE" sz="1400" b="1" dirty="0" smtClean="0">
                <a:solidFill>
                  <a:schemeClr val="bg2"/>
                </a:solidFill>
                <a:latin typeface="Noteworthy Bold" charset="0"/>
                <a:ea typeface="Noteworthy Bold" charset="0"/>
                <a:cs typeface="Noteworthy Bold" charset="0"/>
                <a:sym typeface="Noteworthy Bold" charset="0"/>
              </a:rPr>
              <a:t>Unterauslastung</a:t>
            </a:r>
            <a:endParaRPr lang="de-DE" sz="1400" b="1" dirty="0">
              <a:solidFill>
                <a:schemeClr val="bg2"/>
              </a:solidFill>
            </a:endParaRPr>
          </a:p>
        </p:txBody>
      </p:sp>
      <p:sp>
        <p:nvSpPr>
          <p:cNvPr id="3" name="Textfeld 2"/>
          <p:cNvSpPr txBox="1"/>
          <p:nvPr/>
        </p:nvSpPr>
        <p:spPr>
          <a:xfrm>
            <a:off x="5566296" y="6580129"/>
            <a:ext cx="5940660" cy="1938992"/>
          </a:xfrm>
          <a:prstGeom prst="rect">
            <a:avLst/>
          </a:prstGeom>
          <a:noFill/>
        </p:spPr>
        <p:txBody>
          <a:bodyPr wrap="square" rtlCol="0">
            <a:spAutoFit/>
          </a:bodyPr>
          <a:lstStyle/>
          <a:p>
            <a:pPr algn="l"/>
            <a:r>
              <a:rPr lang="de-DE" sz="1200" b="1" dirty="0" smtClean="0"/>
              <a:t>Erläuterung</a:t>
            </a:r>
            <a:r>
              <a:rPr lang="de-DE" sz="1200" dirty="0" smtClean="0"/>
              <a:t>: Rollen können sowohl über- wie unterausgelastet sein. In diesem Fall gibt es Monate, wo die Rolle unterausgelastet ist, und andere Monate wo sie stark überausgelastet ist.. Im worst Case müssen damit in den Monaten der Überauslastung externe Kräfte beauftragt werden, die üblicherweise teuerer als die internen Kräfte sind. in anderen Monaten sind die Kapazitäten ungenutzt (=Opportunitätskosten).</a:t>
            </a:r>
          </a:p>
          <a:p>
            <a:pPr algn="l"/>
            <a:endParaRPr lang="de-DE" sz="1200" dirty="0"/>
          </a:p>
          <a:p>
            <a:pPr algn="l"/>
            <a:r>
              <a:rPr lang="de-DE" sz="1200" dirty="0" smtClean="0"/>
              <a:t>Eine möglichst gleichmäßige Ressourcen Nivellierung vermeidet unnötige Mehrkosten und unnötige Opportunitätskosten, was sich unmittelbar im Ergebnis zeigen wird. </a:t>
            </a:r>
          </a:p>
        </p:txBody>
      </p:sp>
    </p:spTree>
    <p:extLst>
      <p:ext uri="{BB962C8B-B14F-4D97-AF65-F5344CB8AC3E}">
        <p14:creationId xmlns:p14="http://schemas.microsoft.com/office/powerpoint/2010/main" val="96009134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165696" y="282749"/>
            <a:ext cx="12313368" cy="1245915"/>
          </a:xfrm>
        </p:spPr>
        <p:txBody>
          <a:bodyPr/>
          <a:lstStyle/>
          <a:p>
            <a:r>
              <a:rPr lang="de-DE" sz="4400" dirty="0" smtClean="0"/>
              <a:t>Häufigkeit Projekt-Phasen</a:t>
            </a:r>
            <a:endParaRPr lang="de-DE" dirty="0"/>
          </a:p>
        </p:txBody>
      </p:sp>
      <p:sp>
        <p:nvSpPr>
          <p:cNvPr id="10" name="Rechteck 9"/>
          <p:cNvSpPr/>
          <p:nvPr/>
        </p:nvSpPr>
        <p:spPr bwMode="auto">
          <a:xfrm>
            <a:off x="504000" y="9197280"/>
            <a:ext cx="3478120" cy="340094"/>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0" tIns="50800" rIns="50800" bIns="50800" numCol="1" rtlCol="0" anchor="ctr" anchorCtr="0" compatLnSpc="1">
            <a:prstTxWarp prst="textNoShape">
              <a:avLst/>
            </a:prstTxWarp>
          </a:bodyPr>
          <a:lstStyle/>
          <a:p>
            <a:pPr marL="342900" algn="l"/>
            <a:r>
              <a:rPr lang="de-DE" sz="1400" dirty="0" smtClean="0">
                <a:solidFill>
                  <a:schemeClr val="bg2"/>
                </a:solidFill>
              </a:rPr>
              <a:t>Stand:</a:t>
            </a:r>
            <a:endParaRPr lang="de-DE" sz="1400" dirty="0">
              <a:solidFill>
                <a:schemeClr val="bg2"/>
              </a:solidFill>
            </a:endParaRPr>
          </a:p>
        </p:txBody>
      </p:sp>
      <p:sp>
        <p:nvSpPr>
          <p:cNvPr id="15" name="Rechteck 14"/>
          <p:cNvSpPr/>
          <p:nvPr/>
        </p:nvSpPr>
        <p:spPr bwMode="auto">
          <a:xfrm>
            <a:off x="4824480" y="9197280"/>
            <a:ext cx="3478120" cy="340094"/>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0" tIns="50800" rIns="50800" bIns="50800" numCol="1" rtlCol="0" anchor="ctr" anchorCtr="0" compatLnSpc="1">
            <a:prstTxWarp prst="textNoShape">
              <a:avLst/>
            </a:prstTxWarp>
          </a:bodyPr>
          <a:lstStyle/>
          <a:p>
            <a:pPr marL="342900" algn="l"/>
            <a:r>
              <a:rPr lang="de-DE" sz="1400" dirty="0" smtClean="0">
                <a:solidFill>
                  <a:schemeClr val="bg2"/>
                </a:solidFill>
              </a:rPr>
              <a:t>Zeitraum:</a:t>
            </a:r>
            <a:endParaRPr lang="de-DE" sz="1400" dirty="0">
              <a:solidFill>
                <a:schemeClr val="bg2"/>
              </a:solidFill>
            </a:endParaRPr>
          </a:p>
        </p:txBody>
      </p:sp>
      <p:sp>
        <p:nvSpPr>
          <p:cNvPr id="20" name="Rechteck 19"/>
          <p:cNvSpPr/>
          <p:nvPr/>
        </p:nvSpPr>
        <p:spPr bwMode="auto">
          <a:xfrm>
            <a:off x="6561084" y="6604992"/>
            <a:ext cx="5040000" cy="2160000"/>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50800" tIns="50800" rIns="50800" bIns="50800" numCol="1" rtlCol="0" anchor="ctr" anchorCtr="0" compatLnSpc="1">
            <a:prstTxWarp prst="textNoShape">
              <a:avLst/>
            </a:prstTxWarp>
          </a:bodyPr>
          <a:lstStyle/>
          <a:p>
            <a:pPr marL="342900"/>
            <a:r>
              <a:rPr lang="de-DE" sz="1400" dirty="0">
                <a:solidFill>
                  <a:schemeClr val="bg2"/>
                </a:solidFill>
                <a:sym typeface="Noteworthy Bold" charset="0"/>
              </a:rPr>
              <a:t>Phase (Rollout)</a:t>
            </a:r>
            <a:endParaRPr lang="de-DE" sz="1400" dirty="0">
              <a:solidFill>
                <a:schemeClr val="bg2"/>
              </a:solidFill>
            </a:endParaRPr>
          </a:p>
        </p:txBody>
      </p:sp>
      <p:sp>
        <p:nvSpPr>
          <p:cNvPr id="21" name="Rechteck 20"/>
          <p:cNvSpPr/>
          <p:nvPr/>
        </p:nvSpPr>
        <p:spPr bwMode="auto">
          <a:xfrm>
            <a:off x="6572442" y="4196849"/>
            <a:ext cx="5040000" cy="2160000"/>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50800" tIns="50800" rIns="50800" bIns="50800" numCol="1" rtlCol="0" anchor="ctr" anchorCtr="0" compatLnSpc="1">
            <a:prstTxWarp prst="textNoShape">
              <a:avLst/>
            </a:prstTxWarp>
          </a:bodyPr>
          <a:lstStyle/>
          <a:p>
            <a:pPr marL="342900"/>
            <a:r>
              <a:rPr lang="de-DE" sz="1400" dirty="0">
                <a:solidFill>
                  <a:schemeClr val="bg2"/>
                </a:solidFill>
                <a:sym typeface="Noteworthy Bold" charset="0"/>
              </a:rPr>
              <a:t>Phase (Entwicklung)</a:t>
            </a:r>
            <a:endParaRPr lang="de-DE" sz="1400" dirty="0">
              <a:solidFill>
                <a:schemeClr val="bg2"/>
              </a:solidFill>
            </a:endParaRPr>
          </a:p>
        </p:txBody>
      </p:sp>
      <p:sp>
        <p:nvSpPr>
          <p:cNvPr id="11" name="Rechteck 10"/>
          <p:cNvSpPr/>
          <p:nvPr/>
        </p:nvSpPr>
        <p:spPr bwMode="auto">
          <a:xfrm>
            <a:off x="849274" y="6604992"/>
            <a:ext cx="5040000" cy="2160000"/>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50800" tIns="50800" rIns="50800" bIns="50800" numCol="1" rtlCol="0" anchor="ctr" anchorCtr="0" compatLnSpc="1">
            <a:prstTxWarp prst="textNoShape">
              <a:avLst/>
            </a:prstTxWarp>
          </a:bodyPr>
          <a:lstStyle/>
          <a:p>
            <a:pPr marL="342900"/>
            <a:r>
              <a:rPr lang="de-DE" sz="1400" dirty="0">
                <a:solidFill>
                  <a:schemeClr val="bg2"/>
                </a:solidFill>
                <a:sym typeface="Noteworthy Bold" charset="0"/>
              </a:rPr>
              <a:t>Phase (Test)</a:t>
            </a:r>
            <a:endParaRPr lang="de-DE" sz="1400" dirty="0">
              <a:solidFill>
                <a:schemeClr val="bg2"/>
              </a:solidFill>
            </a:endParaRPr>
          </a:p>
        </p:txBody>
      </p:sp>
      <p:sp>
        <p:nvSpPr>
          <p:cNvPr id="12" name="Rechteck 11"/>
          <p:cNvSpPr/>
          <p:nvPr/>
        </p:nvSpPr>
        <p:spPr bwMode="auto">
          <a:xfrm>
            <a:off x="6563540" y="1780456"/>
            <a:ext cx="5040000" cy="2160000"/>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50800" tIns="50800" rIns="50800" bIns="50800" numCol="1" rtlCol="0" anchor="ctr" anchorCtr="0" compatLnSpc="1">
            <a:prstTxWarp prst="textNoShape">
              <a:avLst/>
            </a:prstTxWarp>
          </a:bodyPr>
          <a:lstStyle/>
          <a:p>
            <a:pPr marL="342900"/>
            <a:r>
              <a:rPr lang="de-DE" sz="1400" dirty="0">
                <a:solidFill>
                  <a:schemeClr val="bg2"/>
                </a:solidFill>
                <a:sym typeface="Noteworthy Bold" charset="0"/>
              </a:rPr>
              <a:t>Phase (Konzept)</a:t>
            </a:r>
            <a:endParaRPr lang="de-DE" sz="1400" dirty="0">
              <a:solidFill>
                <a:schemeClr val="bg2"/>
              </a:solidFill>
            </a:endParaRPr>
          </a:p>
        </p:txBody>
      </p:sp>
      <p:sp>
        <p:nvSpPr>
          <p:cNvPr id="13" name="Rechteck 12"/>
          <p:cNvSpPr/>
          <p:nvPr/>
        </p:nvSpPr>
        <p:spPr bwMode="auto">
          <a:xfrm>
            <a:off x="886336" y="1780456"/>
            <a:ext cx="5040000" cy="2160000"/>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50800" tIns="50800" rIns="50800" bIns="50800" numCol="1" rtlCol="0" anchor="ctr" anchorCtr="0" compatLnSpc="1">
            <a:prstTxWarp prst="textNoShape">
              <a:avLst/>
            </a:prstTxWarp>
          </a:bodyPr>
          <a:lstStyle/>
          <a:p>
            <a:pPr marL="342900"/>
            <a:r>
              <a:rPr lang="de-DE" sz="1400" dirty="0">
                <a:solidFill>
                  <a:schemeClr val="bg2"/>
                </a:solidFill>
                <a:sym typeface="Noteworthy Bold" charset="0"/>
              </a:rPr>
              <a:t>Phase (Business Case)</a:t>
            </a:r>
            <a:endParaRPr lang="de-DE" sz="1400" dirty="0">
              <a:solidFill>
                <a:schemeClr val="bg2"/>
              </a:solidFill>
            </a:endParaRPr>
          </a:p>
        </p:txBody>
      </p:sp>
      <p:sp>
        <p:nvSpPr>
          <p:cNvPr id="14" name="Rechteck 13"/>
          <p:cNvSpPr/>
          <p:nvPr/>
        </p:nvSpPr>
        <p:spPr bwMode="auto">
          <a:xfrm>
            <a:off x="871304" y="4196849"/>
            <a:ext cx="5040000" cy="2160000"/>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50800" tIns="50800" rIns="50800" bIns="50800" numCol="1" rtlCol="0" anchor="ctr" anchorCtr="0" compatLnSpc="1">
            <a:prstTxWarp prst="textNoShape">
              <a:avLst/>
            </a:prstTxWarp>
          </a:bodyPr>
          <a:lstStyle/>
          <a:p>
            <a:pPr marL="342900"/>
            <a:r>
              <a:rPr lang="de-DE" sz="1400" dirty="0" smtClean="0">
                <a:solidFill>
                  <a:schemeClr val="bg2"/>
                </a:solidFill>
                <a:sym typeface="Noteworthy Bold" charset="0"/>
              </a:rPr>
              <a:t>Phase </a:t>
            </a:r>
            <a:r>
              <a:rPr lang="de-DE" sz="1400" dirty="0">
                <a:solidFill>
                  <a:schemeClr val="bg2"/>
                </a:solidFill>
                <a:sym typeface="Noteworthy Bold" charset="0"/>
              </a:rPr>
              <a:t>(Prototyp)</a:t>
            </a:r>
            <a:endParaRPr lang="de-DE" sz="1400" dirty="0">
              <a:solidFill>
                <a:schemeClr val="bg2"/>
              </a:solidFill>
            </a:endParaRPr>
          </a:p>
          <a:p>
            <a:pPr marL="342900"/>
            <a:endParaRPr lang="de-DE" sz="1400" dirty="0">
              <a:solidFill>
                <a:schemeClr val="bg2"/>
              </a:solidFill>
            </a:endParaRPr>
          </a:p>
        </p:txBody>
      </p:sp>
    </p:spTree>
    <p:extLst>
      <p:ext uri="{BB962C8B-B14F-4D97-AF65-F5344CB8AC3E}">
        <p14:creationId xmlns:p14="http://schemas.microsoft.com/office/powerpoint/2010/main" val="230377440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50875" y="390525"/>
            <a:ext cx="11703050" cy="1245915"/>
          </a:xfrm>
        </p:spPr>
        <p:txBody>
          <a:bodyPr/>
          <a:lstStyle/>
          <a:p>
            <a:r>
              <a:rPr lang="de-DE" sz="4400" dirty="0" smtClean="0"/>
              <a:t>Ressourcen Auslastung</a:t>
            </a:r>
            <a:endParaRPr lang="de-DE" dirty="0"/>
          </a:p>
        </p:txBody>
      </p:sp>
      <p:sp>
        <p:nvSpPr>
          <p:cNvPr id="10" name="Rechteck 9"/>
          <p:cNvSpPr/>
          <p:nvPr/>
        </p:nvSpPr>
        <p:spPr bwMode="auto">
          <a:xfrm>
            <a:off x="504000" y="9197280"/>
            <a:ext cx="3478120" cy="340094"/>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0" tIns="50800" rIns="50800" bIns="50800" numCol="1" rtlCol="0" anchor="ctr" anchorCtr="0" compatLnSpc="1">
            <a:prstTxWarp prst="textNoShape">
              <a:avLst/>
            </a:prstTxWarp>
          </a:bodyPr>
          <a:lstStyle/>
          <a:p>
            <a:pPr marL="342900" algn="l"/>
            <a:r>
              <a:rPr lang="de-DE" sz="1400" dirty="0" smtClean="0">
                <a:solidFill>
                  <a:schemeClr val="bg2"/>
                </a:solidFill>
              </a:rPr>
              <a:t>Stand:</a:t>
            </a:r>
            <a:endParaRPr lang="de-DE" sz="1400" dirty="0">
              <a:solidFill>
                <a:schemeClr val="bg2"/>
              </a:solidFill>
            </a:endParaRPr>
          </a:p>
        </p:txBody>
      </p:sp>
      <p:sp>
        <p:nvSpPr>
          <p:cNvPr id="15" name="Rechteck 14"/>
          <p:cNvSpPr/>
          <p:nvPr/>
        </p:nvSpPr>
        <p:spPr bwMode="auto">
          <a:xfrm>
            <a:off x="4824480" y="9197280"/>
            <a:ext cx="3478120" cy="340094"/>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0" tIns="50800" rIns="50800" bIns="50800" numCol="1" rtlCol="0" anchor="ctr" anchorCtr="0" compatLnSpc="1">
            <a:prstTxWarp prst="textNoShape">
              <a:avLst/>
            </a:prstTxWarp>
          </a:bodyPr>
          <a:lstStyle/>
          <a:p>
            <a:pPr marL="342900" algn="l"/>
            <a:r>
              <a:rPr lang="de-DE" sz="1400" dirty="0" smtClean="0">
                <a:solidFill>
                  <a:schemeClr val="bg2"/>
                </a:solidFill>
              </a:rPr>
              <a:t>Zeitraum:</a:t>
            </a:r>
            <a:endParaRPr lang="de-DE" sz="1400" dirty="0">
              <a:solidFill>
                <a:schemeClr val="bg2"/>
              </a:solidFill>
            </a:endParaRPr>
          </a:p>
        </p:txBody>
      </p:sp>
      <p:sp>
        <p:nvSpPr>
          <p:cNvPr id="23" name="Rechteck 22"/>
          <p:cNvSpPr/>
          <p:nvPr/>
        </p:nvSpPr>
        <p:spPr bwMode="auto">
          <a:xfrm>
            <a:off x="7582519" y="1564432"/>
            <a:ext cx="4547979" cy="2314201"/>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50800" tIns="50800" rIns="50800" bIns="50800" numCol="1" rtlCol="0" anchor="ctr" anchorCtr="0" compatLnSpc="1">
            <a:prstTxWarp prst="textNoShape">
              <a:avLst/>
            </a:prstTxWarp>
          </a:bodyPr>
          <a:lstStyle/>
          <a:p>
            <a:r>
              <a:rPr lang="de-DE" sz="1200" dirty="0">
                <a:solidFill>
                  <a:schemeClr val="bg2"/>
                </a:solidFill>
                <a:sym typeface="Noteworthy Bold" charset="0"/>
              </a:rPr>
              <a:t>Übersicht</a:t>
            </a:r>
            <a:r>
              <a:rPr lang="de-DE" sz="1400" b="1" dirty="0">
                <a:solidFill>
                  <a:schemeClr val="bg2"/>
                </a:solidFill>
                <a:latin typeface="Noteworthy Bold" charset="0"/>
                <a:ea typeface="Noteworthy Bold" charset="0"/>
                <a:cs typeface="Noteworthy Bold" charset="0"/>
                <a:sym typeface="Noteworthy Bold" charset="0"/>
              </a:rPr>
              <a:t> </a:t>
            </a:r>
            <a:r>
              <a:rPr lang="de-DE" sz="1200" dirty="0">
                <a:solidFill>
                  <a:schemeClr val="bg2"/>
                </a:solidFill>
                <a:sym typeface="Noteworthy Bold" charset="0"/>
              </a:rPr>
              <a:t>Auslastung</a:t>
            </a:r>
          </a:p>
        </p:txBody>
      </p:sp>
      <p:sp>
        <p:nvSpPr>
          <p:cNvPr id="32" name="Rechteck 31"/>
          <p:cNvSpPr/>
          <p:nvPr/>
        </p:nvSpPr>
        <p:spPr bwMode="auto">
          <a:xfrm>
            <a:off x="7582519" y="4007732"/>
            <a:ext cx="4547980" cy="2314201"/>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50800" tIns="50800" rIns="50800" bIns="50800" numCol="1" rtlCol="0" anchor="ctr" anchorCtr="0" compatLnSpc="1">
            <a:prstTxWarp prst="textNoShape">
              <a:avLst/>
            </a:prstTxWarp>
          </a:bodyPr>
          <a:lstStyle/>
          <a:p>
            <a:r>
              <a:rPr lang="de-DE" sz="1200" dirty="0">
                <a:solidFill>
                  <a:schemeClr val="bg2"/>
                </a:solidFill>
                <a:sym typeface="Noteworthy Bold" charset="0"/>
              </a:rPr>
              <a:t>Details</a:t>
            </a:r>
            <a:r>
              <a:rPr lang="de-DE" sz="1400" b="1" dirty="0">
                <a:solidFill>
                  <a:schemeClr val="bg2"/>
                </a:solidFill>
                <a:latin typeface="Noteworthy Bold" charset="0"/>
                <a:ea typeface="Noteworthy Bold" charset="0"/>
                <a:cs typeface="Noteworthy Bold" charset="0"/>
                <a:sym typeface="Noteworthy Bold" charset="0"/>
              </a:rPr>
              <a:t> </a:t>
            </a:r>
            <a:r>
              <a:rPr lang="de-DE" sz="1200" dirty="0">
                <a:solidFill>
                  <a:schemeClr val="bg2"/>
                </a:solidFill>
                <a:sym typeface="Noteworthy Bold" charset="0"/>
              </a:rPr>
              <a:t>Überauslastung</a:t>
            </a:r>
            <a:endParaRPr lang="de-DE" sz="1200" dirty="0">
              <a:solidFill>
                <a:schemeClr val="bg2"/>
              </a:solidFill>
            </a:endParaRPr>
          </a:p>
        </p:txBody>
      </p:sp>
      <p:sp>
        <p:nvSpPr>
          <p:cNvPr id="33" name="Rechteck 32"/>
          <p:cNvSpPr/>
          <p:nvPr/>
        </p:nvSpPr>
        <p:spPr bwMode="auto">
          <a:xfrm>
            <a:off x="7582519" y="6451031"/>
            <a:ext cx="4547980" cy="2314201"/>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50800" tIns="50800" rIns="50800" bIns="50800" numCol="1" rtlCol="0" anchor="ctr" anchorCtr="0" compatLnSpc="1">
            <a:prstTxWarp prst="textNoShape">
              <a:avLst/>
            </a:prstTxWarp>
          </a:bodyPr>
          <a:lstStyle/>
          <a:p>
            <a:r>
              <a:rPr lang="de-DE" sz="1200" dirty="0">
                <a:solidFill>
                  <a:schemeClr val="bg2"/>
                </a:solidFill>
                <a:sym typeface="Noteworthy Bold" charset="0"/>
              </a:rPr>
              <a:t>Details</a:t>
            </a:r>
            <a:r>
              <a:rPr lang="de-DE" sz="1400" b="1" dirty="0">
                <a:solidFill>
                  <a:schemeClr val="bg2"/>
                </a:solidFill>
                <a:latin typeface="Noteworthy Bold" charset="0"/>
                <a:ea typeface="Noteworthy Bold" charset="0"/>
                <a:cs typeface="Noteworthy Bold" charset="0"/>
                <a:sym typeface="Noteworthy Bold" charset="0"/>
              </a:rPr>
              <a:t> </a:t>
            </a:r>
            <a:r>
              <a:rPr lang="de-DE" sz="1200" dirty="0">
                <a:solidFill>
                  <a:schemeClr val="bg2"/>
                </a:solidFill>
                <a:sym typeface="Noteworthy Bold" charset="0"/>
              </a:rPr>
              <a:t>Unterauslastung</a:t>
            </a:r>
            <a:endParaRPr lang="de-DE" sz="1200" dirty="0">
              <a:solidFill>
                <a:schemeClr val="bg2"/>
              </a:solidFill>
            </a:endParaRPr>
          </a:p>
        </p:txBody>
      </p:sp>
      <p:sp>
        <p:nvSpPr>
          <p:cNvPr id="13" name="Rechteck 12"/>
          <p:cNvSpPr/>
          <p:nvPr/>
        </p:nvSpPr>
        <p:spPr bwMode="auto">
          <a:xfrm>
            <a:off x="721284" y="6451032"/>
            <a:ext cx="3260835" cy="2314200"/>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50800" tIns="50800" rIns="50800" bIns="50800" numCol="1" rtlCol="0" anchor="ctr" anchorCtr="0" compatLnSpc="1">
            <a:prstTxWarp prst="textNoShape">
              <a:avLst/>
            </a:prstTxWarp>
          </a:bodyPr>
          <a:lstStyle/>
          <a:p>
            <a:pPr marL="342900"/>
            <a:r>
              <a:rPr lang="de-DE" sz="1200" dirty="0">
                <a:solidFill>
                  <a:schemeClr val="bg2"/>
                </a:solidFill>
                <a:sym typeface="Noteworthy Bold" charset="0"/>
              </a:rPr>
              <a:t>Rolle (</a:t>
            </a:r>
            <a:r>
              <a:rPr lang="de-DE" sz="1200" dirty="0" smtClean="0">
                <a:solidFill>
                  <a:schemeClr val="bg2"/>
                </a:solidFill>
                <a:sym typeface="Noteworthy Bold" charset="0"/>
              </a:rPr>
              <a:t>Analyst)</a:t>
            </a:r>
            <a:endParaRPr lang="de-DE" sz="1200" dirty="0">
              <a:solidFill>
                <a:schemeClr val="bg2"/>
              </a:solidFill>
            </a:endParaRPr>
          </a:p>
        </p:txBody>
      </p:sp>
      <p:sp>
        <p:nvSpPr>
          <p:cNvPr id="14" name="Rechteck 13"/>
          <p:cNvSpPr/>
          <p:nvPr/>
        </p:nvSpPr>
        <p:spPr bwMode="auto">
          <a:xfrm>
            <a:off x="4145891" y="4007731"/>
            <a:ext cx="3260835" cy="2314200"/>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50800" tIns="50800" rIns="50800" bIns="50800" numCol="1" rtlCol="0" anchor="ctr" anchorCtr="0" compatLnSpc="1">
            <a:prstTxWarp prst="textNoShape">
              <a:avLst/>
            </a:prstTxWarp>
          </a:bodyPr>
          <a:lstStyle/>
          <a:p>
            <a:pPr marL="342900"/>
            <a:r>
              <a:rPr lang="de-DE" sz="1200" dirty="0">
                <a:solidFill>
                  <a:schemeClr val="bg2"/>
                </a:solidFill>
                <a:sym typeface="Noteworthy Bold" charset="0"/>
              </a:rPr>
              <a:t>Rolle (Entwickler)</a:t>
            </a:r>
            <a:endParaRPr lang="de-DE" sz="1200" dirty="0">
              <a:solidFill>
                <a:schemeClr val="bg2"/>
              </a:solidFill>
            </a:endParaRPr>
          </a:p>
        </p:txBody>
      </p:sp>
      <p:sp>
        <p:nvSpPr>
          <p:cNvPr id="16" name="Rechteck 15"/>
          <p:cNvSpPr/>
          <p:nvPr/>
        </p:nvSpPr>
        <p:spPr bwMode="auto">
          <a:xfrm>
            <a:off x="721284" y="4007733"/>
            <a:ext cx="3260835" cy="2314200"/>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50800" tIns="50800" rIns="50800" bIns="50800" numCol="1" rtlCol="0" anchor="ctr" anchorCtr="0" compatLnSpc="1">
            <a:prstTxWarp prst="textNoShape">
              <a:avLst/>
            </a:prstTxWarp>
          </a:bodyPr>
          <a:lstStyle/>
          <a:p>
            <a:pPr marL="342900"/>
            <a:r>
              <a:rPr lang="de-DE" sz="1200" dirty="0">
                <a:solidFill>
                  <a:schemeClr val="bg2"/>
                </a:solidFill>
                <a:sym typeface="Noteworthy Bold" charset="0"/>
              </a:rPr>
              <a:t>Rolle (GUI Spezialist)</a:t>
            </a:r>
            <a:endParaRPr lang="de-DE" sz="1200" dirty="0">
              <a:solidFill>
                <a:schemeClr val="bg2"/>
              </a:solidFill>
            </a:endParaRPr>
          </a:p>
        </p:txBody>
      </p:sp>
      <p:sp>
        <p:nvSpPr>
          <p:cNvPr id="17" name="Rechteck 16"/>
          <p:cNvSpPr/>
          <p:nvPr/>
        </p:nvSpPr>
        <p:spPr bwMode="auto">
          <a:xfrm>
            <a:off x="4145891" y="1564432"/>
            <a:ext cx="3260835" cy="2314200"/>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50800" tIns="50800" rIns="50800" bIns="50800" numCol="1" rtlCol="0" anchor="ctr" anchorCtr="0" compatLnSpc="1">
            <a:prstTxWarp prst="textNoShape">
              <a:avLst/>
            </a:prstTxWarp>
          </a:bodyPr>
          <a:lstStyle/>
          <a:p>
            <a:pPr marL="342900"/>
            <a:r>
              <a:rPr lang="de-DE" sz="1200" dirty="0">
                <a:solidFill>
                  <a:schemeClr val="bg2"/>
                </a:solidFill>
                <a:sym typeface="Noteworthy Bold" charset="0"/>
              </a:rPr>
              <a:t>Rolle (Architekt)</a:t>
            </a:r>
            <a:endParaRPr lang="de-DE" sz="1200" dirty="0">
              <a:solidFill>
                <a:schemeClr val="bg2"/>
              </a:solidFill>
            </a:endParaRPr>
          </a:p>
        </p:txBody>
      </p:sp>
      <p:sp>
        <p:nvSpPr>
          <p:cNvPr id="18" name="Rechteck 17"/>
          <p:cNvSpPr/>
          <p:nvPr/>
        </p:nvSpPr>
        <p:spPr bwMode="auto">
          <a:xfrm>
            <a:off x="721283" y="1564433"/>
            <a:ext cx="3260835" cy="2314200"/>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50800" tIns="50800" rIns="50800" bIns="50800" numCol="1" rtlCol="0" anchor="ctr" anchorCtr="0" compatLnSpc="1">
            <a:prstTxWarp prst="textNoShape">
              <a:avLst/>
            </a:prstTxWarp>
          </a:bodyPr>
          <a:lstStyle/>
          <a:p>
            <a:pPr marL="342900"/>
            <a:r>
              <a:rPr lang="de-DE" sz="1200" dirty="0">
                <a:solidFill>
                  <a:schemeClr val="bg2"/>
                </a:solidFill>
                <a:sym typeface="Noteworthy Bold" charset="0"/>
              </a:rPr>
              <a:t>Rolle (Projektleiter)</a:t>
            </a:r>
            <a:endParaRPr lang="de-DE" sz="1200" dirty="0">
              <a:solidFill>
                <a:schemeClr val="bg2"/>
              </a:solidFill>
            </a:endParaRPr>
          </a:p>
        </p:txBody>
      </p:sp>
      <p:sp>
        <p:nvSpPr>
          <p:cNvPr id="19" name="Rechteck 18"/>
          <p:cNvSpPr/>
          <p:nvPr/>
        </p:nvSpPr>
        <p:spPr bwMode="auto">
          <a:xfrm>
            <a:off x="4154445" y="6444134"/>
            <a:ext cx="3260835" cy="2314200"/>
          </a:xfrm>
          <a:prstGeom prst="rect">
            <a:avLst/>
          </a:prstGeom>
          <a:solidFill>
            <a:srgbClr val="FFFFFF"/>
          </a:solidFill>
          <a:ln w="38100" cap="flat" cmpd="sng" algn="ctr">
            <a:solidFill>
              <a:schemeClr val="accent1">
                <a:lumMod val="75000"/>
              </a:schemeClr>
            </a:solidFill>
            <a:prstDash val="solid"/>
            <a:miter lim="0"/>
            <a:headEnd type="none" w="med" len="med"/>
            <a:tailEnd type="none" w="med" len="med"/>
          </a:ln>
          <a:effectLst>
            <a:innerShdw blurRad="63500" dist="50800" dir="18900000">
              <a:prstClr val="black">
                <a:alpha val="50000"/>
              </a:prstClr>
            </a:innerShdw>
            <a:softEdge rad="12700"/>
          </a:effectLst>
          <a:extLst/>
        </p:spPr>
        <p:txBody>
          <a:bodyPr vert="horz" wrap="square" lIns="50800" tIns="50800" rIns="50800" bIns="50800" numCol="1" rtlCol="0" anchor="ctr" anchorCtr="0" compatLnSpc="1">
            <a:prstTxWarp prst="textNoShape">
              <a:avLst/>
            </a:prstTxWarp>
          </a:bodyPr>
          <a:lstStyle/>
          <a:p>
            <a:r>
              <a:rPr lang="de-DE" sz="1200" dirty="0">
                <a:solidFill>
                  <a:schemeClr val="bg2"/>
                </a:solidFill>
                <a:sym typeface="Noteworthy Bold" charset="0"/>
              </a:rPr>
              <a:t>Rolle </a:t>
            </a:r>
            <a:r>
              <a:rPr lang="de-DE" sz="1200" dirty="0" smtClean="0">
                <a:solidFill>
                  <a:schemeClr val="bg2"/>
                </a:solidFill>
                <a:sym typeface="Noteworthy Bold" charset="0"/>
              </a:rPr>
              <a:t>(Tester)</a:t>
            </a:r>
            <a:endParaRPr lang="de-DE" sz="1200" dirty="0">
              <a:solidFill>
                <a:schemeClr val="bg2"/>
              </a:solidFill>
              <a:sym typeface="Noteworthy Bold" charset="0"/>
            </a:endParaRPr>
          </a:p>
        </p:txBody>
      </p:sp>
    </p:spTree>
    <p:extLst>
      <p:ext uri="{BB962C8B-B14F-4D97-AF65-F5344CB8AC3E}">
        <p14:creationId xmlns:p14="http://schemas.microsoft.com/office/powerpoint/2010/main" val="2336604471"/>
      </p:ext>
    </p:extLst>
  </p:cSld>
  <p:clrMapOvr>
    <a:masterClrMapping/>
  </p:clrMapOvr>
  <p:timing>
    <p:tnLst>
      <p:par>
        <p:cTn id="1" dur="indefinite" restart="never" nodeType="tmRoot"/>
      </p:par>
    </p:tnLst>
  </p:timing>
</p:sld>
</file>

<file path=ppt/theme/theme1.xml><?xml version="1.0" encoding="utf-8"?>
<a:theme xmlns:a="http://schemas.openxmlformats.org/drawingml/2006/main" name="Larissa">
  <a:themeElements>
    <a:clrScheme name="">
      <a:dk1>
        <a:srgbClr val="A5A5A5"/>
      </a:dk1>
      <a:lt1>
        <a:srgbClr val="414141"/>
      </a:lt1>
      <a:dk2>
        <a:srgbClr val="240041"/>
      </a:dk2>
      <a:lt2>
        <a:srgbClr val="484D4B"/>
      </a:lt2>
      <a:accent1>
        <a:srgbClr val="669AA4"/>
      </a:accent1>
      <a:accent2>
        <a:srgbClr val="930706"/>
      </a:accent2>
      <a:accent3>
        <a:srgbClr val="ACAAB0"/>
      </a:accent3>
      <a:accent4>
        <a:srgbClr val="363636"/>
      </a:accent4>
      <a:accent5>
        <a:srgbClr val="B8CACF"/>
      </a:accent5>
      <a:accent6>
        <a:srgbClr val="850605"/>
      </a:accent6>
      <a:hlink>
        <a:srgbClr val="0000FF"/>
      </a:hlink>
      <a:folHlink>
        <a:srgbClr val="FF00FF"/>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6D7472"/>
        </a:solidFill>
        <a:ln>
          <a:noFill/>
        </a:ln>
        <a:effectLst/>
        <a:extLst>
          <a:ext uri="{91240B29-F687-4F45-9708-019B960494DF}">
            <a14:hiddenLine xmlns:a14="http://schemas.microsoft.com/office/drawing/2010/main" w="12700" cap="flat" cmpd="sng" algn="ctr">
              <a:solidFill>
                <a:schemeClr val="tx1"/>
              </a:solidFill>
              <a:prstDash val="solid"/>
              <a:miter lim="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50800" tIns="50800" rIns="50800" bIns="50800" numCol="1" anchor="ctr" anchorCtr="0" compatLnSpc="1">
        <a:prstTxWarp prst="textNoShape">
          <a:avLst/>
        </a:prstTxWarp>
      </a:bodyPr>
      <a:lstStyle>
        <a:defPPr marL="342900" marR="0" indent="0" algn="ctr" defTabSz="584200" rtl="0" eaLnBrk="1" fontAlgn="base" latinLnBrk="0" hangingPunct="0">
          <a:lnSpc>
            <a:spcPct val="100000"/>
          </a:lnSpc>
          <a:spcBef>
            <a:spcPct val="0"/>
          </a:spcBef>
          <a:spcAft>
            <a:spcPct val="0"/>
          </a:spcAft>
          <a:buClrTx/>
          <a:buSzTx/>
          <a:buFontTx/>
          <a:buNone/>
          <a:tabLst/>
          <a:defRPr kumimoji="0" lang="de-DE" sz="3600" b="0" i="0" u="none" strike="noStrike" cap="none" normalizeH="0" baseline="0" smtClean="0">
            <a:ln>
              <a:noFill/>
            </a:ln>
            <a:solidFill>
              <a:srgbClr val="414141"/>
            </a:solidFill>
            <a:effectLst/>
            <a:latin typeface="Gill Sans Light" charset="0"/>
            <a:ea typeface="Gill Sans Light" charset="0"/>
            <a:cs typeface="Gill Sans Light" charset="0"/>
            <a:sym typeface="Gill Sans Light" charset="0"/>
          </a:defRPr>
        </a:defPPr>
      </a:lstStyle>
    </a:spDef>
    <a:lnDef>
      <a:spPr bwMode="auto">
        <a:xfrm>
          <a:off x="0" y="0"/>
          <a:ext cx="1" cy="1"/>
        </a:xfrm>
        <a:custGeom>
          <a:avLst/>
          <a:gdLst/>
          <a:ahLst/>
          <a:cxnLst/>
          <a:rect l="0" t="0" r="0" b="0"/>
          <a:pathLst/>
        </a:custGeom>
        <a:solidFill>
          <a:srgbClr val="6D7472"/>
        </a:solidFill>
        <a:ln>
          <a:noFill/>
        </a:ln>
        <a:effectLst/>
        <a:extLst>
          <a:ext uri="{91240B29-F687-4F45-9708-019B960494DF}">
            <a14:hiddenLine xmlns:a14="http://schemas.microsoft.com/office/drawing/2010/main" w="12700" cap="flat" cmpd="sng" algn="ctr">
              <a:solidFill>
                <a:schemeClr val="tx1"/>
              </a:solidFill>
              <a:prstDash val="solid"/>
              <a:miter lim="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50800" tIns="50800" rIns="50800" bIns="50800" numCol="1" anchor="ctr" anchorCtr="0" compatLnSpc="1">
        <a:prstTxWarp prst="textNoShape">
          <a:avLst/>
        </a:prstTxWarp>
      </a:bodyPr>
      <a:lstStyle>
        <a:defPPr marL="342900" marR="0" indent="0" algn="ctr" defTabSz="584200" rtl="0" eaLnBrk="1" fontAlgn="base" latinLnBrk="0" hangingPunct="0">
          <a:lnSpc>
            <a:spcPct val="100000"/>
          </a:lnSpc>
          <a:spcBef>
            <a:spcPct val="0"/>
          </a:spcBef>
          <a:spcAft>
            <a:spcPct val="0"/>
          </a:spcAft>
          <a:buClrTx/>
          <a:buSzTx/>
          <a:buFontTx/>
          <a:buNone/>
          <a:tabLst/>
          <a:defRPr kumimoji="0" lang="de-DE" sz="3600" b="0" i="0" u="none" strike="noStrike" cap="none" normalizeH="0" baseline="0" smtClean="0">
            <a:ln>
              <a:noFill/>
            </a:ln>
            <a:solidFill>
              <a:srgbClr val="414141"/>
            </a:solidFill>
            <a:effectLst/>
            <a:latin typeface="Gill Sans Light" charset="0"/>
            <a:ea typeface="Gill Sans Light" charset="0"/>
            <a:cs typeface="Gill Sans Light" charset="0"/>
            <a:sym typeface="Gill Sans Light" charset="0"/>
          </a:defRPr>
        </a:defPPr>
      </a:lstStyle>
    </a:lnDef>
  </a:objectDefaults>
  <a:extraClrSchemeLst/>
</a:theme>
</file>

<file path=ppt/theme/theme2.xml><?xml version="1.0" encoding="utf-8"?>
<a:theme xmlns:a="http://schemas.openxmlformats.org/drawingml/2006/main" name="Larissa">
  <a:themeElements>
    <a:clrScheme name="">
      <a:dk1>
        <a:srgbClr val="572E2D"/>
      </a:dk1>
      <a:lt1>
        <a:srgbClr val="2A5657"/>
      </a:lt1>
      <a:dk2>
        <a:srgbClr val="484D4B"/>
      </a:dk2>
      <a:lt2>
        <a:srgbClr val="A5A5A5"/>
      </a:lt2>
      <a:accent1>
        <a:srgbClr val="669AA4"/>
      </a:accent1>
      <a:accent2>
        <a:srgbClr val="930706"/>
      </a:accent2>
      <a:accent3>
        <a:srgbClr val="ACB4B4"/>
      </a:accent3>
      <a:accent4>
        <a:srgbClr val="492625"/>
      </a:accent4>
      <a:accent5>
        <a:srgbClr val="B8CACF"/>
      </a:accent5>
      <a:accent6>
        <a:srgbClr val="850605"/>
      </a:accent6>
      <a:hlink>
        <a:srgbClr val="0000FF"/>
      </a:hlink>
      <a:folHlink>
        <a:srgbClr val="FF00FF"/>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644</Words>
  <Application>Microsoft Office PowerPoint</Application>
  <PresentationFormat>Benutzerdefiniert</PresentationFormat>
  <Paragraphs>261</Paragraphs>
  <Slides>8</Slides>
  <Notes>7</Notes>
  <HiddenSlides>0</HiddenSlides>
  <MMClips>0</MMClips>
  <ScaleCrop>false</ScaleCrop>
  <HeadingPairs>
    <vt:vector size="4" baseType="variant">
      <vt:variant>
        <vt:lpstr>Design</vt:lpstr>
      </vt:variant>
      <vt:variant>
        <vt:i4>1</vt:i4>
      </vt:variant>
      <vt:variant>
        <vt:lpstr>Folientitel</vt:lpstr>
      </vt:variant>
      <vt:variant>
        <vt:i4>8</vt:i4>
      </vt:variant>
    </vt:vector>
  </HeadingPairs>
  <TitlesOfParts>
    <vt:vector size="9" baseType="lpstr">
      <vt:lpstr>Larissa</vt:lpstr>
      <vt:lpstr>PowerPoint-Präsentation</vt:lpstr>
      <vt:lpstr>Aktueller Status der Projekte</vt:lpstr>
      <vt:lpstr>Status Ziele</vt:lpstr>
      <vt:lpstr>Details zu „Rot“ bewerteten Zielen</vt:lpstr>
      <vt:lpstr>Einordnung strategischer Fit / technisches Risiko / Rendite</vt:lpstr>
      <vt:lpstr>Ergebnis-Potenzial</vt:lpstr>
      <vt:lpstr>Häufigkeit Projekt-Phasen</vt:lpstr>
      <vt:lpstr>Ressourcen Auslastung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tom</dc:creator>
  <cp:lastModifiedBy>tom</cp:lastModifiedBy>
  <cp:revision>88</cp:revision>
  <dcterms:modified xsi:type="dcterms:W3CDTF">2013-09-27T14:42:11Z</dcterms:modified>
</cp:coreProperties>
</file>