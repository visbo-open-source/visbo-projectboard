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saveSubsetFonts="1">
  <p:sldMasterIdLst>
    <p:sldMasterId id="2147483648" r:id="rId1"/>
  </p:sldMasterIdLst>
  <p:notesMasterIdLst>
    <p:notesMasterId r:id="rId6"/>
  </p:notesMasterIdLst>
  <p:sldIdLst>
    <p:sldId id="272" r:id="rId2"/>
    <p:sldId id="263" r:id="rId3"/>
    <p:sldId id="266" r:id="rId4"/>
    <p:sldId id="267" r:id="rId5"/>
  </p:sldIdLst>
  <p:sldSz cx="13004800" cy="9753600"/>
  <p:notesSz cx="6858000" cy="9144000"/>
  <p:defaultTextStyle>
    <a:defPPr>
      <a:defRPr lang="de-DE"/>
    </a:defPPr>
    <a:lvl1pPr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1pPr>
    <a:lvl2pPr marL="3429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2pPr>
    <a:lvl3pPr marL="6858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3pPr>
    <a:lvl4pPr marL="10287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4pPr>
    <a:lvl5pPr marL="13716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5pPr>
    <a:lvl6pPr marL="22860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6pPr>
    <a:lvl7pPr marL="27432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7pPr>
    <a:lvl8pPr marL="32004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8pPr>
    <a:lvl9pPr marL="36576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353" autoAdjust="0"/>
  </p:normalViewPr>
  <p:slideViewPr>
    <p:cSldViewPr>
      <p:cViewPr varScale="1">
        <p:scale>
          <a:sx n="34" d="100"/>
          <a:sy n="34" d="100"/>
        </p:scale>
        <p:origin x="-1650" y="-102"/>
      </p:cViewPr>
      <p:guideLst>
        <p:guide orient="horz" pos="3072"/>
        <p:guide pos="40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p:cNvSpPr>
            <a:spLocks noGrp="1" noRot="1" noChangeAspect="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4" name="Rectangle 2"/>
          <p:cNvSpPr>
            <a:spLocks noGrp="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de-DE" smtClean="0">
                <a:sym typeface="Noteworthy Bold" charset="0"/>
              </a:rPr>
              <a:t>Click to edit Master text styles</a:t>
            </a:r>
          </a:p>
          <a:p>
            <a:pPr lvl="1"/>
            <a:r>
              <a:rPr lang="de-DE" smtClean="0">
                <a:sym typeface="Noteworthy Bold" charset="0"/>
              </a:rPr>
              <a:t>Second level</a:t>
            </a:r>
          </a:p>
          <a:p>
            <a:pPr lvl="2"/>
            <a:r>
              <a:rPr lang="de-DE" smtClean="0">
                <a:sym typeface="Noteworthy Bold" charset="0"/>
              </a:rPr>
              <a:t>Third level</a:t>
            </a:r>
          </a:p>
          <a:p>
            <a:pPr lvl="3"/>
            <a:r>
              <a:rPr lang="de-DE" smtClean="0">
                <a:sym typeface="Noteworthy Bold" charset="0"/>
              </a:rPr>
              <a:t>Fourth level</a:t>
            </a:r>
          </a:p>
          <a:p>
            <a:pPr lvl="4"/>
            <a:r>
              <a:rPr lang="de-DE" smtClean="0">
                <a:sym typeface="Noteworthy Bold" charset="0"/>
              </a:rPr>
              <a:t>Fifth level</a:t>
            </a:r>
          </a:p>
        </p:txBody>
      </p:sp>
    </p:spTree>
    <p:extLst>
      <p:ext uri="{BB962C8B-B14F-4D97-AF65-F5344CB8AC3E}">
        <p14:creationId xmlns:p14="http://schemas.microsoft.com/office/powerpoint/2010/main" val="3294167338"/>
      </p:ext>
    </p:extLst>
  </p:cSld>
  <p:clrMap bg1="lt1" tx1="dk1" bg2="lt2" tx2="dk2" accent1="accent1" accent2="accent2" accent3="accent3" accent4="accent4" accent5="accent5" accent6="accent6" hlink="hlink" folHlink="folHlink"/>
  <p:notesStyle>
    <a:lvl1pPr algn="l" defTabSz="457200" rtl="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charset="0"/>
      </a:defRPr>
    </a:lvl1pPr>
    <a:lvl2pPr marL="342900" algn="l" defTabSz="457200" rtl="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charset="0"/>
      </a:defRPr>
    </a:lvl2pPr>
    <a:lvl3pPr marL="685800" algn="l" defTabSz="457200" rtl="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charset="0"/>
      </a:defRPr>
    </a:lvl3pPr>
    <a:lvl4pPr marL="1028700" algn="l" defTabSz="457200" rtl="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charset="0"/>
      </a:defRPr>
    </a:lvl4pPr>
    <a:lvl5pPr marL="1371600" algn="l" defTabSz="457200" rtl="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2400" dirty="0" smtClean="0"/>
              <a:t>Portfolio-Name</a:t>
            </a:r>
          </a:p>
          <a:p>
            <a:r>
              <a:rPr lang="de-DE" sz="2400" dirty="0" smtClean="0">
                <a:solidFill>
                  <a:schemeClr val="bg2"/>
                </a:solidFill>
              </a:rPr>
              <a:t>Projekt-Tafel</a:t>
            </a:r>
            <a:endParaRPr lang="de-DE" sz="2400" dirty="0" smtClean="0"/>
          </a:p>
          <a:p>
            <a:r>
              <a:rPr lang="de-DE" sz="2400" dirty="0" smtClean="0">
                <a:solidFill>
                  <a:schemeClr val="bg2"/>
                </a:solidFill>
              </a:rPr>
              <a:t>Projekt-Tafel(Milestones R)</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rPr>
              <a:t>Projekt-Tafel(Milestones GR)</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rPr>
              <a:t>Ergebnis</a:t>
            </a:r>
          </a:p>
          <a:p>
            <a:r>
              <a:rPr lang="de-DE" sz="2400" dirty="0" smtClean="0">
                <a:solidFill>
                  <a:schemeClr val="bg2"/>
                </a:solidFill>
                <a:sym typeface="Noteworthy Bold" charset="0"/>
              </a:rPr>
              <a:t>Ergebnis Verbesserungspotential</a:t>
            </a: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Strategie/Risiko/Marge</a:t>
            </a: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Übersicht 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Unterauslastung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Überauslastung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Personalkosten </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Sonstige 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Gesamtkosten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Rolle(…)</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Kostenart(…) </a:t>
            </a:r>
          </a:p>
          <a:p>
            <a:endParaRPr lang="de-DE" sz="2400" kern="1200" dirty="0" smtClean="0">
              <a:solidFill>
                <a:srgbClr val="572E2D"/>
              </a:solidFill>
              <a:latin typeface="Noteworthy Bold" charset="0"/>
              <a:ea typeface="Noteworthy Bold" charset="0"/>
              <a:cs typeface="Noteworthy Bold" charset="0"/>
              <a:sym typeface="Noteworthy Bold" charset="0"/>
            </a:endParaRPr>
          </a:p>
          <a:p>
            <a:r>
              <a:rPr lang="de-DE" sz="2400" kern="1200" dirty="0" smtClean="0">
                <a:solidFill>
                  <a:srgbClr val="572E2D"/>
                </a:solidFill>
                <a:latin typeface="Noteworthy Bold" charset="0"/>
                <a:ea typeface="Noteworthy Bold" charset="0"/>
                <a:cs typeface="Noteworthy Bold" charset="0"/>
                <a:sym typeface="Noteworthy Bold" charset="0"/>
              </a:rPr>
              <a:t>Stand:</a:t>
            </a:r>
          </a:p>
          <a:p>
            <a:r>
              <a:rPr lang="de-DE" sz="2400" dirty="0" smtClean="0">
                <a:solidFill>
                  <a:schemeClr val="bg2"/>
                </a:solidFill>
              </a:rPr>
              <a:t>Zeitraum</a:t>
            </a:r>
            <a:r>
              <a:rPr lang="de-DE" sz="2400" kern="1200" dirty="0" smtClean="0">
                <a:solidFill>
                  <a:srgbClr val="572E2D"/>
                </a:solidFill>
                <a:latin typeface="Noteworthy Bold" charset="0"/>
                <a:ea typeface="Noteworthy Bold" charset="0"/>
                <a:cs typeface="Noteworthy Bold" charset="0"/>
                <a:sym typeface="Noteworthy Bold" charset="0"/>
              </a:rPr>
              <a:t>:</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Phase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Rolle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Kostenart (…)</a:t>
            </a:r>
          </a:p>
        </p:txBody>
      </p:sp>
    </p:spTree>
    <p:extLst>
      <p:ext uri="{BB962C8B-B14F-4D97-AF65-F5344CB8AC3E}">
        <p14:creationId xmlns:p14="http://schemas.microsoft.com/office/powerpoint/2010/main" val="1822032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2400" dirty="0" smtClean="0"/>
              <a:t>Portfolio-Name</a:t>
            </a:r>
          </a:p>
          <a:p>
            <a:r>
              <a:rPr lang="de-DE" sz="2400" dirty="0" smtClean="0">
                <a:solidFill>
                  <a:schemeClr val="bg2"/>
                </a:solidFill>
              </a:rPr>
              <a:t>Projekt-Tafel</a:t>
            </a:r>
            <a:endParaRPr lang="de-DE" sz="2400" dirty="0" smtClean="0"/>
          </a:p>
          <a:p>
            <a:r>
              <a:rPr lang="de-DE" sz="2400" dirty="0" smtClean="0">
                <a:solidFill>
                  <a:schemeClr val="bg2"/>
                </a:solidFill>
              </a:rPr>
              <a:t>Projekt-Tafel(Milestones R)</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rPr>
              <a:t>Projekt-Tafel(Milestones GR)</a:t>
            </a:r>
          </a:p>
          <a:p>
            <a:r>
              <a:rPr lang="de-DE" sz="2400" kern="1200" dirty="0" smtClean="0">
                <a:solidFill>
                  <a:srgbClr val="572E2D"/>
                </a:solidFill>
                <a:latin typeface="Noteworthy Bold" charset="0"/>
                <a:ea typeface="Noteworthy Bold" charset="0"/>
                <a:cs typeface="Noteworthy Bold" charset="0"/>
                <a:sym typeface="Noteworthy Bold" charset="0"/>
              </a:rPr>
              <a:t>Ergebnis</a:t>
            </a:r>
          </a:p>
          <a:p>
            <a:r>
              <a:rPr lang="de-DE" sz="2400" dirty="0" smtClean="0">
                <a:solidFill>
                  <a:schemeClr val="bg2"/>
                </a:solidFill>
                <a:sym typeface="Noteworthy Bold" charset="0"/>
              </a:rPr>
              <a:t>Ergebnis Verbesserungspotential</a:t>
            </a: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Strategie/Risiko/Marge</a:t>
            </a: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Übersicht 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Unterauslastung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Überauslastung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Personalkosten </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Sonstige 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Gesamtkosten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Rolle(…)</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Kostenart(…) </a:t>
            </a:r>
          </a:p>
          <a:p>
            <a:endParaRPr lang="de-DE" sz="2400" kern="1200" dirty="0" smtClean="0">
              <a:solidFill>
                <a:srgbClr val="572E2D"/>
              </a:solidFill>
              <a:latin typeface="Noteworthy Bold" charset="0"/>
              <a:ea typeface="Noteworthy Bold" charset="0"/>
              <a:cs typeface="Noteworthy Bold" charset="0"/>
              <a:sym typeface="Noteworthy Bold" charset="0"/>
            </a:endParaRPr>
          </a:p>
          <a:p>
            <a:r>
              <a:rPr lang="de-DE" sz="2400" kern="1200" dirty="0" smtClean="0">
                <a:solidFill>
                  <a:srgbClr val="572E2D"/>
                </a:solidFill>
                <a:latin typeface="Noteworthy Bold" charset="0"/>
                <a:ea typeface="Noteworthy Bold" charset="0"/>
                <a:cs typeface="Noteworthy Bold" charset="0"/>
                <a:sym typeface="Noteworthy Bold" charset="0"/>
              </a:rPr>
              <a:t>Stand:</a:t>
            </a:r>
          </a:p>
          <a:p>
            <a:r>
              <a:rPr lang="de-DE" sz="2400" dirty="0" smtClean="0">
                <a:solidFill>
                  <a:schemeClr val="bg2"/>
                </a:solidFill>
              </a:rPr>
              <a:t>Zeitraum</a:t>
            </a:r>
            <a:r>
              <a:rPr lang="de-DE" sz="2400" kern="1200" dirty="0" smtClean="0">
                <a:solidFill>
                  <a:srgbClr val="572E2D"/>
                </a:solidFill>
                <a:latin typeface="Noteworthy Bold" charset="0"/>
                <a:ea typeface="Noteworthy Bold" charset="0"/>
                <a:cs typeface="Noteworthy Bold" charset="0"/>
                <a:sym typeface="Noteworthy Bold" charset="0"/>
              </a:rPr>
              <a:t>:</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Phase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Rolle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Kostenart (…)</a:t>
            </a:r>
          </a:p>
        </p:txBody>
      </p:sp>
    </p:spTree>
    <p:extLst>
      <p:ext uri="{BB962C8B-B14F-4D97-AF65-F5344CB8AC3E}">
        <p14:creationId xmlns:p14="http://schemas.microsoft.com/office/powerpoint/2010/main" val="1822032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2400" dirty="0" smtClean="0"/>
              <a:t>Portfolio-Name</a:t>
            </a:r>
          </a:p>
          <a:p>
            <a:r>
              <a:rPr lang="de-DE" sz="2400" dirty="0" smtClean="0">
                <a:solidFill>
                  <a:schemeClr val="bg2"/>
                </a:solidFill>
              </a:rPr>
              <a:t>Projekt-Tafel</a:t>
            </a:r>
            <a:endParaRPr lang="de-DE" sz="2400" dirty="0" smtClean="0"/>
          </a:p>
          <a:p>
            <a:r>
              <a:rPr lang="de-DE" sz="2400" dirty="0" smtClean="0">
                <a:solidFill>
                  <a:schemeClr val="bg2"/>
                </a:solidFill>
              </a:rPr>
              <a:t>Projekt-Tafel(Milestones R)</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rPr>
              <a:t>Projekt-Tafel(Milestones GR)</a:t>
            </a:r>
          </a:p>
          <a:p>
            <a:r>
              <a:rPr lang="de-DE" sz="2400" kern="1200" dirty="0" smtClean="0">
                <a:solidFill>
                  <a:srgbClr val="572E2D"/>
                </a:solidFill>
                <a:latin typeface="Noteworthy Bold" charset="0"/>
                <a:ea typeface="Noteworthy Bold" charset="0"/>
                <a:cs typeface="Noteworthy Bold" charset="0"/>
                <a:sym typeface="Noteworthy Bold" charset="0"/>
              </a:rPr>
              <a:t>Ergebnis</a:t>
            </a:r>
          </a:p>
          <a:p>
            <a:r>
              <a:rPr lang="de-DE" sz="2400" dirty="0" smtClean="0">
                <a:solidFill>
                  <a:schemeClr val="bg2"/>
                </a:solidFill>
                <a:sym typeface="Noteworthy Bold" charset="0"/>
              </a:rPr>
              <a:t>Ergebnis Verbesserungspotential</a:t>
            </a: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Strategie/Risiko/Marge</a:t>
            </a: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Übersicht 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Unterauslastung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Überauslastung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Rolle (…)</a:t>
            </a: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Kostenart(…)</a:t>
            </a: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Personalkosten </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Sonstige 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Gesamtkosten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Rolle(…)</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Kostenart(…) </a:t>
            </a:r>
          </a:p>
          <a:p>
            <a:endParaRPr lang="de-DE" sz="2400" kern="1200" dirty="0" smtClean="0">
              <a:solidFill>
                <a:srgbClr val="572E2D"/>
              </a:solidFill>
              <a:latin typeface="Noteworthy Bold" charset="0"/>
              <a:ea typeface="Noteworthy Bold" charset="0"/>
              <a:cs typeface="Noteworthy Bold" charset="0"/>
              <a:sym typeface="Noteworthy Bold" charset="0"/>
            </a:endParaRPr>
          </a:p>
          <a:p>
            <a:r>
              <a:rPr lang="de-DE" sz="2400" kern="1200" dirty="0" smtClean="0">
                <a:solidFill>
                  <a:srgbClr val="572E2D"/>
                </a:solidFill>
                <a:latin typeface="Noteworthy Bold" charset="0"/>
                <a:ea typeface="Noteworthy Bold" charset="0"/>
                <a:cs typeface="Noteworthy Bold" charset="0"/>
                <a:sym typeface="Noteworthy Bold" charset="0"/>
              </a:rPr>
              <a:t>Stand:</a:t>
            </a:r>
          </a:p>
          <a:p>
            <a:r>
              <a:rPr lang="de-DE" sz="2400" dirty="0" smtClean="0">
                <a:solidFill>
                  <a:schemeClr val="bg2"/>
                </a:solidFill>
              </a:rPr>
              <a:t>Zeitraum</a:t>
            </a:r>
            <a:r>
              <a:rPr lang="de-DE" sz="2400" kern="1200" dirty="0" smtClean="0">
                <a:solidFill>
                  <a:srgbClr val="572E2D"/>
                </a:solidFill>
                <a:latin typeface="Noteworthy Bold" charset="0"/>
                <a:ea typeface="Noteworthy Bold" charset="0"/>
                <a:cs typeface="Noteworthy Bold" charset="0"/>
                <a:sym typeface="Noteworthy Bold" charset="0"/>
              </a:rPr>
              <a:t>:</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Phase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Rolle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Kostenart (…)</a:t>
            </a:r>
          </a:p>
        </p:txBody>
      </p:sp>
    </p:spTree>
    <p:extLst>
      <p:ext uri="{BB962C8B-B14F-4D97-AF65-F5344CB8AC3E}">
        <p14:creationId xmlns:p14="http://schemas.microsoft.com/office/powerpoint/2010/main" val="1822032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974725" y="3030538"/>
            <a:ext cx="11055350" cy="2090737"/>
          </a:xfrm>
        </p:spPr>
        <p:txBody>
          <a:bodyPr/>
          <a:lstStyle/>
          <a:p>
            <a:r>
              <a:rPr lang="de-DE" dirty="0" smtClean="0"/>
              <a:t>Titelmasterformat durch Klicken bearbeiten</a:t>
            </a:r>
            <a:endParaRPr lang="de-DE" dirty="0"/>
          </a:p>
        </p:txBody>
      </p:sp>
      <p:sp>
        <p:nvSpPr>
          <p:cNvPr id="3" name="Untertitel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smtClean="0"/>
              <a:t>Formatvorlage des Untertitelmasters durch Klicken bearbeiten</a:t>
            </a:r>
            <a:endParaRPr lang="de-DE"/>
          </a:p>
        </p:txBody>
      </p:sp>
    </p:spTree>
    <p:extLst>
      <p:ext uri="{BB962C8B-B14F-4D97-AF65-F5344CB8AC3E}">
        <p14:creationId xmlns:p14="http://schemas.microsoft.com/office/powerpoint/2010/main" val="586843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5" name="Titel 4"/>
          <p:cNvSpPr>
            <a:spLocks noGrp="1"/>
          </p:cNvSpPr>
          <p:nvPr>
            <p:ph type="title"/>
          </p:nvPr>
        </p:nvSpPr>
        <p:spPr>
          <a:xfrm>
            <a:off x="355600" y="484312"/>
            <a:ext cx="12293600" cy="1282700"/>
          </a:xfrm>
        </p:spPr>
        <p:txBody>
          <a:bodyPr/>
          <a:lstStyle/>
          <a:p>
            <a:r>
              <a:rPr lang="de-DE" smtClean="0"/>
              <a:t>Titelmasterformat durch Klicken bearbeiten</a:t>
            </a:r>
            <a:endParaRPr lang="de-DE"/>
          </a:p>
        </p:txBody>
      </p:sp>
    </p:spTree>
    <p:extLst>
      <p:ext uri="{BB962C8B-B14F-4D97-AF65-F5344CB8AC3E}">
        <p14:creationId xmlns:p14="http://schemas.microsoft.com/office/powerpoint/2010/main" val="236772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a:xfrm>
            <a:off x="1270000" y="5130800"/>
            <a:ext cx="10464800" cy="1270000"/>
          </a:xfrm>
          <a:prstGeom prst="rect">
            <a:avLst/>
          </a:prstGeo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Tree>
    <p:extLst>
      <p:ext uri="{BB962C8B-B14F-4D97-AF65-F5344CB8AC3E}">
        <p14:creationId xmlns:p14="http://schemas.microsoft.com/office/powerpoint/2010/main" val="24199876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5" name="Rectangle 1"/>
          <p:cNvSpPr>
            <a:spLocks noGrp="1"/>
          </p:cNvSpPr>
          <p:nvPr>
            <p:ph type="title"/>
          </p:nvPr>
        </p:nvSpPr>
        <p:spPr bwMode="auto">
          <a:xfrm>
            <a:off x="355600" y="7416800"/>
            <a:ext cx="12293600" cy="1282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0" rIns="0" bIns="0" numCol="1" anchor="ctr" anchorCtr="0" compatLnSpc="1">
            <a:prstTxWarp prst="textNoShape">
              <a:avLst/>
            </a:prstTxWarp>
          </a:bodyPr>
          <a:lstStyle/>
          <a:p>
            <a:pPr lvl="0"/>
            <a:r>
              <a:rPr lang="de-DE" dirty="0" smtClean="0">
                <a:sym typeface="Gill Sans Light" charset="0"/>
              </a:rPr>
              <a:t>Click </a:t>
            </a:r>
            <a:r>
              <a:rPr lang="de-DE" dirty="0" err="1" smtClean="0">
                <a:sym typeface="Gill Sans Light" charset="0"/>
              </a:rPr>
              <a:t>to</a:t>
            </a:r>
            <a:r>
              <a:rPr lang="de-DE" dirty="0" smtClean="0">
                <a:sym typeface="Gill Sans Light" charset="0"/>
              </a:rPr>
              <a:t> </a:t>
            </a:r>
            <a:r>
              <a:rPr lang="de-DE" dirty="0" err="1" smtClean="0">
                <a:sym typeface="Gill Sans Light" charset="0"/>
              </a:rPr>
              <a:t>edit</a:t>
            </a:r>
            <a:r>
              <a:rPr lang="de-DE" dirty="0" smtClean="0">
                <a:sym typeface="Gill Sans Light" charset="0"/>
              </a:rPr>
              <a:t> Master title style</a:t>
            </a:r>
          </a:p>
        </p:txBody>
      </p:sp>
      <p:pic>
        <p:nvPicPr>
          <p:cNvPr id="3" name="Grafik 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803384" y="9229297"/>
            <a:ext cx="963712" cy="400031"/>
          </a:xfrm>
          <a:prstGeom prst="rect">
            <a:avLst/>
          </a:prstGeom>
        </p:spPr>
      </p:pic>
      <p:sp>
        <p:nvSpPr>
          <p:cNvPr id="4" name="Textfeld 3"/>
          <p:cNvSpPr txBox="1"/>
          <p:nvPr userDrawn="1"/>
        </p:nvSpPr>
        <p:spPr>
          <a:xfrm>
            <a:off x="10871464" y="9327727"/>
            <a:ext cx="1075936" cy="261610"/>
          </a:xfrm>
          <a:prstGeom prst="rect">
            <a:avLst/>
          </a:prstGeom>
          <a:noFill/>
        </p:spPr>
        <p:txBody>
          <a:bodyPr wrap="none" rtlCol="0">
            <a:spAutoFit/>
          </a:bodyPr>
          <a:lstStyle/>
          <a:p>
            <a:r>
              <a:rPr lang="de-DE" sz="1050" dirty="0" smtClean="0"/>
              <a:t>Generated by </a:t>
            </a:r>
            <a:endParaRPr lang="de-DE" sz="1050" dirty="0"/>
          </a:p>
        </p:txBody>
      </p:sp>
    </p:spTree>
  </p:cSld>
  <p:clrMap bg1="dk2" tx1="lt1" bg2="dk1" tx2="lt2" accent1="accent1" accent2="accent2" accent3="accent3" accent4="accent4" accent5="accent5" accent6="accent6" hlink="hlink" folHlink="folHlink"/>
  <p:sldLayoutIdLst>
    <p:sldLayoutId id="2147483650" r:id="rId1"/>
    <p:sldLayoutId id="2147483654" r:id="rId2"/>
    <p:sldLayoutId id="2147483655" r:id="rId3"/>
  </p:sldLayoutIdLst>
  <p:hf hdr="0" dt="0"/>
  <p:txStyles>
    <p:titleStyle>
      <a:lvl1pPr algn="ctr" defTabSz="584200" rtl="0" fontAlgn="base" hangingPunct="0">
        <a:spcBef>
          <a:spcPct val="0"/>
        </a:spcBef>
        <a:spcAft>
          <a:spcPct val="0"/>
        </a:spcAft>
        <a:defRPr sz="7200">
          <a:solidFill>
            <a:srgbClr val="414141"/>
          </a:solidFill>
          <a:latin typeface="+mj-lt"/>
          <a:ea typeface="+mj-ea"/>
          <a:cs typeface="+mj-cs"/>
          <a:sym typeface="Gill Sans Light" charset="0"/>
        </a:defRPr>
      </a:lvl1pPr>
      <a:lvl2pPr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2pPr>
      <a:lvl3pPr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3pPr>
      <a:lvl4pPr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4pPr>
      <a:lvl5pPr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5pPr>
      <a:lvl6pPr marL="457200"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6pPr>
      <a:lvl7pPr marL="914400"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7pPr>
      <a:lvl8pPr marL="1371600"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8pPr>
      <a:lvl9pPr marL="1828800"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9pPr>
    </p:titleStyle>
    <p:bodyStyle>
      <a:lvl1pPr algn="ctr" defTabSz="584200" rtl="0" fontAlgn="base" hangingPunct="0">
        <a:spcBef>
          <a:spcPct val="0"/>
        </a:spcBef>
        <a:spcAft>
          <a:spcPct val="0"/>
        </a:spcAft>
        <a:defRPr sz="3600">
          <a:solidFill>
            <a:srgbClr val="414141"/>
          </a:solidFill>
          <a:latin typeface="+mn-lt"/>
          <a:ea typeface="+mn-ea"/>
          <a:cs typeface="+mn-cs"/>
          <a:sym typeface="Gill Sans Light" charset="0"/>
        </a:defRPr>
      </a:lvl1pPr>
      <a:lvl2pPr marL="342900" algn="ctr" defTabSz="584200" rtl="0" fontAlgn="base" hangingPunct="0">
        <a:spcBef>
          <a:spcPct val="0"/>
        </a:spcBef>
        <a:spcAft>
          <a:spcPct val="0"/>
        </a:spcAft>
        <a:defRPr sz="3600">
          <a:solidFill>
            <a:srgbClr val="414141"/>
          </a:solidFill>
          <a:latin typeface="+mn-lt"/>
          <a:ea typeface="+mn-ea"/>
          <a:cs typeface="+mn-cs"/>
          <a:sym typeface="Gill Sans Light" charset="0"/>
        </a:defRPr>
      </a:lvl2pPr>
      <a:lvl3pPr marL="685800" algn="ctr" defTabSz="584200" rtl="0" fontAlgn="base" hangingPunct="0">
        <a:spcBef>
          <a:spcPct val="0"/>
        </a:spcBef>
        <a:spcAft>
          <a:spcPct val="0"/>
        </a:spcAft>
        <a:defRPr sz="3600">
          <a:solidFill>
            <a:srgbClr val="414141"/>
          </a:solidFill>
          <a:latin typeface="+mn-lt"/>
          <a:ea typeface="+mn-ea"/>
          <a:cs typeface="+mn-cs"/>
          <a:sym typeface="Gill Sans Light" charset="0"/>
        </a:defRPr>
      </a:lvl3pPr>
      <a:lvl4pPr marL="1028700" algn="ctr" defTabSz="584200" rtl="0" fontAlgn="base" hangingPunct="0">
        <a:spcBef>
          <a:spcPct val="0"/>
        </a:spcBef>
        <a:spcAft>
          <a:spcPct val="0"/>
        </a:spcAft>
        <a:defRPr sz="3600">
          <a:solidFill>
            <a:srgbClr val="414141"/>
          </a:solidFill>
          <a:latin typeface="+mn-lt"/>
          <a:ea typeface="+mn-ea"/>
          <a:cs typeface="+mn-cs"/>
          <a:sym typeface="Gill Sans Light" charset="0"/>
        </a:defRPr>
      </a:lvl4pPr>
      <a:lvl5pPr marL="1371600" algn="ctr" defTabSz="584200" rtl="0" fontAlgn="base" hangingPunct="0">
        <a:spcBef>
          <a:spcPct val="0"/>
        </a:spcBef>
        <a:spcAft>
          <a:spcPct val="0"/>
        </a:spcAft>
        <a:defRPr sz="3600">
          <a:solidFill>
            <a:srgbClr val="414141"/>
          </a:solidFill>
          <a:latin typeface="+mn-lt"/>
          <a:ea typeface="+mn-ea"/>
          <a:cs typeface="+mn-cs"/>
          <a:sym typeface="Gill Sans Light" charset="0"/>
        </a:defRPr>
      </a:lvl5pPr>
      <a:lvl6pPr marL="1828800" algn="ctr" defTabSz="584200" rtl="0" fontAlgn="base" hangingPunct="0">
        <a:spcBef>
          <a:spcPct val="0"/>
        </a:spcBef>
        <a:spcAft>
          <a:spcPct val="0"/>
        </a:spcAft>
        <a:defRPr sz="3600">
          <a:solidFill>
            <a:srgbClr val="414141"/>
          </a:solidFill>
          <a:latin typeface="+mn-lt"/>
          <a:ea typeface="+mn-ea"/>
          <a:cs typeface="+mn-cs"/>
          <a:sym typeface="Gill Sans Light" charset="0"/>
        </a:defRPr>
      </a:lvl6pPr>
      <a:lvl7pPr marL="2286000" algn="ctr" defTabSz="584200" rtl="0" fontAlgn="base" hangingPunct="0">
        <a:spcBef>
          <a:spcPct val="0"/>
        </a:spcBef>
        <a:spcAft>
          <a:spcPct val="0"/>
        </a:spcAft>
        <a:defRPr sz="3600">
          <a:solidFill>
            <a:srgbClr val="414141"/>
          </a:solidFill>
          <a:latin typeface="+mn-lt"/>
          <a:ea typeface="+mn-ea"/>
          <a:cs typeface="+mn-cs"/>
          <a:sym typeface="Gill Sans Light" charset="0"/>
        </a:defRPr>
      </a:lvl7pPr>
      <a:lvl8pPr marL="2743200" algn="ctr" defTabSz="584200" rtl="0" fontAlgn="base" hangingPunct="0">
        <a:spcBef>
          <a:spcPct val="0"/>
        </a:spcBef>
        <a:spcAft>
          <a:spcPct val="0"/>
        </a:spcAft>
        <a:defRPr sz="3600">
          <a:solidFill>
            <a:srgbClr val="414141"/>
          </a:solidFill>
          <a:latin typeface="+mn-lt"/>
          <a:ea typeface="+mn-ea"/>
          <a:cs typeface="+mn-cs"/>
          <a:sym typeface="Gill Sans Light" charset="0"/>
        </a:defRPr>
      </a:lvl8pPr>
      <a:lvl9pPr marL="3200400" algn="ctr" defTabSz="584200" rtl="0" fontAlgn="base" hangingPunct="0">
        <a:spcBef>
          <a:spcPct val="0"/>
        </a:spcBef>
        <a:spcAft>
          <a:spcPct val="0"/>
        </a:spcAft>
        <a:defRPr sz="3600">
          <a:solidFill>
            <a:srgbClr val="414141"/>
          </a:solidFill>
          <a:latin typeface="+mn-lt"/>
          <a:ea typeface="+mn-ea"/>
          <a:cs typeface="+mn-cs"/>
          <a:sym typeface="Gill Sans Light"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AutoShape 1"/>
          <p:cNvSpPr>
            <a:spLocks/>
          </p:cNvSpPr>
          <p:nvPr/>
        </p:nvSpPr>
        <p:spPr bwMode="auto">
          <a:xfrm>
            <a:off x="2998788" y="6088063"/>
            <a:ext cx="6997700" cy="838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r>
              <a:rPr lang="de-DE" sz="2400" dirty="0" smtClean="0">
                <a:solidFill>
                  <a:srgbClr val="4C4C4C"/>
                </a:solidFill>
                <a:latin typeface="Helvetica" charset="0"/>
                <a:ea typeface="Helvetica" charset="0"/>
                <a:cs typeface="Helvetica" charset="0"/>
                <a:sym typeface="Helvetica" charset="0"/>
              </a:rPr>
              <a:t>Multiprojekt Übersichten</a:t>
            </a:r>
          </a:p>
          <a:p>
            <a:r>
              <a:rPr lang="de-DE" sz="1800" dirty="0" smtClean="0">
                <a:solidFill>
                  <a:srgbClr val="4C4C4C"/>
                </a:solidFill>
                <a:latin typeface="Helvetica" charset="0"/>
                <a:ea typeface="Helvetica" charset="0"/>
                <a:cs typeface="Helvetica" charset="0"/>
                <a:sym typeface="Helvetica" charset="0"/>
              </a:rPr>
              <a:t>Erzeugt durch den VISBO Report Generator © 2013 </a:t>
            </a:r>
          </a:p>
        </p:txBody>
      </p:sp>
      <p:pic>
        <p:nvPicPr>
          <p:cNvPr id="4098" name="Picture 2" descr="visbo_logo_transparent_flat.tif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2379663"/>
            <a:ext cx="8509000" cy="3532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071060550"/>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25736" y="390525"/>
            <a:ext cx="11828189" cy="1245915"/>
          </a:xfrm>
        </p:spPr>
        <p:txBody>
          <a:bodyPr/>
          <a:lstStyle/>
          <a:p>
            <a:r>
              <a:rPr lang="de-DE" sz="3600" dirty="0" smtClean="0"/>
              <a:t>Einordnung strategischer Fit / technisches Risiko / Rendite</a:t>
            </a:r>
            <a:endParaRPr lang="de-DE" sz="6000" dirty="0"/>
          </a:p>
        </p:txBody>
      </p:sp>
      <p:sp>
        <p:nvSpPr>
          <p:cNvPr id="8" name="Rechteck 7"/>
          <p:cNvSpPr/>
          <p:nvPr/>
        </p:nvSpPr>
        <p:spPr bwMode="auto">
          <a:xfrm>
            <a:off x="525736" y="1780456"/>
            <a:ext cx="5940660" cy="635487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2400" dirty="0">
                <a:solidFill>
                  <a:schemeClr val="bg2"/>
                </a:solidFill>
              </a:rPr>
              <a:t>Projekt-Tafel</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p:txBody>
      </p:sp>
      <p:sp>
        <p:nvSpPr>
          <p:cNvPr id="10" name="Rechteck 9"/>
          <p:cNvSpPr/>
          <p:nvPr/>
        </p:nvSpPr>
        <p:spPr bwMode="auto">
          <a:xfrm>
            <a:off x="50400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Stand:</a:t>
            </a:r>
            <a:endParaRPr lang="de-DE" sz="1400" dirty="0">
              <a:solidFill>
                <a:schemeClr val="bg2"/>
              </a:solidFill>
            </a:endParaRPr>
          </a:p>
        </p:txBody>
      </p:sp>
      <p:sp>
        <p:nvSpPr>
          <p:cNvPr id="15" name="Rechteck 14"/>
          <p:cNvSpPr/>
          <p:nvPr/>
        </p:nvSpPr>
        <p:spPr bwMode="auto">
          <a:xfrm>
            <a:off x="482448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Zeitraum:</a:t>
            </a:r>
            <a:endParaRPr lang="de-DE" sz="1400" dirty="0">
              <a:solidFill>
                <a:schemeClr val="bg2"/>
              </a:solidFill>
            </a:endParaRPr>
          </a:p>
        </p:txBody>
      </p:sp>
      <p:sp>
        <p:nvSpPr>
          <p:cNvPr id="6" name="Textfeld 2"/>
          <p:cNvSpPr txBox="1"/>
          <p:nvPr/>
        </p:nvSpPr>
        <p:spPr>
          <a:xfrm>
            <a:off x="7432617" y="8135330"/>
            <a:ext cx="4974439" cy="830997"/>
          </a:xfrm>
          <a:prstGeom prst="rect">
            <a:avLst/>
          </a:prstGeom>
          <a:noFill/>
        </p:spPr>
        <p:txBody>
          <a:bodyPr wrap="none" rtlCol="0">
            <a:spAutoFit/>
          </a:bodyPr>
          <a:lstStyle>
            <a:defPPr>
              <a:defRPr lang="de-DE"/>
            </a:defPPr>
            <a:lvl1pPr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1pPr>
            <a:lvl2pPr marL="3429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2pPr>
            <a:lvl3pPr marL="6858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3pPr>
            <a:lvl4pPr marL="10287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4pPr>
            <a:lvl5pPr marL="13716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5pPr>
            <a:lvl6pPr marL="22860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6pPr>
            <a:lvl7pPr marL="27432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7pPr>
            <a:lvl8pPr marL="32004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8pPr>
            <a:lvl9pPr marL="36576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9pPr>
          </a:lstStyle>
          <a:p>
            <a:pPr algn="l"/>
            <a:r>
              <a:rPr lang="de-DE" sz="1200" dirty="0" smtClean="0"/>
              <a:t>Erläuterung: </a:t>
            </a:r>
          </a:p>
          <a:p>
            <a:pPr marL="171450" indent="-171450" algn="l">
              <a:buFont typeface="Arial" pitchFamily="34" charset="0"/>
              <a:buChar char="•"/>
            </a:pPr>
            <a:r>
              <a:rPr lang="de-DE" sz="1200" dirty="0" smtClean="0"/>
              <a:t>Größe der Kugel entspricht der Projekt-Rendite, wenn sie positiv ist </a:t>
            </a:r>
          </a:p>
          <a:p>
            <a:pPr marL="171450" indent="-171450" algn="l">
              <a:buFont typeface="Arial" pitchFamily="34" charset="0"/>
              <a:buChar char="•"/>
            </a:pPr>
            <a:r>
              <a:rPr lang="de-DE" sz="1200" dirty="0" smtClean="0"/>
              <a:t>Farbe der Kugel gibt den Projekt-Typ wieder</a:t>
            </a:r>
          </a:p>
          <a:p>
            <a:pPr marL="171450" indent="-171450" algn="l">
              <a:buFont typeface="Arial" pitchFamily="34" charset="0"/>
              <a:buChar char="•"/>
            </a:pPr>
            <a:r>
              <a:rPr lang="de-DE" sz="1200" dirty="0" smtClean="0"/>
              <a:t>Rote Kugel: Projekt hat negative Rendite</a:t>
            </a:r>
            <a:endParaRPr lang="de-DE" sz="1200" dirty="0"/>
          </a:p>
        </p:txBody>
      </p:sp>
      <p:sp>
        <p:nvSpPr>
          <p:cNvPr id="7" name="Rechteck 6"/>
          <p:cNvSpPr/>
          <p:nvPr/>
        </p:nvSpPr>
        <p:spPr bwMode="auto">
          <a:xfrm>
            <a:off x="6618796" y="1780456"/>
            <a:ext cx="5940660" cy="3177437"/>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2400" dirty="0">
                <a:solidFill>
                  <a:schemeClr val="bg2"/>
                </a:solidFill>
              </a:rPr>
              <a:t>Ergebnis</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p:txBody>
      </p:sp>
    </p:spTree>
    <p:extLst>
      <p:ext uri="{BB962C8B-B14F-4D97-AF65-F5344CB8AC3E}">
        <p14:creationId xmlns:p14="http://schemas.microsoft.com/office/powerpoint/2010/main" val="23758184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50875" y="390525"/>
            <a:ext cx="11703050" cy="1245915"/>
          </a:xfrm>
        </p:spPr>
        <p:txBody>
          <a:bodyPr/>
          <a:lstStyle/>
          <a:p>
            <a:r>
              <a:rPr lang="de-DE" sz="4400" dirty="0" smtClean="0"/>
              <a:t>Ergebnis-Potenzial</a:t>
            </a:r>
            <a:endParaRPr lang="de-DE" dirty="0"/>
          </a:p>
        </p:txBody>
      </p:sp>
      <p:sp>
        <p:nvSpPr>
          <p:cNvPr id="8" name="Rechteck 7"/>
          <p:cNvSpPr/>
          <p:nvPr/>
        </p:nvSpPr>
        <p:spPr bwMode="auto">
          <a:xfrm>
            <a:off x="5566296" y="1693529"/>
            <a:ext cx="5940660" cy="47575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2400" dirty="0" smtClean="0">
                <a:solidFill>
                  <a:schemeClr val="bg2"/>
                </a:solidFill>
                <a:sym typeface="Noteworthy Bold" charset="0"/>
              </a:rPr>
              <a:t>Ergebnis Verbesserungspotential</a:t>
            </a:r>
            <a:endParaRPr lang="de-DE" sz="2400" dirty="0">
              <a:solidFill>
                <a:schemeClr val="bg2"/>
              </a:solidFill>
              <a:sym typeface="Noteworthy Bold" charset="0"/>
            </a:endParaRPr>
          </a:p>
        </p:txBody>
      </p:sp>
      <p:sp>
        <p:nvSpPr>
          <p:cNvPr id="10" name="Rechteck 9"/>
          <p:cNvSpPr/>
          <p:nvPr/>
        </p:nvSpPr>
        <p:spPr bwMode="auto">
          <a:xfrm>
            <a:off x="50400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Stand:</a:t>
            </a:r>
            <a:endParaRPr lang="de-DE" sz="1400" dirty="0">
              <a:solidFill>
                <a:schemeClr val="bg2"/>
              </a:solidFill>
            </a:endParaRPr>
          </a:p>
        </p:txBody>
      </p:sp>
      <p:sp>
        <p:nvSpPr>
          <p:cNvPr id="15" name="Rechteck 14"/>
          <p:cNvSpPr/>
          <p:nvPr/>
        </p:nvSpPr>
        <p:spPr bwMode="auto">
          <a:xfrm>
            <a:off x="482448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Zeitraum:</a:t>
            </a:r>
            <a:endParaRPr lang="de-DE" sz="1400" dirty="0">
              <a:solidFill>
                <a:schemeClr val="bg2"/>
              </a:solidFill>
            </a:endParaRPr>
          </a:p>
        </p:txBody>
      </p:sp>
      <p:sp>
        <p:nvSpPr>
          <p:cNvPr id="16" name="Rechteck 15"/>
          <p:cNvSpPr/>
          <p:nvPr/>
        </p:nvSpPr>
        <p:spPr bwMode="auto">
          <a:xfrm>
            <a:off x="504000" y="1693530"/>
            <a:ext cx="4547979"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400" b="1" dirty="0">
                <a:solidFill>
                  <a:schemeClr val="bg2"/>
                </a:solidFill>
                <a:latin typeface="Noteworthy Bold" charset="0"/>
                <a:ea typeface="Noteworthy Bold" charset="0"/>
                <a:cs typeface="Noteworthy Bold" charset="0"/>
                <a:sym typeface="Noteworthy Bold" charset="0"/>
              </a:rPr>
              <a:t>Übersicht Auslastung</a:t>
            </a:r>
          </a:p>
        </p:txBody>
      </p:sp>
      <p:sp>
        <p:nvSpPr>
          <p:cNvPr id="17" name="Rechteck 16"/>
          <p:cNvSpPr/>
          <p:nvPr/>
        </p:nvSpPr>
        <p:spPr bwMode="auto">
          <a:xfrm>
            <a:off x="504000" y="4136830"/>
            <a:ext cx="4547980"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400" b="1" dirty="0">
                <a:solidFill>
                  <a:schemeClr val="bg2"/>
                </a:solidFill>
                <a:latin typeface="Noteworthy Bold" charset="0"/>
                <a:ea typeface="Noteworthy Bold" charset="0"/>
                <a:cs typeface="Noteworthy Bold" charset="0"/>
                <a:sym typeface="Noteworthy Bold" charset="0"/>
              </a:rPr>
              <a:t>Details Überauslastung</a:t>
            </a:r>
            <a:endParaRPr lang="de-DE" sz="1400" b="1" dirty="0">
              <a:solidFill>
                <a:schemeClr val="bg2"/>
              </a:solidFill>
            </a:endParaRPr>
          </a:p>
        </p:txBody>
      </p:sp>
      <p:sp>
        <p:nvSpPr>
          <p:cNvPr id="18" name="Rechteck 17"/>
          <p:cNvSpPr/>
          <p:nvPr/>
        </p:nvSpPr>
        <p:spPr bwMode="auto">
          <a:xfrm>
            <a:off x="504000" y="6580129"/>
            <a:ext cx="4547980"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400" b="1" dirty="0">
                <a:solidFill>
                  <a:schemeClr val="bg2"/>
                </a:solidFill>
                <a:latin typeface="Noteworthy Bold" charset="0"/>
                <a:ea typeface="Noteworthy Bold" charset="0"/>
                <a:cs typeface="Noteworthy Bold" charset="0"/>
                <a:sym typeface="Noteworthy Bold" charset="0"/>
              </a:rPr>
              <a:t>Details </a:t>
            </a:r>
            <a:r>
              <a:rPr lang="de-DE" sz="1400" b="1" dirty="0" smtClean="0">
                <a:solidFill>
                  <a:schemeClr val="bg2"/>
                </a:solidFill>
                <a:latin typeface="Noteworthy Bold" charset="0"/>
                <a:ea typeface="Noteworthy Bold" charset="0"/>
                <a:cs typeface="Noteworthy Bold" charset="0"/>
                <a:sym typeface="Noteworthy Bold" charset="0"/>
              </a:rPr>
              <a:t>Unterauslastung</a:t>
            </a:r>
            <a:endParaRPr lang="de-DE" sz="1400" b="1" dirty="0">
              <a:solidFill>
                <a:schemeClr val="bg2"/>
              </a:solidFill>
            </a:endParaRPr>
          </a:p>
        </p:txBody>
      </p:sp>
      <p:sp>
        <p:nvSpPr>
          <p:cNvPr id="3" name="Textfeld 2"/>
          <p:cNvSpPr txBox="1"/>
          <p:nvPr/>
        </p:nvSpPr>
        <p:spPr>
          <a:xfrm>
            <a:off x="5566296" y="6580129"/>
            <a:ext cx="5940660" cy="1938992"/>
          </a:xfrm>
          <a:prstGeom prst="rect">
            <a:avLst/>
          </a:prstGeom>
          <a:noFill/>
        </p:spPr>
        <p:txBody>
          <a:bodyPr wrap="square" rtlCol="0">
            <a:spAutoFit/>
          </a:bodyPr>
          <a:lstStyle/>
          <a:p>
            <a:pPr algn="l"/>
            <a:r>
              <a:rPr lang="de-DE" sz="1200" b="1" dirty="0" smtClean="0"/>
              <a:t>Erläuterung</a:t>
            </a:r>
            <a:r>
              <a:rPr lang="de-DE" sz="1200" dirty="0" smtClean="0"/>
              <a:t>: Rollen können sowohl über- wie unterausgelastet sein. In diesem Fall gibt es Monate, wo die Rolle unterausgelastet ist, und andere Monate wo sie stark überausgelastet ist.. Im worst Case müssen damit in den Monaten der Überauslastung externe Kräfte beauftragt werden, die üblicherweise teuerer als die internen Kräfte sind. in anderen Monaten sind die Kapazitäten ungenutzt (=Opportunitätskosten).</a:t>
            </a:r>
          </a:p>
          <a:p>
            <a:pPr algn="l"/>
            <a:endParaRPr lang="de-DE" sz="1200" dirty="0"/>
          </a:p>
          <a:p>
            <a:pPr algn="l"/>
            <a:r>
              <a:rPr lang="de-DE" sz="1200" dirty="0" smtClean="0"/>
              <a:t>Eine möglichst gleichmäßige Ressourcen Nivellierung vermeidet unnötige Mehrkosten und unnötige Opportunitätskosten, was sich unmittelbar im Ergebnis zeigen wird. </a:t>
            </a:r>
          </a:p>
        </p:txBody>
      </p:sp>
    </p:spTree>
    <p:extLst>
      <p:ext uri="{BB962C8B-B14F-4D97-AF65-F5344CB8AC3E}">
        <p14:creationId xmlns:p14="http://schemas.microsoft.com/office/powerpoint/2010/main" val="960091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50875" y="390525"/>
            <a:ext cx="11703050" cy="1245915"/>
          </a:xfrm>
        </p:spPr>
        <p:txBody>
          <a:bodyPr/>
          <a:lstStyle/>
          <a:p>
            <a:r>
              <a:rPr lang="de-DE" sz="4400" dirty="0" smtClean="0"/>
              <a:t>Ressourcen Auslastung</a:t>
            </a:r>
            <a:endParaRPr lang="de-DE" dirty="0"/>
          </a:p>
        </p:txBody>
      </p:sp>
      <p:sp>
        <p:nvSpPr>
          <p:cNvPr id="10" name="Rechteck 9"/>
          <p:cNvSpPr/>
          <p:nvPr/>
        </p:nvSpPr>
        <p:spPr bwMode="auto">
          <a:xfrm>
            <a:off x="50400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Stand:</a:t>
            </a:r>
            <a:endParaRPr lang="de-DE" sz="1400" dirty="0">
              <a:solidFill>
                <a:schemeClr val="bg2"/>
              </a:solidFill>
            </a:endParaRPr>
          </a:p>
        </p:txBody>
      </p:sp>
      <p:sp>
        <p:nvSpPr>
          <p:cNvPr id="15" name="Rechteck 14"/>
          <p:cNvSpPr/>
          <p:nvPr/>
        </p:nvSpPr>
        <p:spPr bwMode="auto">
          <a:xfrm>
            <a:off x="482448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Zeitraum:</a:t>
            </a:r>
            <a:endParaRPr lang="de-DE" sz="1400" dirty="0">
              <a:solidFill>
                <a:schemeClr val="bg2"/>
              </a:solidFill>
            </a:endParaRPr>
          </a:p>
        </p:txBody>
      </p:sp>
      <p:sp>
        <p:nvSpPr>
          <p:cNvPr id="23" name="Rechteck 22"/>
          <p:cNvSpPr/>
          <p:nvPr/>
        </p:nvSpPr>
        <p:spPr bwMode="auto">
          <a:xfrm>
            <a:off x="7006456" y="1564432"/>
            <a:ext cx="4547979"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200" dirty="0">
                <a:solidFill>
                  <a:schemeClr val="bg2"/>
                </a:solidFill>
                <a:sym typeface="Noteworthy Bold" charset="0"/>
              </a:rPr>
              <a:t>Übersicht</a:t>
            </a:r>
            <a:r>
              <a:rPr lang="de-DE" sz="1400" b="1" dirty="0">
                <a:solidFill>
                  <a:schemeClr val="bg2"/>
                </a:solidFill>
                <a:latin typeface="Noteworthy Bold" charset="0"/>
                <a:ea typeface="Noteworthy Bold" charset="0"/>
                <a:cs typeface="Noteworthy Bold" charset="0"/>
                <a:sym typeface="Noteworthy Bold" charset="0"/>
              </a:rPr>
              <a:t> </a:t>
            </a:r>
            <a:r>
              <a:rPr lang="de-DE" sz="1200" dirty="0">
                <a:solidFill>
                  <a:schemeClr val="bg2"/>
                </a:solidFill>
                <a:sym typeface="Noteworthy Bold" charset="0"/>
              </a:rPr>
              <a:t>Auslastung</a:t>
            </a:r>
          </a:p>
        </p:txBody>
      </p:sp>
      <p:sp>
        <p:nvSpPr>
          <p:cNvPr id="32" name="Rechteck 31"/>
          <p:cNvSpPr/>
          <p:nvPr/>
        </p:nvSpPr>
        <p:spPr bwMode="auto">
          <a:xfrm>
            <a:off x="7006456" y="4007732"/>
            <a:ext cx="4547980"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200" dirty="0">
                <a:solidFill>
                  <a:schemeClr val="bg2"/>
                </a:solidFill>
                <a:sym typeface="Noteworthy Bold" charset="0"/>
              </a:rPr>
              <a:t>Details</a:t>
            </a:r>
            <a:r>
              <a:rPr lang="de-DE" sz="1400" b="1" dirty="0">
                <a:solidFill>
                  <a:schemeClr val="bg2"/>
                </a:solidFill>
                <a:latin typeface="Noteworthy Bold" charset="0"/>
                <a:ea typeface="Noteworthy Bold" charset="0"/>
                <a:cs typeface="Noteworthy Bold" charset="0"/>
                <a:sym typeface="Noteworthy Bold" charset="0"/>
              </a:rPr>
              <a:t> </a:t>
            </a:r>
            <a:r>
              <a:rPr lang="de-DE" sz="1200" dirty="0">
                <a:solidFill>
                  <a:schemeClr val="bg2"/>
                </a:solidFill>
                <a:sym typeface="Noteworthy Bold" charset="0"/>
              </a:rPr>
              <a:t>Überauslastung</a:t>
            </a:r>
            <a:endParaRPr lang="de-DE" sz="1200" dirty="0">
              <a:solidFill>
                <a:schemeClr val="bg2"/>
              </a:solidFill>
            </a:endParaRPr>
          </a:p>
        </p:txBody>
      </p:sp>
      <p:sp>
        <p:nvSpPr>
          <p:cNvPr id="33" name="Rechteck 32"/>
          <p:cNvSpPr/>
          <p:nvPr/>
        </p:nvSpPr>
        <p:spPr bwMode="auto">
          <a:xfrm>
            <a:off x="7006456" y="6451031"/>
            <a:ext cx="4547980"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200" dirty="0">
                <a:solidFill>
                  <a:schemeClr val="bg2"/>
                </a:solidFill>
                <a:sym typeface="Noteworthy Bold" charset="0"/>
              </a:rPr>
              <a:t>Details</a:t>
            </a:r>
            <a:r>
              <a:rPr lang="de-DE" sz="1400" b="1" dirty="0">
                <a:solidFill>
                  <a:schemeClr val="bg2"/>
                </a:solidFill>
                <a:latin typeface="Noteworthy Bold" charset="0"/>
                <a:ea typeface="Noteworthy Bold" charset="0"/>
                <a:cs typeface="Noteworthy Bold" charset="0"/>
                <a:sym typeface="Noteworthy Bold" charset="0"/>
              </a:rPr>
              <a:t> </a:t>
            </a:r>
            <a:r>
              <a:rPr lang="de-DE" sz="1200" dirty="0">
                <a:solidFill>
                  <a:schemeClr val="bg2"/>
                </a:solidFill>
                <a:sym typeface="Noteworthy Bold" charset="0"/>
              </a:rPr>
              <a:t>Unterauslastung</a:t>
            </a:r>
            <a:endParaRPr lang="de-DE" sz="1200" dirty="0">
              <a:solidFill>
                <a:schemeClr val="bg2"/>
              </a:solidFill>
            </a:endParaRPr>
          </a:p>
        </p:txBody>
      </p:sp>
      <p:sp>
        <p:nvSpPr>
          <p:cNvPr id="18" name="Rechteck 17"/>
          <p:cNvSpPr/>
          <p:nvPr/>
        </p:nvSpPr>
        <p:spPr bwMode="auto">
          <a:xfrm>
            <a:off x="1732025" y="1564433"/>
            <a:ext cx="4546800" cy="23148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200" dirty="0">
                <a:solidFill>
                  <a:schemeClr val="bg2"/>
                </a:solidFill>
                <a:sym typeface="Noteworthy Bold" charset="0"/>
              </a:rPr>
              <a:t>Rolle (Entwickler Mechanik)</a:t>
            </a:r>
            <a:endParaRPr lang="de-DE" sz="1200" dirty="0">
              <a:solidFill>
                <a:schemeClr val="bg2"/>
              </a:solidFill>
            </a:endParaRPr>
          </a:p>
        </p:txBody>
      </p:sp>
      <p:sp>
        <p:nvSpPr>
          <p:cNvPr id="20" name="Rechteck 19"/>
          <p:cNvSpPr/>
          <p:nvPr/>
        </p:nvSpPr>
        <p:spPr bwMode="auto">
          <a:xfrm>
            <a:off x="1739576" y="4007133"/>
            <a:ext cx="4546800" cy="23148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200" dirty="0">
                <a:solidFill>
                  <a:schemeClr val="bg2"/>
                </a:solidFill>
                <a:sym typeface="Noteworthy Bold" charset="0"/>
              </a:rPr>
              <a:t>Rolle (Entwickler Electronic Hardware)</a:t>
            </a:r>
            <a:endParaRPr lang="de-DE" sz="1200" dirty="0">
              <a:solidFill>
                <a:schemeClr val="bg2"/>
              </a:solidFill>
            </a:endParaRPr>
          </a:p>
        </p:txBody>
      </p:sp>
      <p:sp>
        <p:nvSpPr>
          <p:cNvPr id="21" name="Rechteck 20"/>
          <p:cNvSpPr/>
          <p:nvPr/>
        </p:nvSpPr>
        <p:spPr bwMode="auto">
          <a:xfrm>
            <a:off x="1732025" y="6450432"/>
            <a:ext cx="4546800" cy="23148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200" dirty="0">
                <a:solidFill>
                  <a:schemeClr val="bg2"/>
                </a:solidFill>
                <a:sym typeface="Noteworthy Bold" charset="0"/>
              </a:rPr>
              <a:t>Rolle (Entwickler Electronic Software)</a:t>
            </a:r>
            <a:endParaRPr lang="de-DE" sz="1200" dirty="0">
              <a:solidFill>
                <a:schemeClr val="bg2"/>
              </a:solidFill>
            </a:endParaRPr>
          </a:p>
        </p:txBody>
      </p:sp>
    </p:spTree>
    <p:extLst>
      <p:ext uri="{BB962C8B-B14F-4D97-AF65-F5344CB8AC3E}">
        <p14:creationId xmlns:p14="http://schemas.microsoft.com/office/powerpoint/2010/main" val="2336604471"/>
      </p:ext>
    </p:extLst>
  </p:cSld>
  <p:clrMapOvr>
    <a:masterClrMapping/>
  </p:clrMapOvr>
  <p:timing>
    <p:tnLst>
      <p:par>
        <p:cTn id="1" dur="indefinite" restart="never" nodeType="tmRoot"/>
      </p:par>
    </p:tnLst>
  </p:timing>
</p:sld>
</file>

<file path=ppt/theme/theme1.xml><?xml version="1.0" encoding="utf-8"?>
<a:theme xmlns:a="http://schemas.openxmlformats.org/drawingml/2006/main" name="Larissa">
  <a:themeElements>
    <a:clrScheme name="">
      <a:dk1>
        <a:srgbClr val="A5A5A5"/>
      </a:dk1>
      <a:lt1>
        <a:srgbClr val="414141"/>
      </a:lt1>
      <a:dk2>
        <a:srgbClr val="240041"/>
      </a:dk2>
      <a:lt2>
        <a:srgbClr val="484D4B"/>
      </a:lt2>
      <a:accent1>
        <a:srgbClr val="669AA4"/>
      </a:accent1>
      <a:accent2>
        <a:srgbClr val="930706"/>
      </a:accent2>
      <a:accent3>
        <a:srgbClr val="ACAAB0"/>
      </a:accent3>
      <a:accent4>
        <a:srgbClr val="363636"/>
      </a:accent4>
      <a:accent5>
        <a:srgbClr val="B8CACF"/>
      </a:accent5>
      <a:accent6>
        <a:srgbClr val="850605"/>
      </a:accent6>
      <a:hlink>
        <a:srgbClr val="0000FF"/>
      </a:hlink>
      <a:folHlink>
        <a:srgbClr val="FF00FF"/>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D7472"/>
        </a:solidFill>
        <a:ln>
          <a:noFill/>
        </a:ln>
        <a:effectLst/>
        <a:extLst>
          <a:ext uri="{91240B29-F687-4F45-9708-019B960494DF}">
            <a14:hiddenLine xmlns:a14="http://schemas.microsoft.com/office/drawing/2010/main" w="12700" cap="flat" cmpd="sng" algn="ctr">
              <a:solidFill>
                <a:schemeClr val="tx1"/>
              </a:solidFill>
              <a:prstDash val="solid"/>
              <a:miter lim="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50800" tIns="50800" rIns="50800" bIns="50800" numCol="1" anchor="ctr" anchorCtr="0" compatLnSpc="1">
        <a:prstTxWarp prst="textNoShape">
          <a:avLst/>
        </a:prstTxWarp>
      </a:bodyPr>
      <a:lstStyle>
        <a:defPPr marL="342900" marR="0" indent="0" algn="ctr" defTabSz="584200" rtl="0" eaLnBrk="1" fontAlgn="base" latinLnBrk="0" hangingPunct="0">
          <a:lnSpc>
            <a:spcPct val="100000"/>
          </a:lnSpc>
          <a:spcBef>
            <a:spcPct val="0"/>
          </a:spcBef>
          <a:spcAft>
            <a:spcPct val="0"/>
          </a:spcAft>
          <a:buClrTx/>
          <a:buSzTx/>
          <a:buFontTx/>
          <a:buNone/>
          <a:tabLst/>
          <a:defRPr kumimoji="0" lang="de-DE" sz="3600" b="0" i="0" u="none" strike="noStrike" cap="none" normalizeH="0" baseline="0" smtClean="0">
            <a:ln>
              <a:noFill/>
            </a:ln>
            <a:solidFill>
              <a:srgbClr val="414141"/>
            </a:solidFill>
            <a:effectLst/>
            <a:latin typeface="Gill Sans Light" charset="0"/>
            <a:ea typeface="Gill Sans Light" charset="0"/>
            <a:cs typeface="Gill Sans Light" charset="0"/>
            <a:sym typeface="Gill Sans Light" charset="0"/>
          </a:defRPr>
        </a:defPPr>
      </a:lstStyle>
    </a:spDef>
    <a:lnDef>
      <a:spPr bwMode="auto">
        <a:xfrm>
          <a:off x="0" y="0"/>
          <a:ext cx="1" cy="1"/>
        </a:xfrm>
        <a:custGeom>
          <a:avLst/>
          <a:gdLst/>
          <a:ahLst/>
          <a:cxnLst/>
          <a:rect l="0" t="0" r="0" b="0"/>
          <a:pathLst/>
        </a:custGeom>
        <a:solidFill>
          <a:srgbClr val="6D7472"/>
        </a:solidFill>
        <a:ln>
          <a:noFill/>
        </a:ln>
        <a:effectLst/>
        <a:extLst>
          <a:ext uri="{91240B29-F687-4F45-9708-019B960494DF}">
            <a14:hiddenLine xmlns:a14="http://schemas.microsoft.com/office/drawing/2010/main" w="12700" cap="flat" cmpd="sng" algn="ctr">
              <a:solidFill>
                <a:schemeClr val="tx1"/>
              </a:solidFill>
              <a:prstDash val="solid"/>
              <a:miter lim="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50800" tIns="50800" rIns="50800" bIns="50800" numCol="1" anchor="ctr" anchorCtr="0" compatLnSpc="1">
        <a:prstTxWarp prst="textNoShape">
          <a:avLst/>
        </a:prstTxWarp>
      </a:bodyPr>
      <a:lstStyle>
        <a:defPPr marL="342900" marR="0" indent="0" algn="ctr" defTabSz="584200" rtl="0" eaLnBrk="1" fontAlgn="base" latinLnBrk="0" hangingPunct="0">
          <a:lnSpc>
            <a:spcPct val="100000"/>
          </a:lnSpc>
          <a:spcBef>
            <a:spcPct val="0"/>
          </a:spcBef>
          <a:spcAft>
            <a:spcPct val="0"/>
          </a:spcAft>
          <a:buClrTx/>
          <a:buSzTx/>
          <a:buFontTx/>
          <a:buNone/>
          <a:tabLst/>
          <a:defRPr kumimoji="0" lang="de-DE" sz="3600" b="0" i="0" u="none" strike="noStrike" cap="none" normalizeH="0" baseline="0" smtClean="0">
            <a:ln>
              <a:noFill/>
            </a:ln>
            <a:solidFill>
              <a:srgbClr val="414141"/>
            </a:solidFill>
            <a:effectLst/>
            <a:latin typeface="Gill Sans Light" charset="0"/>
            <a:ea typeface="Gill Sans Light" charset="0"/>
            <a:cs typeface="Gill Sans Light" charset="0"/>
            <a:sym typeface="Gill Sans Light" charset="0"/>
          </a:defRPr>
        </a:defPPr>
      </a:lstStyle>
    </a:lnDef>
  </a:objectDefaults>
  <a:extraClrSchemeLst/>
</a:theme>
</file>

<file path=ppt/theme/theme2.xml><?xml version="1.0" encoding="utf-8"?>
<a:theme xmlns:a="http://schemas.openxmlformats.org/drawingml/2006/main" name="Larissa">
  <a:themeElements>
    <a:clrScheme name="">
      <a:dk1>
        <a:srgbClr val="572E2D"/>
      </a:dk1>
      <a:lt1>
        <a:srgbClr val="2A5657"/>
      </a:lt1>
      <a:dk2>
        <a:srgbClr val="484D4B"/>
      </a:dk2>
      <a:lt2>
        <a:srgbClr val="A5A5A5"/>
      </a:lt2>
      <a:accent1>
        <a:srgbClr val="669AA4"/>
      </a:accent1>
      <a:accent2>
        <a:srgbClr val="930706"/>
      </a:accent2>
      <a:accent3>
        <a:srgbClr val="ACB4B4"/>
      </a:accent3>
      <a:accent4>
        <a:srgbClr val="492625"/>
      </a:accent4>
      <a:accent5>
        <a:srgbClr val="B8CACF"/>
      </a:accent5>
      <a:accent6>
        <a:srgbClr val="850605"/>
      </a:accent6>
      <a:hlink>
        <a:srgbClr val="0000FF"/>
      </a:hlink>
      <a:folHlink>
        <a:srgbClr val="FF00FF"/>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306</Words>
  <Application>Microsoft Office PowerPoint</Application>
  <PresentationFormat>Benutzerdefiniert</PresentationFormat>
  <Paragraphs>104</Paragraphs>
  <Slides>4</Slides>
  <Notes>3</Notes>
  <HiddenSlides>0</HiddenSlides>
  <MMClips>0</MMClips>
  <ScaleCrop>false</ScaleCrop>
  <HeadingPairs>
    <vt:vector size="4" baseType="variant">
      <vt:variant>
        <vt:lpstr>Design</vt:lpstr>
      </vt:variant>
      <vt:variant>
        <vt:i4>1</vt:i4>
      </vt:variant>
      <vt:variant>
        <vt:lpstr>Folientitel</vt:lpstr>
      </vt:variant>
      <vt:variant>
        <vt:i4>4</vt:i4>
      </vt:variant>
    </vt:vector>
  </HeadingPairs>
  <TitlesOfParts>
    <vt:vector size="5" baseType="lpstr">
      <vt:lpstr>Larissa</vt:lpstr>
      <vt:lpstr>PowerPoint-Präsentation</vt:lpstr>
      <vt:lpstr>Einordnung strategischer Fit / technisches Risiko / Rendite</vt:lpstr>
      <vt:lpstr>Ergebnis-Potenzial</vt:lpstr>
      <vt:lpstr>Ressourcen Auslastung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tom</dc:creator>
  <cp:lastModifiedBy>tom</cp:lastModifiedBy>
  <cp:revision>91</cp:revision>
  <dcterms:modified xsi:type="dcterms:W3CDTF">2013-10-11T07:35:12Z</dcterms:modified>
</cp:coreProperties>
</file>