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48" r:id="rId1"/>
  </p:sldMasterIdLst>
  <p:notesMasterIdLst>
    <p:notesMasterId r:id="rId10"/>
  </p:notesMasterIdLst>
  <p:sldIdLst>
    <p:sldId id="268" r:id="rId2"/>
    <p:sldId id="272" r:id="rId3"/>
    <p:sldId id="273" r:id="rId4"/>
    <p:sldId id="274" r:id="rId5"/>
    <p:sldId id="269" r:id="rId6"/>
    <p:sldId id="270" r:id="rId7"/>
    <p:sldId id="271" r:id="rId8"/>
    <p:sldId id="267" r:id="rId9"/>
  </p:sldIdLst>
  <p:sldSz cx="13004800" cy="9753600"/>
  <p:notesSz cx="6864350" cy="9996488"/>
  <p:defaultTextStyle>
    <a:defPPr>
      <a:defRPr lang="de-DE"/>
    </a:defPPr>
    <a:lvl1pPr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1pPr>
    <a:lvl2pPr marL="3429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2pPr>
    <a:lvl3pPr marL="6858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3pPr>
    <a:lvl4pPr marL="10287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4pPr>
    <a:lvl5pPr marL="13716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5pPr>
    <a:lvl6pPr marL="22860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6pPr>
    <a:lvl7pPr marL="27432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7pPr>
    <a:lvl8pPr marL="32004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8pPr>
    <a:lvl9pPr marL="36576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792" autoAdjust="0"/>
  </p:normalViewPr>
  <p:slideViewPr>
    <p:cSldViewPr>
      <p:cViewPr>
        <p:scale>
          <a:sx n="66" d="100"/>
          <a:sy n="66" d="100"/>
        </p:scale>
        <p:origin x="-2022" y="-72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933450" y="749300"/>
            <a:ext cx="4997450" cy="374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4" name="Rectangle 2"/>
          <p:cNvSpPr>
            <a:spLocks noGrp="1"/>
          </p:cNvSpPr>
          <p:nvPr>
            <p:ph type="body" sz="quarter" idx="3"/>
          </p:nvPr>
        </p:nvSpPr>
        <p:spPr bwMode="auto">
          <a:xfrm>
            <a:off x="915247" y="4748332"/>
            <a:ext cx="5033857" cy="4498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6341" tIns="48171" rIns="96341" bIns="481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>
                <a:sym typeface="Noteworthy Bold" charset="0"/>
              </a:rPr>
              <a:t>Click to edit Master text styles</a:t>
            </a:r>
          </a:p>
          <a:p>
            <a:pPr lvl="1"/>
            <a:r>
              <a:rPr lang="de-DE" smtClean="0">
                <a:sym typeface="Noteworthy Bold" charset="0"/>
              </a:rPr>
              <a:t>Second level</a:t>
            </a:r>
          </a:p>
          <a:p>
            <a:pPr lvl="2"/>
            <a:r>
              <a:rPr lang="de-DE" smtClean="0">
                <a:sym typeface="Noteworthy Bold" charset="0"/>
              </a:rPr>
              <a:t>Third level</a:t>
            </a:r>
          </a:p>
          <a:p>
            <a:pPr lvl="3"/>
            <a:r>
              <a:rPr lang="de-DE" smtClean="0">
                <a:sym typeface="Noteworthy Bold" charset="0"/>
              </a:rPr>
              <a:t>Fourth level</a:t>
            </a:r>
          </a:p>
          <a:p>
            <a:pPr lvl="4"/>
            <a:r>
              <a:rPr lang="de-DE" smtClean="0">
                <a:sym typeface="Noteworthy Bold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1673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1pPr>
    <a:lvl2pPr marL="3429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2pPr>
    <a:lvl3pPr marL="6858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3pPr>
    <a:lvl4pPr marL="10287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4pPr>
    <a:lvl5pPr marL="13716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500" dirty="0"/>
              <a:t>Projekt-Name</a:t>
            </a:r>
          </a:p>
          <a:p>
            <a:r>
              <a:rPr lang="de-DE" sz="2500" dirty="0"/>
              <a:t>Ergebnis</a:t>
            </a:r>
          </a:p>
          <a:p>
            <a:r>
              <a:rPr lang="de-DE" sz="2500" dirty="0"/>
              <a:t>Strategie/Risiko</a:t>
            </a:r>
          </a:p>
          <a:p>
            <a:r>
              <a:rPr lang="de-DE" sz="2500" dirty="0"/>
              <a:t>Teilprojekte</a:t>
            </a:r>
          </a:p>
          <a:p>
            <a:r>
              <a:rPr lang="de-DE" sz="2500" dirty="0"/>
              <a:t>Personalbedarf</a:t>
            </a:r>
          </a:p>
          <a:p>
            <a:r>
              <a:rPr lang="de-DE" sz="2500" dirty="0"/>
              <a:t>Personalkosten</a:t>
            </a:r>
          </a:p>
          <a:p>
            <a:r>
              <a:rPr lang="de-DE" sz="2500" dirty="0"/>
              <a:t>Sonstige Kosten</a:t>
            </a:r>
          </a:p>
          <a:p>
            <a:r>
              <a:rPr lang="de-DE" sz="2500" dirty="0"/>
              <a:t>Gesamtkosten</a:t>
            </a:r>
          </a:p>
          <a:p>
            <a:r>
              <a:rPr lang="de-DE" sz="2500" dirty="0"/>
              <a:t>Fortschritt Personalkosten</a:t>
            </a:r>
          </a:p>
          <a:p>
            <a:r>
              <a:rPr lang="de-DE" sz="2500" dirty="0"/>
              <a:t>Fortschritt Sonstige Kosten</a:t>
            </a:r>
          </a:p>
          <a:p>
            <a:r>
              <a:rPr lang="de-DE" sz="2500" dirty="0"/>
              <a:t>Fortschritt Gesamtkosten</a:t>
            </a:r>
          </a:p>
          <a:p>
            <a:r>
              <a:rPr lang="de-DE" sz="2500" dirty="0"/>
              <a:t>Fortschritt Rolle(…)</a:t>
            </a:r>
          </a:p>
          <a:p>
            <a:r>
              <a:rPr lang="de-DE" sz="2500" dirty="0"/>
              <a:t>Fortschritt Kostenart(…)</a:t>
            </a:r>
          </a:p>
          <a:p>
            <a:endParaRPr lang="de-DE" sz="2500" dirty="0"/>
          </a:p>
          <a:p>
            <a:r>
              <a:rPr lang="de-DE" sz="2500" dirty="0"/>
              <a:t>Soll-Ist1 Personalkosten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Personalkosten</a:t>
            </a:r>
          </a:p>
          <a:p>
            <a:endParaRPr lang="de-DE" sz="2500" dirty="0"/>
          </a:p>
          <a:p>
            <a:r>
              <a:rPr lang="de-DE" sz="2500" dirty="0"/>
              <a:t>Soll-Ist1 Sonstige 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Sonstige Kosten</a:t>
            </a:r>
          </a:p>
          <a:p>
            <a:endParaRPr lang="de-DE" sz="2500" dirty="0"/>
          </a:p>
          <a:p>
            <a:r>
              <a:rPr lang="de-DE" sz="2500" dirty="0"/>
              <a:t>Soll-Ist1 Gesamtkosten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Gesamtkosten</a:t>
            </a:r>
          </a:p>
          <a:p>
            <a:endParaRPr lang="de-DE" sz="2500" dirty="0"/>
          </a:p>
          <a:p>
            <a:r>
              <a:rPr lang="de-DE" sz="2500" dirty="0"/>
              <a:t>Soll-Ist1 Rolle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Rolle (…)</a:t>
            </a:r>
          </a:p>
          <a:p>
            <a:endParaRPr lang="de-DE" sz="2500" dirty="0"/>
          </a:p>
          <a:p>
            <a:r>
              <a:rPr lang="de-DE" sz="2500" dirty="0"/>
              <a:t>Soll-Ist1 Kostenart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Kostenart (…)</a:t>
            </a:r>
          </a:p>
          <a:p>
            <a:endParaRPr lang="de-DE" sz="2500" dirty="0"/>
          </a:p>
          <a:p>
            <a:r>
              <a:rPr lang="de-DE" sz="2500" dirty="0"/>
              <a:t>Ampel-Farbe</a:t>
            </a:r>
          </a:p>
          <a:p>
            <a:r>
              <a:rPr lang="de-DE" sz="2500" dirty="0"/>
              <a:t>Beschreibung</a:t>
            </a:r>
          </a:p>
          <a:p>
            <a:r>
              <a:rPr lang="de-DE" sz="2500" dirty="0"/>
              <a:t>Stand:</a:t>
            </a:r>
          </a:p>
          <a:p>
            <a:r>
              <a:rPr lang="de-DE" sz="2500" dirty="0"/>
              <a:t>Laufzeit:</a:t>
            </a:r>
          </a:p>
          <a:p>
            <a:r>
              <a:rPr lang="de-DE" sz="2500" dirty="0"/>
              <a:t>Verantwortlich: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500" dirty="0"/>
              <a:t>Projekt-Name</a:t>
            </a:r>
          </a:p>
          <a:p>
            <a:r>
              <a:rPr lang="de-DE" sz="2500" dirty="0"/>
              <a:t>Ergebnis</a:t>
            </a:r>
          </a:p>
          <a:p>
            <a:r>
              <a:rPr lang="de-DE" sz="2500" dirty="0"/>
              <a:t>Strategie/Risiko</a:t>
            </a:r>
          </a:p>
          <a:p>
            <a:r>
              <a:rPr lang="de-DE" sz="2500" dirty="0"/>
              <a:t>Teilprojekte</a:t>
            </a:r>
          </a:p>
          <a:p>
            <a:r>
              <a:rPr lang="de-DE" sz="2500" dirty="0"/>
              <a:t>Personalbedarf</a:t>
            </a:r>
          </a:p>
          <a:p>
            <a:r>
              <a:rPr lang="de-DE" sz="2500" dirty="0"/>
              <a:t>Personalkosten</a:t>
            </a:r>
          </a:p>
          <a:p>
            <a:r>
              <a:rPr lang="de-DE" sz="2500" dirty="0"/>
              <a:t>Sonstige Kosten</a:t>
            </a:r>
          </a:p>
          <a:p>
            <a:r>
              <a:rPr lang="de-DE" sz="2500" dirty="0"/>
              <a:t>Gesamtkosten</a:t>
            </a:r>
          </a:p>
          <a:p>
            <a:r>
              <a:rPr lang="de-DE" sz="2500" dirty="0"/>
              <a:t>Fortschritt Personalkosten</a:t>
            </a:r>
          </a:p>
          <a:p>
            <a:r>
              <a:rPr lang="de-DE" sz="2500" dirty="0"/>
              <a:t>Fortschritt Sonstige Kosten</a:t>
            </a:r>
          </a:p>
          <a:p>
            <a:r>
              <a:rPr lang="de-DE" sz="2500" dirty="0"/>
              <a:t>Fortschritt Gesamtkosten</a:t>
            </a:r>
          </a:p>
          <a:p>
            <a:r>
              <a:rPr lang="de-DE" sz="2500" dirty="0"/>
              <a:t>Fortschritt Rolle(…)</a:t>
            </a:r>
          </a:p>
          <a:p>
            <a:r>
              <a:rPr lang="de-DE" sz="2500" dirty="0"/>
              <a:t>Fortschritt Kostenart(…)</a:t>
            </a:r>
          </a:p>
          <a:p>
            <a:endParaRPr lang="de-DE" sz="2500" dirty="0"/>
          </a:p>
          <a:p>
            <a:r>
              <a:rPr lang="de-DE" sz="2500" dirty="0"/>
              <a:t>Soll-Ist1 Personalkosten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Personalkosten</a:t>
            </a:r>
          </a:p>
          <a:p>
            <a:endParaRPr lang="de-DE" sz="2500" dirty="0"/>
          </a:p>
          <a:p>
            <a:r>
              <a:rPr lang="de-DE" sz="2500" dirty="0"/>
              <a:t>Soll-Ist1 Sonstige 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Sonstige Kosten</a:t>
            </a:r>
          </a:p>
          <a:p>
            <a:endParaRPr lang="de-DE" sz="2500" dirty="0"/>
          </a:p>
          <a:p>
            <a:r>
              <a:rPr lang="de-DE" sz="2500" dirty="0"/>
              <a:t>Soll-Ist1 Gesamtkosten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Gesamtkosten</a:t>
            </a:r>
          </a:p>
          <a:p>
            <a:endParaRPr lang="de-DE" sz="2500" dirty="0"/>
          </a:p>
          <a:p>
            <a:r>
              <a:rPr lang="de-DE" sz="2500" dirty="0"/>
              <a:t>Soll-Ist1 Rolle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Rolle (…)</a:t>
            </a:r>
          </a:p>
          <a:p>
            <a:endParaRPr lang="de-DE" sz="2500" dirty="0"/>
          </a:p>
          <a:p>
            <a:r>
              <a:rPr lang="de-DE" sz="2500" dirty="0"/>
              <a:t>Soll-Ist1 Kostenart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Kostenart (…)</a:t>
            </a:r>
          </a:p>
          <a:p>
            <a:endParaRPr lang="de-DE" sz="2500" dirty="0"/>
          </a:p>
          <a:p>
            <a:r>
              <a:rPr lang="de-DE" sz="2500" dirty="0"/>
              <a:t>Ampel-Farbe</a:t>
            </a:r>
          </a:p>
          <a:p>
            <a:r>
              <a:rPr lang="de-DE" sz="2500" dirty="0"/>
              <a:t>Beschreibung</a:t>
            </a:r>
          </a:p>
          <a:p>
            <a:r>
              <a:rPr lang="de-DE" sz="2500" dirty="0"/>
              <a:t>Stand:</a:t>
            </a:r>
          </a:p>
          <a:p>
            <a:r>
              <a:rPr lang="de-DE" sz="2500" dirty="0"/>
              <a:t>Laufzeit:</a:t>
            </a:r>
          </a:p>
          <a:p>
            <a:r>
              <a:rPr lang="de-DE" sz="2500" dirty="0"/>
              <a:t>Verantwortlich: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500" dirty="0"/>
              <a:t>Projekt-Name</a:t>
            </a:r>
          </a:p>
          <a:p>
            <a:r>
              <a:rPr lang="de-DE" sz="2500" dirty="0"/>
              <a:t>Ergebnis</a:t>
            </a:r>
          </a:p>
          <a:p>
            <a:r>
              <a:rPr lang="de-DE" sz="2500" dirty="0"/>
              <a:t>Strategie/Risiko</a:t>
            </a:r>
          </a:p>
          <a:p>
            <a:r>
              <a:rPr lang="de-DE" sz="2500" dirty="0"/>
              <a:t>Teilprojekte</a:t>
            </a:r>
          </a:p>
          <a:p>
            <a:r>
              <a:rPr lang="de-DE" sz="2500" dirty="0"/>
              <a:t>Personalbedarf</a:t>
            </a:r>
          </a:p>
          <a:p>
            <a:r>
              <a:rPr lang="de-DE" sz="2500" dirty="0"/>
              <a:t>Personalkosten</a:t>
            </a:r>
          </a:p>
          <a:p>
            <a:r>
              <a:rPr lang="de-DE" sz="2500" dirty="0"/>
              <a:t>Sonstige Kosten</a:t>
            </a:r>
          </a:p>
          <a:p>
            <a:r>
              <a:rPr lang="de-DE" sz="2500" dirty="0"/>
              <a:t>Gesamtkosten</a:t>
            </a:r>
          </a:p>
          <a:p>
            <a:r>
              <a:rPr lang="de-DE" sz="2500" dirty="0"/>
              <a:t>Fortschritt Personalkosten</a:t>
            </a:r>
          </a:p>
          <a:p>
            <a:r>
              <a:rPr lang="de-DE" sz="2500" dirty="0"/>
              <a:t>Fortschritt Sonstige Kosten</a:t>
            </a:r>
          </a:p>
          <a:p>
            <a:r>
              <a:rPr lang="de-DE" sz="2500" dirty="0"/>
              <a:t>Fortschritt Gesamtkosten</a:t>
            </a:r>
          </a:p>
          <a:p>
            <a:r>
              <a:rPr lang="de-DE" sz="2500" dirty="0"/>
              <a:t>Fortschritt Rolle(…)</a:t>
            </a:r>
          </a:p>
          <a:p>
            <a:r>
              <a:rPr lang="de-DE" sz="2500" dirty="0"/>
              <a:t>Fortschritt Kostenart(…)</a:t>
            </a:r>
          </a:p>
          <a:p>
            <a:endParaRPr lang="de-DE" sz="2500" dirty="0"/>
          </a:p>
          <a:p>
            <a:r>
              <a:rPr lang="de-DE" sz="2500" dirty="0"/>
              <a:t>Soll-Ist1 Personalkosten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Personalkosten</a:t>
            </a:r>
          </a:p>
          <a:p>
            <a:endParaRPr lang="de-DE" sz="2500" dirty="0"/>
          </a:p>
          <a:p>
            <a:r>
              <a:rPr lang="de-DE" sz="2500" dirty="0"/>
              <a:t>Soll-Ist1 Sonstige 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Sonstige Kosten</a:t>
            </a:r>
          </a:p>
          <a:p>
            <a:endParaRPr lang="de-DE" sz="2500" dirty="0"/>
          </a:p>
          <a:p>
            <a:r>
              <a:rPr lang="de-DE" sz="2500" dirty="0"/>
              <a:t>Soll-Ist1 Gesamtkosten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Gesamtkosten</a:t>
            </a:r>
          </a:p>
          <a:p>
            <a:endParaRPr lang="de-DE" sz="2500" dirty="0"/>
          </a:p>
          <a:p>
            <a:r>
              <a:rPr lang="de-DE" sz="2500" dirty="0"/>
              <a:t>Soll-Ist1 Rolle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Rolle (…)</a:t>
            </a:r>
          </a:p>
          <a:p>
            <a:endParaRPr lang="de-DE" sz="2500" dirty="0"/>
          </a:p>
          <a:p>
            <a:r>
              <a:rPr lang="de-DE" sz="2500" dirty="0"/>
              <a:t>Soll-Ist1 Kostenart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Kostenart (…)</a:t>
            </a:r>
          </a:p>
          <a:p>
            <a:endParaRPr lang="de-DE" sz="2500" dirty="0"/>
          </a:p>
          <a:p>
            <a:r>
              <a:rPr lang="de-DE" sz="2500" dirty="0"/>
              <a:t>Ampel-Farbe</a:t>
            </a:r>
          </a:p>
          <a:p>
            <a:r>
              <a:rPr lang="de-DE" sz="2500" dirty="0"/>
              <a:t>Beschreibung</a:t>
            </a:r>
          </a:p>
          <a:p>
            <a:r>
              <a:rPr lang="de-DE" sz="2500" dirty="0"/>
              <a:t>Stand:</a:t>
            </a:r>
          </a:p>
          <a:p>
            <a:r>
              <a:rPr lang="de-DE" sz="2500" dirty="0"/>
              <a:t>Laufzeit:</a:t>
            </a:r>
          </a:p>
          <a:p>
            <a:r>
              <a:rPr lang="de-DE" sz="2500" dirty="0"/>
              <a:t>Verantwortlich: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500" dirty="0"/>
              <a:t>Projekt-Name</a:t>
            </a:r>
          </a:p>
          <a:p>
            <a:r>
              <a:rPr lang="de-DE" sz="2500" dirty="0"/>
              <a:t>Ergebnis</a:t>
            </a:r>
          </a:p>
          <a:p>
            <a:r>
              <a:rPr lang="de-DE" sz="2500" dirty="0"/>
              <a:t>Strategie/Risiko</a:t>
            </a:r>
          </a:p>
          <a:p>
            <a:r>
              <a:rPr lang="de-DE" sz="2500" dirty="0"/>
              <a:t>Teilprojekte</a:t>
            </a:r>
          </a:p>
          <a:p>
            <a:r>
              <a:rPr lang="de-DE" sz="2500" dirty="0"/>
              <a:t>Personalbedarf</a:t>
            </a:r>
          </a:p>
          <a:p>
            <a:r>
              <a:rPr lang="de-DE" sz="2500" dirty="0"/>
              <a:t>Personalkosten</a:t>
            </a:r>
          </a:p>
          <a:p>
            <a:r>
              <a:rPr lang="de-DE" sz="2500" dirty="0"/>
              <a:t>Sonstige Kosten</a:t>
            </a:r>
          </a:p>
          <a:p>
            <a:r>
              <a:rPr lang="de-DE" sz="2500" dirty="0"/>
              <a:t>Gesamtkosten</a:t>
            </a:r>
          </a:p>
          <a:p>
            <a:r>
              <a:rPr lang="de-DE" sz="2500" dirty="0"/>
              <a:t>Fortschritt Personalkosten</a:t>
            </a:r>
          </a:p>
          <a:p>
            <a:r>
              <a:rPr lang="de-DE" sz="2500" dirty="0"/>
              <a:t>Fortschritt Sonstige Kosten</a:t>
            </a:r>
          </a:p>
          <a:p>
            <a:r>
              <a:rPr lang="de-DE" sz="2500" dirty="0"/>
              <a:t>Fortschritt Gesamtkosten</a:t>
            </a:r>
          </a:p>
          <a:p>
            <a:r>
              <a:rPr lang="de-DE" sz="2500" dirty="0"/>
              <a:t>Fortschritt Rolle(…)</a:t>
            </a:r>
          </a:p>
          <a:p>
            <a:r>
              <a:rPr lang="de-DE" sz="2500" dirty="0"/>
              <a:t>Fortschritt Kostenart(…)</a:t>
            </a:r>
          </a:p>
          <a:p>
            <a:endParaRPr lang="de-DE" sz="2500" dirty="0"/>
          </a:p>
          <a:p>
            <a:r>
              <a:rPr lang="de-DE" sz="2500" dirty="0"/>
              <a:t>Soll-Ist1 Personalkosten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Personalkosten</a:t>
            </a:r>
          </a:p>
          <a:p>
            <a:endParaRPr lang="de-DE" sz="2500" dirty="0"/>
          </a:p>
          <a:p>
            <a:r>
              <a:rPr lang="de-DE" sz="2500" dirty="0"/>
              <a:t>Soll-Ist1 Sonstige 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Sonstige Kosten</a:t>
            </a:r>
          </a:p>
          <a:p>
            <a:endParaRPr lang="de-DE" sz="2500" dirty="0"/>
          </a:p>
          <a:p>
            <a:r>
              <a:rPr lang="de-DE" sz="2500" dirty="0"/>
              <a:t>Soll-Ist1 Gesamtkosten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Gesamtkosten</a:t>
            </a:r>
          </a:p>
          <a:p>
            <a:endParaRPr lang="de-DE" sz="2500" dirty="0"/>
          </a:p>
          <a:p>
            <a:r>
              <a:rPr lang="de-DE" sz="2500" dirty="0"/>
              <a:t>Soll-Ist1 Rolle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Rolle (…)</a:t>
            </a:r>
          </a:p>
          <a:p>
            <a:endParaRPr lang="de-DE" sz="2500" dirty="0"/>
          </a:p>
          <a:p>
            <a:r>
              <a:rPr lang="de-DE" sz="2500" dirty="0"/>
              <a:t>Soll-Ist1 Kostenart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Kostenart (…)</a:t>
            </a:r>
          </a:p>
          <a:p>
            <a:endParaRPr lang="de-DE" sz="2500" dirty="0"/>
          </a:p>
          <a:p>
            <a:r>
              <a:rPr lang="de-DE" sz="2500" dirty="0"/>
              <a:t>Ampel-Farbe</a:t>
            </a:r>
          </a:p>
          <a:p>
            <a:r>
              <a:rPr lang="de-DE" sz="2500" dirty="0"/>
              <a:t>Beschreibung</a:t>
            </a:r>
          </a:p>
          <a:p>
            <a:r>
              <a:rPr lang="de-DE" sz="2500" dirty="0"/>
              <a:t>Stand:</a:t>
            </a:r>
          </a:p>
          <a:p>
            <a:r>
              <a:rPr lang="de-DE" sz="2500" dirty="0"/>
              <a:t>Laufzeit:</a:t>
            </a:r>
          </a:p>
          <a:p>
            <a:r>
              <a:rPr lang="de-DE" sz="2500" dirty="0"/>
              <a:t>Verantwortlich: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500" dirty="0"/>
              <a:t>Projekt-Name</a:t>
            </a:r>
          </a:p>
          <a:p>
            <a:r>
              <a:rPr lang="de-DE" sz="2500" dirty="0"/>
              <a:t>Ergebnis</a:t>
            </a:r>
          </a:p>
          <a:p>
            <a:r>
              <a:rPr lang="de-DE" sz="2500" dirty="0"/>
              <a:t>Strategie/Risiko</a:t>
            </a:r>
          </a:p>
          <a:p>
            <a:r>
              <a:rPr lang="de-DE" sz="2500" dirty="0"/>
              <a:t>Teilprojekte</a:t>
            </a:r>
          </a:p>
          <a:p>
            <a:r>
              <a:rPr lang="de-DE" sz="2500" dirty="0"/>
              <a:t>Personalbedarf</a:t>
            </a:r>
          </a:p>
          <a:p>
            <a:r>
              <a:rPr lang="de-DE" sz="2500" dirty="0"/>
              <a:t>Personalkosten</a:t>
            </a:r>
          </a:p>
          <a:p>
            <a:r>
              <a:rPr lang="de-DE" sz="2500" dirty="0"/>
              <a:t>Sonstige Kosten</a:t>
            </a:r>
          </a:p>
          <a:p>
            <a:r>
              <a:rPr lang="de-DE" sz="2500" dirty="0"/>
              <a:t>Gesamtkosten</a:t>
            </a:r>
          </a:p>
          <a:p>
            <a:r>
              <a:rPr lang="de-DE" sz="2500" dirty="0"/>
              <a:t>Fortschritt Personalkosten</a:t>
            </a:r>
          </a:p>
          <a:p>
            <a:r>
              <a:rPr lang="de-DE" sz="2500" dirty="0"/>
              <a:t>Fortschritt Sonstige Kosten</a:t>
            </a:r>
          </a:p>
          <a:p>
            <a:r>
              <a:rPr lang="de-DE" sz="2500" dirty="0"/>
              <a:t>Fortschritt Gesamtkosten</a:t>
            </a:r>
          </a:p>
          <a:p>
            <a:r>
              <a:rPr lang="de-DE" sz="2500" dirty="0"/>
              <a:t>Fortschritt Rolle(…)</a:t>
            </a:r>
          </a:p>
          <a:p>
            <a:r>
              <a:rPr lang="de-DE" sz="2500" dirty="0"/>
              <a:t>Fortschritt Kostenart(…)</a:t>
            </a:r>
          </a:p>
          <a:p>
            <a:endParaRPr lang="de-DE" sz="2500" dirty="0"/>
          </a:p>
          <a:p>
            <a:r>
              <a:rPr lang="de-DE" sz="2500" dirty="0"/>
              <a:t>Soll-Ist1 Personalkosten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Personalkosten</a:t>
            </a:r>
          </a:p>
          <a:p>
            <a:endParaRPr lang="de-DE" sz="2500" dirty="0"/>
          </a:p>
          <a:p>
            <a:r>
              <a:rPr lang="de-DE" sz="2500" dirty="0"/>
              <a:t>Soll-Ist1 Sonstige 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Sonstige Kosten</a:t>
            </a:r>
          </a:p>
          <a:p>
            <a:endParaRPr lang="de-DE" sz="2500" dirty="0"/>
          </a:p>
          <a:p>
            <a:r>
              <a:rPr lang="de-DE" sz="2500" dirty="0"/>
              <a:t>Soll-Ist1 Gesamtkosten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Gesamtkosten</a:t>
            </a:r>
          </a:p>
          <a:p>
            <a:endParaRPr lang="de-DE" sz="2500" dirty="0"/>
          </a:p>
          <a:p>
            <a:r>
              <a:rPr lang="de-DE" sz="2500" dirty="0"/>
              <a:t>Soll-Ist1 Rolle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Rolle (…)</a:t>
            </a:r>
          </a:p>
          <a:p>
            <a:endParaRPr lang="de-DE" sz="2500" dirty="0"/>
          </a:p>
          <a:p>
            <a:r>
              <a:rPr lang="de-DE" sz="2500" dirty="0"/>
              <a:t>Soll-Ist1 Kostenart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Kostenart (…)</a:t>
            </a:r>
          </a:p>
          <a:p>
            <a:endParaRPr lang="de-DE" sz="2500" dirty="0"/>
          </a:p>
          <a:p>
            <a:r>
              <a:rPr lang="de-DE" sz="2500" dirty="0"/>
              <a:t>Ampel-Farbe</a:t>
            </a:r>
          </a:p>
          <a:p>
            <a:r>
              <a:rPr lang="de-DE" sz="2500" dirty="0"/>
              <a:t>Beschreibung</a:t>
            </a:r>
          </a:p>
          <a:p>
            <a:r>
              <a:rPr lang="de-DE" sz="2500" dirty="0"/>
              <a:t>Stand:</a:t>
            </a:r>
          </a:p>
          <a:p>
            <a:r>
              <a:rPr lang="de-DE" sz="2500" dirty="0"/>
              <a:t>Laufzeit:</a:t>
            </a:r>
          </a:p>
          <a:p>
            <a:r>
              <a:rPr lang="de-DE" sz="2500" dirty="0"/>
              <a:t>Verantwortlich: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500" dirty="0"/>
              <a:t>Projekt-Name</a:t>
            </a:r>
          </a:p>
          <a:p>
            <a:r>
              <a:rPr lang="de-DE" sz="2500" dirty="0"/>
              <a:t>Ergebnis</a:t>
            </a:r>
          </a:p>
          <a:p>
            <a:r>
              <a:rPr lang="de-DE" sz="2500" dirty="0"/>
              <a:t>Strategie/Risiko</a:t>
            </a:r>
          </a:p>
          <a:p>
            <a:r>
              <a:rPr lang="de-DE" sz="2500" dirty="0"/>
              <a:t>Teilprojekte</a:t>
            </a:r>
          </a:p>
          <a:p>
            <a:r>
              <a:rPr lang="de-DE" sz="2500" dirty="0"/>
              <a:t>Personalbedarf</a:t>
            </a:r>
          </a:p>
          <a:p>
            <a:r>
              <a:rPr lang="de-DE" sz="2500" dirty="0"/>
              <a:t>Personalkosten</a:t>
            </a:r>
          </a:p>
          <a:p>
            <a:r>
              <a:rPr lang="de-DE" sz="2500" dirty="0"/>
              <a:t>Sonstige Kosten</a:t>
            </a:r>
          </a:p>
          <a:p>
            <a:r>
              <a:rPr lang="de-DE" sz="2500" dirty="0"/>
              <a:t>Gesamtkosten</a:t>
            </a:r>
          </a:p>
          <a:p>
            <a:r>
              <a:rPr lang="de-DE" sz="2500" dirty="0"/>
              <a:t>Fortschritt Personalkosten</a:t>
            </a:r>
          </a:p>
          <a:p>
            <a:r>
              <a:rPr lang="de-DE" sz="2500" dirty="0"/>
              <a:t>Fortschritt Sonstige Kosten</a:t>
            </a:r>
          </a:p>
          <a:p>
            <a:r>
              <a:rPr lang="de-DE" sz="2500" dirty="0"/>
              <a:t>Fortschritt Gesamtkosten</a:t>
            </a:r>
          </a:p>
          <a:p>
            <a:r>
              <a:rPr lang="de-DE" sz="2500" dirty="0"/>
              <a:t>Fortschritt Rolle(…)</a:t>
            </a:r>
          </a:p>
          <a:p>
            <a:r>
              <a:rPr lang="de-DE" sz="2500" dirty="0"/>
              <a:t>Fortschritt Kostenart(…)</a:t>
            </a:r>
          </a:p>
          <a:p>
            <a:endParaRPr lang="de-DE" sz="2500" dirty="0"/>
          </a:p>
          <a:p>
            <a:r>
              <a:rPr lang="de-DE" sz="2500" dirty="0"/>
              <a:t>Soll-Ist1 Personalkosten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Personalkosten</a:t>
            </a:r>
          </a:p>
          <a:p>
            <a:endParaRPr lang="de-DE" sz="2500" dirty="0"/>
          </a:p>
          <a:p>
            <a:r>
              <a:rPr lang="de-DE" sz="2500" dirty="0"/>
              <a:t>Soll-Ist1 Sonstige 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Sonstige Kosten</a:t>
            </a:r>
          </a:p>
          <a:p>
            <a:endParaRPr lang="de-DE" sz="2500" dirty="0"/>
          </a:p>
          <a:p>
            <a:r>
              <a:rPr lang="de-DE" sz="2500" dirty="0"/>
              <a:t>Soll-Ist1 Gesamtkosten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Gesamtkosten</a:t>
            </a:r>
          </a:p>
          <a:p>
            <a:endParaRPr lang="de-DE" sz="2500" dirty="0"/>
          </a:p>
          <a:p>
            <a:r>
              <a:rPr lang="de-DE" sz="2500" dirty="0"/>
              <a:t>Soll-Ist1 Rolle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Rolle (…)</a:t>
            </a:r>
          </a:p>
          <a:p>
            <a:endParaRPr lang="de-DE" sz="2500" dirty="0"/>
          </a:p>
          <a:p>
            <a:r>
              <a:rPr lang="de-DE" sz="2500" dirty="0"/>
              <a:t>Soll-Ist1 Kostenart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Kostenart (…)</a:t>
            </a:r>
          </a:p>
          <a:p>
            <a:endParaRPr lang="de-DE" sz="2500" dirty="0"/>
          </a:p>
          <a:p>
            <a:r>
              <a:rPr lang="de-DE" sz="2500" dirty="0"/>
              <a:t>Ampel-Farbe</a:t>
            </a:r>
          </a:p>
          <a:p>
            <a:r>
              <a:rPr lang="de-DE" sz="2500" dirty="0"/>
              <a:t>Beschreibung</a:t>
            </a:r>
          </a:p>
          <a:p>
            <a:r>
              <a:rPr lang="de-DE" sz="2500" dirty="0"/>
              <a:t>Stand:</a:t>
            </a:r>
          </a:p>
          <a:p>
            <a:r>
              <a:rPr lang="de-DE" sz="2500" dirty="0"/>
              <a:t>Laufzeit:</a:t>
            </a:r>
          </a:p>
          <a:p>
            <a:r>
              <a:rPr lang="de-DE" sz="2500" dirty="0"/>
              <a:t>Verantwortlich: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500" dirty="0"/>
              <a:t>Projekt-Name</a:t>
            </a:r>
          </a:p>
          <a:p>
            <a:r>
              <a:rPr lang="de-DE" sz="2500" dirty="0"/>
              <a:t>Ergebnis</a:t>
            </a:r>
          </a:p>
          <a:p>
            <a:r>
              <a:rPr lang="de-DE" sz="2500" dirty="0"/>
              <a:t>Strategie/Risiko</a:t>
            </a:r>
          </a:p>
          <a:p>
            <a:r>
              <a:rPr lang="de-DE" sz="2500" dirty="0"/>
              <a:t>Teilprojekte</a:t>
            </a:r>
          </a:p>
          <a:p>
            <a:r>
              <a:rPr lang="de-DE" sz="2500" dirty="0"/>
              <a:t>Personalbedarf</a:t>
            </a:r>
          </a:p>
          <a:p>
            <a:r>
              <a:rPr lang="de-DE" sz="2500" dirty="0"/>
              <a:t>Personalkosten</a:t>
            </a:r>
          </a:p>
          <a:p>
            <a:r>
              <a:rPr lang="de-DE" sz="2500" dirty="0"/>
              <a:t>Sonstige Kosten</a:t>
            </a:r>
          </a:p>
          <a:p>
            <a:r>
              <a:rPr lang="de-DE" sz="2500" dirty="0"/>
              <a:t>Gesamtkosten</a:t>
            </a:r>
          </a:p>
          <a:p>
            <a:r>
              <a:rPr lang="de-DE" sz="2500" dirty="0"/>
              <a:t>Fortschritt Personalkosten</a:t>
            </a:r>
          </a:p>
          <a:p>
            <a:r>
              <a:rPr lang="de-DE" sz="2500" dirty="0"/>
              <a:t>Fortschritt Sonstige Kosten</a:t>
            </a:r>
          </a:p>
          <a:p>
            <a:r>
              <a:rPr lang="de-DE" sz="2500" dirty="0"/>
              <a:t>Fortschritt Gesamtkosten</a:t>
            </a:r>
          </a:p>
          <a:p>
            <a:r>
              <a:rPr lang="de-DE" sz="2500" dirty="0"/>
              <a:t>Fortschritt Rolle(…)</a:t>
            </a:r>
          </a:p>
          <a:p>
            <a:r>
              <a:rPr lang="de-DE" sz="2500" dirty="0"/>
              <a:t>Fortschritt Kostenart(…)</a:t>
            </a:r>
          </a:p>
          <a:p>
            <a:endParaRPr lang="de-DE" sz="2500" dirty="0"/>
          </a:p>
          <a:p>
            <a:r>
              <a:rPr lang="de-DE" sz="2500" dirty="0"/>
              <a:t>Soll-Ist1 Personalkosten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Personalkosten</a:t>
            </a:r>
          </a:p>
          <a:p>
            <a:endParaRPr lang="de-DE" sz="2500" dirty="0"/>
          </a:p>
          <a:p>
            <a:r>
              <a:rPr lang="de-DE" sz="2500" dirty="0"/>
              <a:t>Soll-Ist1 Sonstige 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Sonstige Kosten</a:t>
            </a:r>
          </a:p>
          <a:p>
            <a:endParaRPr lang="de-DE" sz="2500" dirty="0"/>
          </a:p>
          <a:p>
            <a:r>
              <a:rPr lang="de-DE" sz="2500" dirty="0"/>
              <a:t>Soll-Ist1 Gesamtkosten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Gesamtkosten</a:t>
            </a:r>
          </a:p>
          <a:p>
            <a:endParaRPr lang="de-DE" sz="2500" dirty="0"/>
          </a:p>
          <a:p>
            <a:r>
              <a:rPr lang="de-DE" sz="2500" dirty="0"/>
              <a:t>Soll-Ist1 Rolle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Rolle (…)</a:t>
            </a:r>
          </a:p>
          <a:p>
            <a:endParaRPr lang="de-DE" sz="2500" dirty="0"/>
          </a:p>
          <a:p>
            <a:r>
              <a:rPr lang="de-DE" sz="2500" dirty="0"/>
              <a:t>Soll-Ist1 Kostenart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Kostenart (…)</a:t>
            </a:r>
          </a:p>
          <a:p>
            <a:endParaRPr lang="de-DE" sz="2500" dirty="0"/>
          </a:p>
          <a:p>
            <a:r>
              <a:rPr lang="de-DE" sz="2500" dirty="0"/>
              <a:t>Ampel-Farbe</a:t>
            </a:r>
          </a:p>
          <a:p>
            <a:r>
              <a:rPr lang="de-DE" sz="2500" dirty="0"/>
              <a:t>Beschreibung</a:t>
            </a:r>
          </a:p>
          <a:p>
            <a:r>
              <a:rPr lang="de-DE" sz="2500" dirty="0"/>
              <a:t>Stand:</a:t>
            </a:r>
          </a:p>
          <a:p>
            <a:r>
              <a:rPr lang="de-DE" sz="2500" dirty="0"/>
              <a:t>Laufzeit:</a:t>
            </a:r>
          </a:p>
          <a:p>
            <a:r>
              <a:rPr lang="de-DE" sz="2500" dirty="0"/>
              <a:t>Verantwortlich: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500" dirty="0"/>
              <a:t>Projekt-Name</a:t>
            </a:r>
          </a:p>
          <a:p>
            <a:r>
              <a:rPr lang="de-DE" sz="2500" dirty="0"/>
              <a:t>Ergebnis</a:t>
            </a:r>
          </a:p>
          <a:p>
            <a:r>
              <a:rPr lang="de-DE" sz="2500" dirty="0"/>
              <a:t>Strategie/Risiko</a:t>
            </a:r>
          </a:p>
          <a:p>
            <a:r>
              <a:rPr lang="de-DE" sz="2500" dirty="0"/>
              <a:t>Teilprojekte</a:t>
            </a:r>
          </a:p>
          <a:p>
            <a:r>
              <a:rPr lang="de-DE" sz="2500" dirty="0"/>
              <a:t>Personalbedarf</a:t>
            </a:r>
          </a:p>
          <a:p>
            <a:r>
              <a:rPr lang="de-DE" sz="2500" dirty="0"/>
              <a:t>Personalkosten</a:t>
            </a:r>
          </a:p>
          <a:p>
            <a:r>
              <a:rPr lang="de-DE" sz="2500" dirty="0"/>
              <a:t>Sonstige Kosten</a:t>
            </a:r>
          </a:p>
          <a:p>
            <a:r>
              <a:rPr lang="de-DE" sz="2500" dirty="0"/>
              <a:t>Gesamtkosten</a:t>
            </a:r>
          </a:p>
          <a:p>
            <a:r>
              <a:rPr lang="de-DE" sz="2500" dirty="0"/>
              <a:t>Fortschritt Personalkosten</a:t>
            </a:r>
          </a:p>
          <a:p>
            <a:r>
              <a:rPr lang="de-DE" sz="2500" dirty="0"/>
              <a:t>Fortschritt Sonstige Kosten</a:t>
            </a:r>
          </a:p>
          <a:p>
            <a:r>
              <a:rPr lang="de-DE" sz="2500" dirty="0"/>
              <a:t>Fortschritt Gesamtkosten</a:t>
            </a:r>
          </a:p>
          <a:p>
            <a:r>
              <a:rPr lang="de-DE" sz="2500" dirty="0"/>
              <a:t>Fortschritt Rolle(…)</a:t>
            </a:r>
          </a:p>
          <a:p>
            <a:r>
              <a:rPr lang="de-DE" sz="2500" dirty="0"/>
              <a:t>Fortschritt Kostenart(…)</a:t>
            </a:r>
          </a:p>
          <a:p>
            <a:endParaRPr lang="de-DE" sz="2500" dirty="0"/>
          </a:p>
          <a:p>
            <a:r>
              <a:rPr lang="de-DE" sz="2500" dirty="0"/>
              <a:t>Soll-Ist1 Personalkosten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Personalkosten</a:t>
            </a:r>
          </a:p>
          <a:p>
            <a:endParaRPr lang="de-DE" sz="2500" dirty="0"/>
          </a:p>
          <a:p>
            <a:r>
              <a:rPr lang="de-DE" sz="2500" dirty="0"/>
              <a:t>Soll-Ist1 Sonstige 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Sonstige Kosten</a:t>
            </a:r>
          </a:p>
          <a:p>
            <a:endParaRPr lang="de-DE" sz="2500" dirty="0"/>
          </a:p>
          <a:p>
            <a:r>
              <a:rPr lang="de-DE" sz="2500" dirty="0"/>
              <a:t>Soll-Ist1 Gesamtkosten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Gesamtkosten</a:t>
            </a:r>
          </a:p>
          <a:p>
            <a:endParaRPr lang="de-DE" sz="2500" dirty="0"/>
          </a:p>
          <a:p>
            <a:r>
              <a:rPr lang="de-DE" sz="2500" dirty="0"/>
              <a:t>Soll-Ist1 Rolle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Rolle (…)</a:t>
            </a:r>
          </a:p>
          <a:p>
            <a:endParaRPr lang="de-DE" sz="2500" dirty="0"/>
          </a:p>
          <a:p>
            <a:r>
              <a:rPr lang="de-DE" sz="2500" dirty="0"/>
              <a:t>Soll-Ist1 Kostenart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/>
              <a:t>Soll-Ist2 Kostenart (…)</a:t>
            </a:r>
          </a:p>
          <a:p>
            <a:endParaRPr lang="de-DE" sz="2500" dirty="0"/>
          </a:p>
          <a:p>
            <a:r>
              <a:rPr lang="de-DE" sz="2500" dirty="0"/>
              <a:t>Ampel-Farbe</a:t>
            </a:r>
          </a:p>
          <a:p>
            <a:r>
              <a:rPr lang="de-DE" sz="2500" dirty="0"/>
              <a:t>Beschreibung</a:t>
            </a:r>
          </a:p>
          <a:p>
            <a:r>
              <a:rPr lang="de-DE" sz="2500" dirty="0"/>
              <a:t>Stand:</a:t>
            </a:r>
          </a:p>
          <a:p>
            <a:r>
              <a:rPr lang="de-DE" sz="2500" dirty="0"/>
              <a:t>Laufzeit:</a:t>
            </a:r>
          </a:p>
          <a:p>
            <a:r>
              <a:rPr lang="de-DE" sz="2500" dirty="0"/>
              <a:t>Verantwortlich: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684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355600" y="484312"/>
            <a:ext cx="12293600" cy="12827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2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/>
          </p:cNvSpPr>
          <p:nvPr>
            <p:ph type="title"/>
          </p:nvPr>
        </p:nvSpPr>
        <p:spPr bwMode="auto">
          <a:xfrm>
            <a:off x="355600" y="7416800"/>
            <a:ext cx="1229360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>
                <a:sym typeface="Gill Sans Light" charset="0"/>
              </a:rPr>
              <a:t>Click </a:t>
            </a:r>
            <a:r>
              <a:rPr lang="de-DE" dirty="0" err="1" smtClean="0">
                <a:sym typeface="Gill Sans Light" charset="0"/>
              </a:rPr>
              <a:t>to</a:t>
            </a:r>
            <a:r>
              <a:rPr lang="de-DE" dirty="0" smtClean="0">
                <a:sym typeface="Gill Sans Light" charset="0"/>
              </a:rPr>
              <a:t> </a:t>
            </a:r>
            <a:r>
              <a:rPr lang="de-DE" dirty="0" err="1" smtClean="0">
                <a:sym typeface="Gill Sans Light" charset="0"/>
              </a:rPr>
              <a:t>edit</a:t>
            </a:r>
            <a:r>
              <a:rPr lang="de-DE" dirty="0" smtClean="0">
                <a:sym typeface="Gill Sans Light" charset="0"/>
              </a:rPr>
              <a:t> Master title style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2412" y="9316381"/>
            <a:ext cx="963712" cy="400031"/>
          </a:xfrm>
          <a:prstGeom prst="rect">
            <a:avLst/>
          </a:prstGeom>
        </p:spPr>
      </p:pic>
      <p:sp>
        <p:nvSpPr>
          <p:cNvPr id="4" name="Textfeld 3"/>
          <p:cNvSpPr txBox="1"/>
          <p:nvPr userDrawn="1"/>
        </p:nvSpPr>
        <p:spPr>
          <a:xfrm>
            <a:off x="10900492" y="9414811"/>
            <a:ext cx="1075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 err="1" smtClean="0"/>
              <a:t>Generated</a:t>
            </a:r>
            <a:r>
              <a:rPr lang="de-DE" sz="1050" dirty="0" smtClean="0"/>
              <a:t> by </a:t>
            </a:r>
            <a:endParaRPr lang="de-DE" sz="1050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4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+mj-lt"/>
          <a:ea typeface="+mj-ea"/>
          <a:cs typeface="+mj-cs"/>
          <a:sym typeface="Gill Sans Light" charset="0"/>
        </a:defRPr>
      </a:lvl1pPr>
      <a:lvl2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2pPr>
      <a:lvl3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3pPr>
      <a:lvl4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4pPr>
      <a:lvl5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9pPr>
    </p:titleStyle>
    <p:bodyStyle>
      <a:lvl1pPr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1pPr>
      <a:lvl2pPr marL="3429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2pPr>
      <a:lvl3pPr marL="685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3pPr>
      <a:lvl4pPr marL="10287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4pPr>
      <a:lvl5pPr marL="13716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5pPr>
      <a:lvl6pPr marL="1828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6pPr>
      <a:lvl7pPr marL="22860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7pPr>
      <a:lvl8pPr marL="27432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8pPr>
      <a:lvl9pPr marL="32004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/>
              <a:t>Aktueller Planungstand Termine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 bwMode="auto">
          <a:xfrm>
            <a:off x="453728" y="1708448"/>
            <a:ext cx="12097344" cy="1627156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Projekt-Grafik</a:t>
            </a:r>
            <a:endParaRPr kumimoji="0" lang="de-DE" sz="18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graphicFrame>
        <p:nvGraphicFramePr>
          <p:cNvPr id="16" name="Tabelle 15" title="Tabelle Projektzie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316324"/>
              </p:ext>
            </p:extLst>
          </p:nvPr>
        </p:nvGraphicFramePr>
        <p:xfrm>
          <a:off x="453728" y="3508649"/>
          <a:ext cx="12097344" cy="64807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76064"/>
                <a:gridCol w="1872208"/>
                <a:gridCol w="1080120"/>
                <a:gridCol w="8568952"/>
              </a:tblGrid>
              <a:tr h="3888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r>
                        <a:rPr lang="de-DE" sz="1400" dirty="0" smtClean="0"/>
                        <a:t>ID</a:t>
                      </a:r>
                      <a:endParaRPr lang="de-DE" sz="1400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r>
                        <a:rPr lang="de-DE" sz="1400" kern="1200" dirty="0" smtClean="0"/>
                        <a:t>Ergebnis</a:t>
                      </a:r>
                      <a:endParaRPr lang="de-DE" sz="14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kern="1200" dirty="0" smtClean="0"/>
                        <a:t>Datum</a:t>
                      </a:r>
                      <a:endParaRPr lang="de-DE" sz="1400" b="1" kern="1200" dirty="0">
                        <a:solidFill>
                          <a:schemeClr val="lt1"/>
                        </a:solidFill>
                        <a:latin typeface="Gill Sans Light"/>
                        <a:ea typeface="ヒラギノ角ゴ ProN W3"/>
                        <a:cs typeface="ヒラギノ角ゴ ProN W3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r>
                        <a:rPr lang="de-DE" sz="1400" kern="1200" dirty="0" smtClean="0"/>
                        <a:t>Erläuterung</a:t>
                      </a:r>
                      <a:r>
                        <a:rPr lang="de-DE" sz="1400" dirty="0" smtClean="0"/>
                        <a:t> </a:t>
                      </a:r>
                      <a:r>
                        <a:rPr lang="de-DE" sz="1400" kern="1200" dirty="0" smtClean="0"/>
                        <a:t>der</a:t>
                      </a:r>
                      <a:r>
                        <a:rPr lang="de-DE" sz="1400" baseline="0" dirty="0" smtClean="0"/>
                        <a:t> </a:t>
                      </a:r>
                      <a:r>
                        <a:rPr lang="de-DE" sz="1400" kern="1200" dirty="0" smtClean="0"/>
                        <a:t>Projektleitung</a:t>
                      </a:r>
                      <a:endParaRPr lang="de-DE" sz="14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592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de-DE" sz="11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de-DE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de-DE" sz="11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Lastenheft</a:t>
                      </a:r>
                      <a:endParaRPr lang="de-DE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 smtClean="0">
                          <a:solidFill>
                            <a:schemeClr val="bg1"/>
                          </a:solidFill>
                        </a:rPr>
                        <a:t>14.12.2013</a:t>
                      </a:r>
                      <a:endParaRPr lang="de-DE" sz="11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de-DE" sz="11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Erläuterung</a:t>
                      </a:r>
                      <a:endParaRPr lang="de-DE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938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Übersicht: Vergleich mit letztem Stand</a:t>
            </a:r>
            <a:endParaRPr lang="de-DE" dirty="0"/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graphicFrame>
        <p:nvGraphicFramePr>
          <p:cNvPr id="16" name="Tabelle 15" title="Tabelle Vergleich letzter Stan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505423"/>
              </p:ext>
            </p:extLst>
          </p:nvPr>
        </p:nvGraphicFramePr>
        <p:xfrm>
          <a:off x="453728" y="1780456"/>
          <a:ext cx="12097343" cy="561661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592288"/>
                <a:gridCol w="1224136"/>
                <a:gridCol w="3888432"/>
                <a:gridCol w="4392487"/>
              </a:tblGrid>
              <a:tr h="8923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algn="ctr"/>
                      <a:r>
                        <a:rPr lang="de-DE" sz="1400" dirty="0" smtClean="0"/>
                        <a:t>Charakteristik</a:t>
                      </a:r>
                      <a:endParaRPr lang="de-DE" sz="1400" dirty="0">
                        <a:solidFill>
                          <a:srgbClr val="FFFF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 kern="1200" dirty="0" smtClean="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rPr>
                        <a:t>Trend</a:t>
                      </a:r>
                      <a:endParaRPr lang="de-DE" sz="1400" b="1" kern="1200" dirty="0">
                        <a:solidFill>
                          <a:schemeClr val="lt1"/>
                        </a:solidFill>
                        <a:latin typeface="Gill Sans Light"/>
                        <a:ea typeface="ヒラギノ角ゴ ProN W3"/>
                        <a:cs typeface="ヒラギノ角ゴ ProN W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algn="ctr"/>
                      <a:r>
                        <a:rPr lang="de-DE" sz="1400" b="1" kern="1200" dirty="0" smtClean="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rPr>
                        <a:t>Letzter Stand in Datenbank</a:t>
                      </a:r>
                      <a:endParaRPr lang="de-DE" sz="1400" b="1" kern="1200" dirty="0">
                        <a:solidFill>
                          <a:schemeClr val="lt1"/>
                        </a:solidFill>
                        <a:latin typeface="Gill Sans Light"/>
                        <a:ea typeface="ヒラギノ角ゴ ProN W3"/>
                        <a:cs typeface="ヒラギノ角ゴ ProN W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400" b="1" kern="1200" dirty="0" smtClean="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rPr>
                        <a:t>Aktueller Stand</a:t>
                      </a: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Ergebnis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 T€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>
                          <a:solidFill>
                            <a:schemeClr val="bg1"/>
                          </a:solidFill>
                        </a:rPr>
                        <a:t>-10 T€</a:t>
                      </a:r>
                      <a:endParaRPr lang="de-DE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</a:t>
                      </a:r>
                      <a:r>
                        <a:rPr lang="de-DE" sz="14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alt </a:t>
                      </a: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 neu</a:t>
                      </a:r>
                      <a:endParaRPr lang="de-DE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Personalkosten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</a:t>
                      </a:r>
                      <a:r>
                        <a:rPr lang="de-DE" sz="14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alt </a:t>
                      </a: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 neu</a:t>
                      </a:r>
                      <a:endParaRPr lang="de-DE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Sonstige Kosten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</a:t>
                      </a:r>
                      <a:r>
                        <a:rPr lang="de-DE" sz="14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alt </a:t>
                      </a: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 neu</a:t>
                      </a:r>
                      <a:endParaRPr lang="de-DE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Termine Phasen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Keine Änderung / oder siehe Chart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Keine Änderung / oder siehe Chart</a:t>
                      </a: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Termine Meilensteine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Keine Änderung / oder siehe Chart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Keine Änderung / oder siehe Chart</a:t>
                      </a: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Einschätzung</a:t>
                      </a:r>
                      <a:r>
                        <a:rPr lang="de-DE" sz="14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strategischer Fit 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</a:t>
                      </a:r>
                      <a:r>
                        <a:rPr lang="de-DE" sz="14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alt 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 neu </a:t>
                      </a: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Einschätzung Risiko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 alt 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 neu</a:t>
                      </a: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Projekt-Ampel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Projekt-Ampel Erläuterung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Erläuterung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Erläuterung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" name="Pfeil nach rechts 2" title="gleich"/>
          <p:cNvSpPr/>
          <p:nvPr/>
        </p:nvSpPr>
        <p:spPr bwMode="auto">
          <a:xfrm>
            <a:off x="597744" y="484312"/>
            <a:ext cx="216000" cy="216024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9" name="Pfeil nach rechts 8" title="steigend"/>
          <p:cNvSpPr/>
          <p:nvPr/>
        </p:nvSpPr>
        <p:spPr bwMode="auto">
          <a:xfrm>
            <a:off x="597744" y="844352"/>
            <a:ext cx="216000" cy="216024"/>
          </a:xfrm>
          <a:prstGeom prst="rightArrow">
            <a:avLst/>
          </a:prstGeom>
          <a:solidFill>
            <a:srgbClr val="00B050"/>
          </a:solidFill>
          <a:ln>
            <a:noFill/>
          </a:ln>
          <a:effectLst/>
          <a:scene3d>
            <a:camera prst="orthographicFront">
              <a:rot lat="0" lon="0" rev="3000000"/>
            </a:camera>
            <a:lightRig rig="threePt" dir="t"/>
          </a:scene3d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1" name="Pfeil nach rechts 10" title="fallend"/>
          <p:cNvSpPr/>
          <p:nvPr/>
        </p:nvSpPr>
        <p:spPr bwMode="auto">
          <a:xfrm>
            <a:off x="597744" y="1204392"/>
            <a:ext cx="216000" cy="216024"/>
          </a:xfrm>
          <a:prstGeom prst="rightArrow">
            <a:avLst/>
          </a:prstGeom>
          <a:solidFill>
            <a:srgbClr val="FF0000"/>
          </a:solidFill>
          <a:ln>
            <a:noFill/>
          </a:ln>
          <a:effectLst/>
          <a:scene3d>
            <a:camera prst="orthographicFront">
              <a:rot lat="0" lon="0" rev="18600000"/>
            </a:camera>
            <a:lightRig rig="threePt" dir="t"/>
          </a:scene3d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4" name="Ellipse 3" title="ampel"/>
          <p:cNvSpPr/>
          <p:nvPr/>
        </p:nvSpPr>
        <p:spPr bwMode="auto">
          <a:xfrm>
            <a:off x="1173808" y="606545"/>
            <a:ext cx="288032" cy="288032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2" name="Stern mit 5 Zacken 11" title="stern"/>
          <p:cNvSpPr/>
          <p:nvPr/>
        </p:nvSpPr>
        <p:spPr bwMode="auto">
          <a:xfrm>
            <a:off x="453728" y="8498983"/>
            <a:ext cx="298900" cy="266249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6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752628" y="8532963"/>
            <a:ext cx="41264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smtClean="0"/>
              <a:t>Es gibt Änderungen. Weitere Informationen auf nachfolgenden Folien 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00198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/>
              <a:t>Übersicht: Vergleich mit Beauftragung</a:t>
            </a:r>
            <a:endParaRPr lang="de-DE" dirty="0"/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graphicFrame>
        <p:nvGraphicFramePr>
          <p:cNvPr id="16" name="Tabelle 15" title="Tabelle Vergleich Beauftragu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095651"/>
              </p:ext>
            </p:extLst>
          </p:nvPr>
        </p:nvGraphicFramePr>
        <p:xfrm>
          <a:off x="453728" y="1780456"/>
          <a:ext cx="12097343" cy="561661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592288"/>
                <a:gridCol w="1224136"/>
                <a:gridCol w="3888432"/>
                <a:gridCol w="4392487"/>
              </a:tblGrid>
              <a:tr h="8923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algn="ctr"/>
                      <a:r>
                        <a:rPr lang="de-DE" sz="1400" dirty="0" smtClean="0"/>
                        <a:t>Charakteristik</a:t>
                      </a:r>
                      <a:endParaRPr lang="de-DE" sz="1400" dirty="0">
                        <a:solidFill>
                          <a:srgbClr val="FFFF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 kern="1200" dirty="0" smtClean="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rPr>
                        <a:t>Trend</a:t>
                      </a:r>
                      <a:endParaRPr lang="de-DE" sz="1400" b="1" kern="1200" dirty="0">
                        <a:solidFill>
                          <a:schemeClr val="lt1"/>
                        </a:solidFill>
                        <a:latin typeface="Gill Sans Light"/>
                        <a:ea typeface="ヒラギノ角ゴ ProN W3"/>
                        <a:cs typeface="ヒラギノ角ゴ ProN W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algn="ctr"/>
                      <a:r>
                        <a:rPr lang="de-DE" sz="1400" kern="1200" dirty="0" smtClean="0"/>
                        <a:t>Beauftragung in Datenbank</a:t>
                      </a:r>
                      <a:endParaRPr lang="de-DE" sz="1400" b="1" kern="1200" dirty="0">
                        <a:solidFill>
                          <a:srgbClr val="FFFFFF"/>
                        </a:solidFill>
                        <a:latin typeface="Gill Sans Light"/>
                        <a:ea typeface="ヒラギノ角ゴ ProN W3"/>
                        <a:cs typeface="ヒラギノ角ゴ ProN W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400" b="1" kern="1200" dirty="0" smtClean="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rPr>
                        <a:t>Aktueller Stand</a:t>
                      </a: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Ergebnis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 T€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>
                          <a:solidFill>
                            <a:schemeClr val="bg1"/>
                          </a:solidFill>
                        </a:rPr>
                        <a:t>-10 T€</a:t>
                      </a:r>
                      <a:endParaRPr lang="de-DE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</a:t>
                      </a:r>
                      <a:r>
                        <a:rPr lang="de-DE" sz="14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alt </a:t>
                      </a: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 neu</a:t>
                      </a:r>
                      <a:endParaRPr lang="de-DE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Personalkosten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</a:t>
                      </a:r>
                      <a:r>
                        <a:rPr lang="de-DE" sz="14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alt </a:t>
                      </a: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 neu</a:t>
                      </a:r>
                      <a:endParaRPr lang="de-DE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Sonstige Kosten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</a:t>
                      </a:r>
                      <a:r>
                        <a:rPr lang="de-DE" sz="14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alt </a:t>
                      </a: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 neu</a:t>
                      </a:r>
                      <a:endParaRPr lang="de-DE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Termine Phasen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Keine Änderung / oder siehe Chart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Keine Änderung / oder siehe Chart</a:t>
                      </a: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Termine Meilensteine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Keine Änderung / oder siehe Chart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Keine Änderung / oder siehe Chart</a:t>
                      </a: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Einschätzung</a:t>
                      </a:r>
                      <a:r>
                        <a:rPr lang="de-DE" sz="14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strategischer Fit 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</a:t>
                      </a:r>
                      <a:r>
                        <a:rPr lang="de-DE" sz="14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alt 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 neu </a:t>
                      </a: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Einschätzung Risiko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 alt 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 neu</a:t>
                      </a: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Projekt-Ampel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Projekt-Ampel Erläuterung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Erläuterung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Erläuterung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" name="Pfeil nach rechts 2" title="gleich"/>
          <p:cNvSpPr/>
          <p:nvPr/>
        </p:nvSpPr>
        <p:spPr bwMode="auto">
          <a:xfrm>
            <a:off x="597744" y="484312"/>
            <a:ext cx="216000" cy="216024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9" name="Pfeil nach rechts 8" title="steigend"/>
          <p:cNvSpPr/>
          <p:nvPr/>
        </p:nvSpPr>
        <p:spPr bwMode="auto">
          <a:xfrm>
            <a:off x="597744" y="844352"/>
            <a:ext cx="216000" cy="216024"/>
          </a:xfrm>
          <a:prstGeom prst="rightArrow">
            <a:avLst/>
          </a:prstGeom>
          <a:solidFill>
            <a:srgbClr val="00B050"/>
          </a:solidFill>
          <a:ln>
            <a:noFill/>
          </a:ln>
          <a:effectLst/>
          <a:scene3d>
            <a:camera prst="orthographicFront">
              <a:rot lat="0" lon="0" rev="3000000"/>
            </a:camera>
            <a:lightRig rig="threePt" dir="t"/>
          </a:scene3d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1" name="Pfeil nach rechts 10" title="fallend"/>
          <p:cNvSpPr/>
          <p:nvPr/>
        </p:nvSpPr>
        <p:spPr bwMode="auto">
          <a:xfrm>
            <a:off x="597744" y="1204392"/>
            <a:ext cx="216000" cy="216024"/>
          </a:xfrm>
          <a:prstGeom prst="rightArrow">
            <a:avLst/>
          </a:prstGeom>
          <a:solidFill>
            <a:srgbClr val="FF0000"/>
          </a:solidFill>
          <a:ln>
            <a:noFill/>
          </a:ln>
          <a:effectLst/>
          <a:scene3d>
            <a:camera prst="orthographicFront">
              <a:rot lat="0" lon="0" rev="18600000"/>
            </a:camera>
            <a:lightRig rig="threePt" dir="t"/>
          </a:scene3d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4" name="Ellipse 3" title="ampel"/>
          <p:cNvSpPr/>
          <p:nvPr/>
        </p:nvSpPr>
        <p:spPr bwMode="auto">
          <a:xfrm>
            <a:off x="1173808" y="606545"/>
            <a:ext cx="288032" cy="288032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2" name="Stern mit 5 Zacken 11" title="stern"/>
          <p:cNvSpPr/>
          <p:nvPr/>
        </p:nvSpPr>
        <p:spPr bwMode="auto">
          <a:xfrm>
            <a:off x="453728" y="8498983"/>
            <a:ext cx="298900" cy="266249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6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752628" y="8532963"/>
            <a:ext cx="41264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smtClean="0"/>
              <a:t>Es gibt Änderungen. Weitere Informationen auf nachfolgenden Folien 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202556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/>
              <a:t>Projekt-Name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 bwMode="auto">
          <a:xfrm>
            <a:off x="453728" y="1708448"/>
            <a:ext cx="12097344" cy="5184576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400" dirty="0"/>
              <a:t>Meilenstein Trendanalyse</a:t>
            </a:r>
            <a:endParaRPr kumimoji="0" lang="de-DE" sz="18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grpSp>
        <p:nvGrpSpPr>
          <p:cNvPr id="9" name="Gruppieren 8"/>
          <p:cNvGrpSpPr/>
          <p:nvPr/>
        </p:nvGrpSpPr>
        <p:grpSpPr>
          <a:xfrm>
            <a:off x="381720" y="7181056"/>
            <a:ext cx="6140784" cy="553998"/>
            <a:chOff x="3582064" y="7824700"/>
            <a:chExt cx="6140784" cy="553998"/>
          </a:xfrm>
        </p:grpSpPr>
        <p:sp>
          <p:nvSpPr>
            <p:cNvPr id="11" name="Textfeld 10"/>
            <p:cNvSpPr txBox="1"/>
            <p:nvPr/>
          </p:nvSpPr>
          <p:spPr>
            <a:xfrm>
              <a:off x="3582064" y="7824700"/>
              <a:ext cx="6140784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de-DE" sz="1000" dirty="0" smtClean="0"/>
                <a:t>Die Farbe gibt die „Ampelbewertung“ des Meilensteins zum entsprechenden Planungs-Zeitpunkt wieder: </a:t>
              </a:r>
            </a:p>
            <a:p>
              <a:pPr algn="l">
                <a:lnSpc>
                  <a:spcPct val="150000"/>
                </a:lnSpc>
              </a:pPr>
              <a:r>
                <a:rPr lang="de-DE" sz="1000" dirty="0" smtClean="0"/>
                <a:t>grün, gelb, rot oder ohne Bewertung</a:t>
              </a:r>
              <a:endParaRPr lang="de-DE" sz="1000" dirty="0"/>
            </a:p>
          </p:txBody>
        </p:sp>
        <p:grpSp>
          <p:nvGrpSpPr>
            <p:cNvPr id="12" name="Gruppieren 11"/>
            <p:cNvGrpSpPr/>
            <p:nvPr/>
          </p:nvGrpSpPr>
          <p:grpSpPr>
            <a:xfrm>
              <a:off x="5967040" y="8154149"/>
              <a:ext cx="774502" cy="144016"/>
              <a:chOff x="10840466" y="7986146"/>
              <a:chExt cx="774502" cy="144016"/>
            </a:xfrm>
          </p:grpSpPr>
          <p:sp>
            <p:nvSpPr>
              <p:cNvPr id="13" name="Ellipse 12"/>
              <p:cNvSpPr/>
              <p:nvPr/>
            </p:nvSpPr>
            <p:spPr bwMode="auto">
              <a:xfrm>
                <a:off x="10840466" y="7986146"/>
                <a:ext cx="144016" cy="14401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  <a:effectLst/>
              <a:extLst/>
            </p:spPr>
            <p:txBody>
              <a:bodyPr vert="horz" wrap="square" lIns="50800" tIns="50800" rIns="50800" bIns="508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342900" marR="0" indent="0" algn="ctr" defTabSz="5842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3600" b="0" i="0" u="none" strike="noStrike" cap="none" normalizeH="0" baseline="0" dirty="0" smtClean="0">
                  <a:ln>
                    <a:noFill/>
                  </a:ln>
                  <a:solidFill>
                    <a:srgbClr val="414141"/>
                  </a:solidFill>
                  <a:effectLst/>
                  <a:latin typeface="Gill Sans Light" charset="0"/>
                  <a:ea typeface="Gill Sans Light" charset="0"/>
                  <a:cs typeface="Gill Sans Light" charset="0"/>
                  <a:sym typeface="Gill Sans Light" charset="0"/>
                </a:endParaRPr>
              </a:p>
            </p:txBody>
          </p:sp>
          <p:sp>
            <p:nvSpPr>
              <p:cNvPr id="17" name="Ellipse 16"/>
              <p:cNvSpPr/>
              <p:nvPr/>
            </p:nvSpPr>
            <p:spPr bwMode="auto">
              <a:xfrm>
                <a:off x="11050628" y="7986146"/>
                <a:ext cx="144016" cy="14401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/>
              <a:extLst/>
            </p:spPr>
            <p:txBody>
              <a:bodyPr vert="horz" wrap="square" lIns="50800" tIns="50800" rIns="50800" bIns="508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342900" marR="0" indent="0" algn="ctr" defTabSz="5842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3600" b="0" i="0" u="none" strike="noStrike" cap="none" normalizeH="0" baseline="0" dirty="0" smtClean="0">
                  <a:ln>
                    <a:noFill/>
                  </a:ln>
                  <a:solidFill>
                    <a:srgbClr val="414141"/>
                  </a:solidFill>
                  <a:effectLst/>
                  <a:latin typeface="Gill Sans Light" charset="0"/>
                  <a:ea typeface="Gill Sans Light" charset="0"/>
                  <a:cs typeface="Gill Sans Light" charset="0"/>
                  <a:sym typeface="Gill Sans Light" charset="0"/>
                </a:endParaRPr>
              </a:p>
            </p:txBody>
          </p:sp>
          <p:sp>
            <p:nvSpPr>
              <p:cNvPr id="18" name="Ellipse 17"/>
              <p:cNvSpPr/>
              <p:nvPr/>
            </p:nvSpPr>
            <p:spPr bwMode="auto">
              <a:xfrm>
                <a:off x="11260790" y="7986146"/>
                <a:ext cx="144016" cy="1440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/>
            </p:spPr>
            <p:txBody>
              <a:bodyPr vert="horz" wrap="square" lIns="50800" tIns="50800" rIns="50800" bIns="508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342900" marR="0" indent="0" algn="ctr" defTabSz="5842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3600" b="0" i="0" u="none" strike="noStrike" cap="none" normalizeH="0" baseline="0" dirty="0" smtClean="0">
                  <a:ln>
                    <a:noFill/>
                  </a:ln>
                  <a:solidFill>
                    <a:srgbClr val="414141"/>
                  </a:solidFill>
                  <a:effectLst/>
                  <a:latin typeface="Gill Sans Light" charset="0"/>
                  <a:ea typeface="Gill Sans Light" charset="0"/>
                  <a:cs typeface="Gill Sans Light" charset="0"/>
                  <a:sym typeface="Gill Sans Light" charset="0"/>
                </a:endParaRPr>
              </a:p>
            </p:txBody>
          </p:sp>
          <p:sp>
            <p:nvSpPr>
              <p:cNvPr id="19" name="Ellipse 18"/>
              <p:cNvSpPr/>
              <p:nvPr/>
            </p:nvSpPr>
            <p:spPr bwMode="auto">
              <a:xfrm>
                <a:off x="11470952" y="7986146"/>
                <a:ext cx="144016" cy="144016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  <a:extLst/>
            </p:spPr>
            <p:txBody>
              <a:bodyPr vert="horz" wrap="square" lIns="50800" tIns="50800" rIns="50800" bIns="508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342900" marR="0" indent="0" algn="ctr" defTabSz="5842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3600" b="0" i="0" u="none" strike="noStrike" cap="none" normalizeH="0" baseline="0" dirty="0" smtClean="0">
                  <a:ln>
                    <a:noFill/>
                  </a:ln>
                  <a:solidFill>
                    <a:srgbClr val="414141"/>
                  </a:solidFill>
                  <a:effectLst/>
                  <a:latin typeface="Gill Sans Light" charset="0"/>
                  <a:ea typeface="Gill Sans Light" charset="0"/>
                  <a:cs typeface="Gill Sans Light" charset="0"/>
                  <a:sym typeface="Gill Sans Light" charset="0"/>
                </a:endParaRPr>
              </a:p>
            </p:txBody>
          </p:sp>
        </p:grpSp>
      </p:grpSp>
      <p:grpSp>
        <p:nvGrpSpPr>
          <p:cNvPr id="20" name="Gruppieren 19"/>
          <p:cNvGrpSpPr/>
          <p:nvPr/>
        </p:nvGrpSpPr>
        <p:grpSpPr>
          <a:xfrm>
            <a:off x="381720" y="7829128"/>
            <a:ext cx="7348487" cy="784830"/>
            <a:chOff x="2819400" y="8340221"/>
            <a:chExt cx="7348487" cy="784830"/>
          </a:xfrm>
        </p:grpSpPr>
        <p:sp>
          <p:nvSpPr>
            <p:cNvPr id="21" name="Textfeld 20"/>
            <p:cNvSpPr txBox="1"/>
            <p:nvPr/>
          </p:nvSpPr>
          <p:spPr>
            <a:xfrm>
              <a:off x="2819400" y="8340221"/>
              <a:ext cx="7348487" cy="784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de-DE" sz="1000" dirty="0" smtClean="0"/>
                <a:t>Die Form gibt an, ob der Meilenstein zum jeweiligen Planungs-Stand bereits als abgeschlossen galt oder noch in der Zukunft lag</a:t>
              </a:r>
            </a:p>
            <a:p>
              <a:pPr marL="514350" lvl="1" indent="-171450" algn="l">
                <a:lnSpc>
                  <a:spcPct val="150000"/>
                </a:lnSpc>
                <a:buFontTx/>
                <a:buChar char="-"/>
              </a:pPr>
              <a:r>
                <a:rPr lang="de-DE" sz="1000" dirty="0" smtClean="0"/>
                <a:t>Meilenstein gilt als abgeschlossen (Ergebnis mit der Ampel-Farbe bewertet)</a:t>
              </a:r>
            </a:p>
            <a:p>
              <a:pPr marL="514350" lvl="1" indent="-171450" algn="l">
                <a:lnSpc>
                  <a:spcPct val="150000"/>
                </a:lnSpc>
                <a:buFontTx/>
                <a:buChar char="-"/>
              </a:pPr>
              <a:r>
                <a:rPr lang="de-DE" sz="1000" dirty="0" smtClean="0"/>
                <a:t>Meilenstein Prognose (Ergebnis mit der Ampel-Farbe prognostiziert)</a:t>
              </a:r>
              <a:endParaRPr lang="de-DE" sz="1000" dirty="0"/>
            </a:p>
          </p:txBody>
        </p:sp>
        <p:sp>
          <p:nvSpPr>
            <p:cNvPr id="22" name="Ellipse 21"/>
            <p:cNvSpPr/>
            <p:nvPr/>
          </p:nvSpPr>
          <p:spPr bwMode="auto">
            <a:xfrm>
              <a:off x="2902000" y="8881619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extLst/>
          </p:spPr>
          <p:txBody>
            <a:bodyPr vert="horz" wrap="square" lIns="50800" tIns="50800" rIns="50800" bIns="50800" numCol="1" rtlCol="0" anchor="ctr" anchorCtr="0" compatLnSpc="1">
              <a:prstTxWarp prst="textNoShape">
                <a:avLst/>
              </a:prstTxWarp>
            </a:bodyPr>
            <a:lstStyle/>
            <a:p>
              <a:pPr marL="342900" marR="0" indent="0" algn="ctr" defTabSz="584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600" b="0" i="0" u="none" strike="noStrike" cap="none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endParaRPr>
            </a:p>
          </p:txBody>
        </p:sp>
        <p:sp>
          <p:nvSpPr>
            <p:cNvPr id="23" name="Rechteck 22"/>
            <p:cNvSpPr/>
            <p:nvPr/>
          </p:nvSpPr>
          <p:spPr bwMode="auto">
            <a:xfrm>
              <a:off x="2902000" y="8649595"/>
              <a:ext cx="144016" cy="144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  <a:extLst/>
          </p:spPr>
          <p:txBody>
            <a:bodyPr vert="horz" wrap="square" lIns="50800" tIns="50800" rIns="50800" bIns="50800" numCol="1" rtlCol="0" anchor="ctr" anchorCtr="0" compatLnSpc="1">
              <a:prstTxWarp prst="textNoShape">
                <a:avLst/>
              </a:prstTxWarp>
            </a:bodyPr>
            <a:lstStyle/>
            <a:p>
              <a:pPr marL="342900" marR="0" indent="0" algn="ctr" defTabSz="584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600" b="0" i="0" u="none" strike="noStrike" cap="none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endParaRPr>
            </a:p>
          </p:txBody>
        </p:sp>
      </p:grpSp>
      <p:grpSp>
        <p:nvGrpSpPr>
          <p:cNvPr id="24" name="Gruppieren 23"/>
          <p:cNvGrpSpPr/>
          <p:nvPr/>
        </p:nvGrpSpPr>
        <p:grpSpPr>
          <a:xfrm>
            <a:off x="8086576" y="7181056"/>
            <a:ext cx="4641014" cy="1015663"/>
            <a:chOff x="2819400" y="8340221"/>
            <a:chExt cx="4641014" cy="1015663"/>
          </a:xfrm>
        </p:grpSpPr>
        <p:sp>
          <p:nvSpPr>
            <p:cNvPr id="25" name="Textfeld 24"/>
            <p:cNvSpPr txBox="1"/>
            <p:nvPr/>
          </p:nvSpPr>
          <p:spPr>
            <a:xfrm>
              <a:off x="2819400" y="8340221"/>
              <a:ext cx="464101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de-DE" sz="1000" dirty="0" smtClean="0"/>
                <a:t>Die Größe der Form gibt an, ob der Status / die Bewertung aus dem Vormonat </a:t>
              </a:r>
              <a:br>
                <a:rPr lang="de-DE" sz="1000" dirty="0" smtClean="0"/>
              </a:br>
              <a:r>
                <a:rPr lang="de-DE" sz="1000" dirty="0" smtClean="0"/>
                <a:t>übernommen wurde oder ob es eine Bewertung in dem Berichtszeitraum gab</a:t>
              </a:r>
            </a:p>
            <a:p>
              <a:pPr marL="514350" lvl="1" indent="-171450" algn="l">
                <a:lnSpc>
                  <a:spcPct val="150000"/>
                </a:lnSpc>
                <a:buFontTx/>
                <a:buChar char="-"/>
              </a:pPr>
              <a:r>
                <a:rPr lang="de-DE" sz="1000" dirty="0" smtClean="0"/>
                <a:t>Die Bewertung ist aus dem angegebenen Berichtszeitraum</a:t>
              </a:r>
            </a:p>
            <a:p>
              <a:pPr marL="514350" lvl="1" indent="-171450" algn="l">
                <a:lnSpc>
                  <a:spcPct val="150000"/>
                </a:lnSpc>
                <a:buFontTx/>
                <a:buChar char="-"/>
              </a:pPr>
              <a:r>
                <a:rPr lang="de-DE" sz="1000" dirty="0" smtClean="0"/>
                <a:t>Die Bewertung stammt aus dem Vormonat</a:t>
              </a:r>
              <a:endParaRPr lang="de-DE" sz="1000" dirty="0"/>
            </a:p>
          </p:txBody>
        </p:sp>
        <p:sp>
          <p:nvSpPr>
            <p:cNvPr id="26" name="Ellipse 25"/>
            <p:cNvSpPr/>
            <p:nvPr/>
          </p:nvSpPr>
          <p:spPr bwMode="auto">
            <a:xfrm>
              <a:off x="2902000" y="8881619"/>
              <a:ext cx="180000" cy="18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extLst/>
          </p:spPr>
          <p:txBody>
            <a:bodyPr vert="horz" wrap="square" lIns="50800" tIns="50800" rIns="50800" bIns="50800" numCol="1" rtlCol="0" anchor="ctr" anchorCtr="0" compatLnSpc="1">
              <a:prstTxWarp prst="textNoShape">
                <a:avLst/>
              </a:prstTxWarp>
            </a:bodyPr>
            <a:lstStyle/>
            <a:p>
              <a:pPr marL="342900" marR="0" indent="0" algn="ctr" defTabSz="584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600" b="0" i="0" u="none" strike="noStrike" cap="none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endParaRPr>
            </a:p>
          </p:txBody>
        </p:sp>
      </p:grpSp>
      <p:sp>
        <p:nvSpPr>
          <p:cNvPr id="28" name="Ellipse 27"/>
          <p:cNvSpPr/>
          <p:nvPr/>
        </p:nvSpPr>
        <p:spPr bwMode="auto">
          <a:xfrm>
            <a:off x="8211412" y="7959192"/>
            <a:ext cx="108000" cy="108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839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/>
              <a:t>Projekt-Name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 bwMode="auto">
          <a:xfrm>
            <a:off x="453728" y="1708448"/>
            <a:ext cx="12097344" cy="5184576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400" dirty="0"/>
              <a:t>Meilenstein Trendanalyse</a:t>
            </a:r>
            <a:endParaRPr kumimoji="0" lang="de-DE" sz="18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grpSp>
        <p:nvGrpSpPr>
          <p:cNvPr id="9" name="Gruppieren 8"/>
          <p:cNvGrpSpPr/>
          <p:nvPr/>
        </p:nvGrpSpPr>
        <p:grpSpPr>
          <a:xfrm>
            <a:off x="381720" y="7181056"/>
            <a:ext cx="6140784" cy="553998"/>
            <a:chOff x="3582064" y="7824700"/>
            <a:chExt cx="6140784" cy="553998"/>
          </a:xfrm>
        </p:grpSpPr>
        <p:sp>
          <p:nvSpPr>
            <p:cNvPr id="11" name="Textfeld 10"/>
            <p:cNvSpPr txBox="1"/>
            <p:nvPr/>
          </p:nvSpPr>
          <p:spPr>
            <a:xfrm>
              <a:off x="3582064" y="7824700"/>
              <a:ext cx="6140784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de-DE" sz="1000" dirty="0" smtClean="0"/>
                <a:t>Die Farbe gibt die „Ampelbewertung“ des Meilensteins zum entsprechenden Planungs-Zeitpunkt wieder: </a:t>
              </a:r>
            </a:p>
            <a:p>
              <a:pPr algn="l">
                <a:lnSpc>
                  <a:spcPct val="150000"/>
                </a:lnSpc>
              </a:pPr>
              <a:r>
                <a:rPr lang="de-DE" sz="1000" dirty="0" smtClean="0"/>
                <a:t>grün, gelb, rot oder ohne Bewertung</a:t>
              </a:r>
              <a:endParaRPr lang="de-DE" sz="1000" dirty="0"/>
            </a:p>
          </p:txBody>
        </p:sp>
        <p:grpSp>
          <p:nvGrpSpPr>
            <p:cNvPr id="12" name="Gruppieren 11"/>
            <p:cNvGrpSpPr/>
            <p:nvPr/>
          </p:nvGrpSpPr>
          <p:grpSpPr>
            <a:xfrm>
              <a:off x="5967040" y="8154149"/>
              <a:ext cx="774502" cy="144016"/>
              <a:chOff x="10840466" y="7986146"/>
              <a:chExt cx="774502" cy="144016"/>
            </a:xfrm>
          </p:grpSpPr>
          <p:sp>
            <p:nvSpPr>
              <p:cNvPr id="13" name="Ellipse 12"/>
              <p:cNvSpPr/>
              <p:nvPr/>
            </p:nvSpPr>
            <p:spPr bwMode="auto">
              <a:xfrm>
                <a:off x="10840466" y="7986146"/>
                <a:ext cx="144016" cy="14401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  <a:effectLst/>
              <a:extLst/>
            </p:spPr>
            <p:txBody>
              <a:bodyPr vert="horz" wrap="square" lIns="50800" tIns="50800" rIns="50800" bIns="508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342900" marR="0" indent="0" algn="ctr" defTabSz="5842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3600" b="0" i="0" u="none" strike="noStrike" cap="none" normalizeH="0" baseline="0" dirty="0" smtClean="0">
                  <a:ln>
                    <a:noFill/>
                  </a:ln>
                  <a:solidFill>
                    <a:srgbClr val="414141"/>
                  </a:solidFill>
                  <a:effectLst/>
                  <a:latin typeface="Gill Sans Light" charset="0"/>
                  <a:ea typeface="Gill Sans Light" charset="0"/>
                  <a:cs typeface="Gill Sans Light" charset="0"/>
                  <a:sym typeface="Gill Sans Light" charset="0"/>
                </a:endParaRPr>
              </a:p>
            </p:txBody>
          </p:sp>
          <p:sp>
            <p:nvSpPr>
              <p:cNvPr id="17" name="Ellipse 16"/>
              <p:cNvSpPr/>
              <p:nvPr/>
            </p:nvSpPr>
            <p:spPr bwMode="auto">
              <a:xfrm>
                <a:off x="11050628" y="7986146"/>
                <a:ext cx="144016" cy="14401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/>
              <a:extLst/>
            </p:spPr>
            <p:txBody>
              <a:bodyPr vert="horz" wrap="square" lIns="50800" tIns="50800" rIns="50800" bIns="508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342900" marR="0" indent="0" algn="ctr" defTabSz="5842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3600" b="0" i="0" u="none" strike="noStrike" cap="none" normalizeH="0" baseline="0" dirty="0" smtClean="0">
                  <a:ln>
                    <a:noFill/>
                  </a:ln>
                  <a:solidFill>
                    <a:srgbClr val="414141"/>
                  </a:solidFill>
                  <a:effectLst/>
                  <a:latin typeface="Gill Sans Light" charset="0"/>
                  <a:ea typeface="Gill Sans Light" charset="0"/>
                  <a:cs typeface="Gill Sans Light" charset="0"/>
                  <a:sym typeface="Gill Sans Light" charset="0"/>
                </a:endParaRPr>
              </a:p>
            </p:txBody>
          </p:sp>
          <p:sp>
            <p:nvSpPr>
              <p:cNvPr id="18" name="Ellipse 17"/>
              <p:cNvSpPr/>
              <p:nvPr/>
            </p:nvSpPr>
            <p:spPr bwMode="auto">
              <a:xfrm>
                <a:off x="11260790" y="7986146"/>
                <a:ext cx="144016" cy="1440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/>
            </p:spPr>
            <p:txBody>
              <a:bodyPr vert="horz" wrap="square" lIns="50800" tIns="50800" rIns="50800" bIns="508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342900" marR="0" indent="0" algn="ctr" defTabSz="5842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3600" b="0" i="0" u="none" strike="noStrike" cap="none" normalizeH="0" baseline="0" dirty="0" smtClean="0">
                  <a:ln>
                    <a:noFill/>
                  </a:ln>
                  <a:solidFill>
                    <a:srgbClr val="414141"/>
                  </a:solidFill>
                  <a:effectLst/>
                  <a:latin typeface="Gill Sans Light" charset="0"/>
                  <a:ea typeface="Gill Sans Light" charset="0"/>
                  <a:cs typeface="Gill Sans Light" charset="0"/>
                  <a:sym typeface="Gill Sans Light" charset="0"/>
                </a:endParaRPr>
              </a:p>
            </p:txBody>
          </p:sp>
          <p:sp>
            <p:nvSpPr>
              <p:cNvPr id="19" name="Ellipse 18"/>
              <p:cNvSpPr/>
              <p:nvPr/>
            </p:nvSpPr>
            <p:spPr bwMode="auto">
              <a:xfrm>
                <a:off x="11470952" y="7986146"/>
                <a:ext cx="144016" cy="144016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  <a:extLst/>
            </p:spPr>
            <p:txBody>
              <a:bodyPr vert="horz" wrap="square" lIns="50800" tIns="50800" rIns="50800" bIns="508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342900" marR="0" indent="0" algn="ctr" defTabSz="5842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3600" b="0" i="0" u="none" strike="noStrike" cap="none" normalizeH="0" baseline="0" dirty="0" smtClean="0">
                  <a:ln>
                    <a:noFill/>
                  </a:ln>
                  <a:solidFill>
                    <a:srgbClr val="414141"/>
                  </a:solidFill>
                  <a:effectLst/>
                  <a:latin typeface="Gill Sans Light" charset="0"/>
                  <a:ea typeface="Gill Sans Light" charset="0"/>
                  <a:cs typeface="Gill Sans Light" charset="0"/>
                  <a:sym typeface="Gill Sans Light" charset="0"/>
                </a:endParaRPr>
              </a:p>
            </p:txBody>
          </p:sp>
        </p:grpSp>
      </p:grpSp>
      <p:grpSp>
        <p:nvGrpSpPr>
          <p:cNvPr id="20" name="Gruppieren 19"/>
          <p:cNvGrpSpPr/>
          <p:nvPr/>
        </p:nvGrpSpPr>
        <p:grpSpPr>
          <a:xfrm>
            <a:off x="381720" y="7829128"/>
            <a:ext cx="7348487" cy="784830"/>
            <a:chOff x="2819400" y="8340221"/>
            <a:chExt cx="7348487" cy="784830"/>
          </a:xfrm>
        </p:grpSpPr>
        <p:sp>
          <p:nvSpPr>
            <p:cNvPr id="21" name="Textfeld 20"/>
            <p:cNvSpPr txBox="1"/>
            <p:nvPr/>
          </p:nvSpPr>
          <p:spPr>
            <a:xfrm>
              <a:off x="2819400" y="8340221"/>
              <a:ext cx="7348487" cy="784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de-DE" sz="1000" dirty="0" smtClean="0"/>
                <a:t>Die Form gibt an, ob der Meilenstein zum jeweiligen Planungs-Stand bereits als abgeschlossen galt oder noch in der Zukunft lag</a:t>
              </a:r>
            </a:p>
            <a:p>
              <a:pPr marL="514350" lvl="1" indent="-171450" algn="l">
                <a:lnSpc>
                  <a:spcPct val="150000"/>
                </a:lnSpc>
                <a:buFontTx/>
                <a:buChar char="-"/>
              </a:pPr>
              <a:r>
                <a:rPr lang="de-DE" sz="1000" dirty="0" smtClean="0"/>
                <a:t>Meilenstein gilt als abgeschlossen (Ergebnis mit der Ampel-Farbe bewertet)</a:t>
              </a:r>
            </a:p>
            <a:p>
              <a:pPr marL="514350" lvl="1" indent="-171450" algn="l">
                <a:lnSpc>
                  <a:spcPct val="150000"/>
                </a:lnSpc>
                <a:buFontTx/>
                <a:buChar char="-"/>
              </a:pPr>
              <a:r>
                <a:rPr lang="de-DE" sz="1000" dirty="0" smtClean="0"/>
                <a:t>Meilenstein Prognose (Ergebnis mit der Ampel-Farbe prognostiziert)</a:t>
              </a:r>
              <a:endParaRPr lang="de-DE" sz="1000" dirty="0"/>
            </a:p>
          </p:txBody>
        </p:sp>
        <p:sp>
          <p:nvSpPr>
            <p:cNvPr id="22" name="Ellipse 21"/>
            <p:cNvSpPr/>
            <p:nvPr/>
          </p:nvSpPr>
          <p:spPr bwMode="auto">
            <a:xfrm>
              <a:off x="2902000" y="8881619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extLst/>
          </p:spPr>
          <p:txBody>
            <a:bodyPr vert="horz" wrap="square" lIns="50800" tIns="50800" rIns="50800" bIns="50800" numCol="1" rtlCol="0" anchor="ctr" anchorCtr="0" compatLnSpc="1">
              <a:prstTxWarp prst="textNoShape">
                <a:avLst/>
              </a:prstTxWarp>
            </a:bodyPr>
            <a:lstStyle/>
            <a:p>
              <a:pPr marL="342900" marR="0" indent="0" algn="ctr" defTabSz="584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600" b="0" i="0" u="none" strike="noStrike" cap="none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endParaRPr>
            </a:p>
          </p:txBody>
        </p:sp>
        <p:sp>
          <p:nvSpPr>
            <p:cNvPr id="23" name="Rechteck 22"/>
            <p:cNvSpPr/>
            <p:nvPr/>
          </p:nvSpPr>
          <p:spPr bwMode="auto">
            <a:xfrm>
              <a:off x="2902000" y="8649595"/>
              <a:ext cx="144016" cy="144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  <a:extLst/>
          </p:spPr>
          <p:txBody>
            <a:bodyPr vert="horz" wrap="square" lIns="50800" tIns="50800" rIns="50800" bIns="50800" numCol="1" rtlCol="0" anchor="ctr" anchorCtr="0" compatLnSpc="1">
              <a:prstTxWarp prst="textNoShape">
                <a:avLst/>
              </a:prstTxWarp>
            </a:bodyPr>
            <a:lstStyle/>
            <a:p>
              <a:pPr marL="342900" marR="0" indent="0" algn="ctr" defTabSz="584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600" b="0" i="0" u="none" strike="noStrike" cap="none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endParaRPr>
            </a:p>
          </p:txBody>
        </p:sp>
      </p:grpSp>
      <p:grpSp>
        <p:nvGrpSpPr>
          <p:cNvPr id="24" name="Gruppieren 23"/>
          <p:cNvGrpSpPr/>
          <p:nvPr/>
        </p:nvGrpSpPr>
        <p:grpSpPr>
          <a:xfrm>
            <a:off x="8086576" y="7181056"/>
            <a:ext cx="4641014" cy="1015663"/>
            <a:chOff x="2819400" y="8340221"/>
            <a:chExt cx="4641014" cy="1015663"/>
          </a:xfrm>
        </p:grpSpPr>
        <p:sp>
          <p:nvSpPr>
            <p:cNvPr id="25" name="Textfeld 24"/>
            <p:cNvSpPr txBox="1"/>
            <p:nvPr/>
          </p:nvSpPr>
          <p:spPr>
            <a:xfrm>
              <a:off x="2819400" y="8340221"/>
              <a:ext cx="464101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de-DE" sz="1000" dirty="0" smtClean="0"/>
                <a:t>Die Größe der Form gibt an, ob der Status / die Bewertung aus dem Vormonat </a:t>
              </a:r>
              <a:br>
                <a:rPr lang="de-DE" sz="1000" dirty="0" smtClean="0"/>
              </a:br>
              <a:r>
                <a:rPr lang="de-DE" sz="1000" dirty="0" smtClean="0"/>
                <a:t>übernommen wurde oder ob es eine Bewertung in dem Berichtszeitraum gab</a:t>
              </a:r>
            </a:p>
            <a:p>
              <a:pPr marL="514350" lvl="1" indent="-171450" algn="l">
                <a:lnSpc>
                  <a:spcPct val="150000"/>
                </a:lnSpc>
                <a:buFontTx/>
                <a:buChar char="-"/>
              </a:pPr>
              <a:r>
                <a:rPr lang="de-DE" sz="1000" dirty="0" smtClean="0"/>
                <a:t>Die Bewertung ist aus dem angegebenen Berichtszeitraum</a:t>
              </a:r>
            </a:p>
            <a:p>
              <a:pPr marL="514350" lvl="1" indent="-171450" algn="l">
                <a:lnSpc>
                  <a:spcPct val="150000"/>
                </a:lnSpc>
                <a:buFontTx/>
                <a:buChar char="-"/>
              </a:pPr>
              <a:r>
                <a:rPr lang="de-DE" sz="1000" dirty="0" smtClean="0"/>
                <a:t>Die Bewertung stammt aus dem Vormonat</a:t>
              </a:r>
              <a:endParaRPr lang="de-DE" sz="1000" dirty="0"/>
            </a:p>
          </p:txBody>
        </p:sp>
        <p:sp>
          <p:nvSpPr>
            <p:cNvPr id="26" name="Ellipse 25"/>
            <p:cNvSpPr/>
            <p:nvPr/>
          </p:nvSpPr>
          <p:spPr bwMode="auto">
            <a:xfrm>
              <a:off x="2902000" y="8881619"/>
              <a:ext cx="180000" cy="18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extLst/>
          </p:spPr>
          <p:txBody>
            <a:bodyPr vert="horz" wrap="square" lIns="50800" tIns="50800" rIns="50800" bIns="50800" numCol="1" rtlCol="0" anchor="ctr" anchorCtr="0" compatLnSpc="1">
              <a:prstTxWarp prst="textNoShape">
                <a:avLst/>
              </a:prstTxWarp>
            </a:bodyPr>
            <a:lstStyle/>
            <a:p>
              <a:pPr marL="342900" marR="0" indent="0" algn="ctr" defTabSz="584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600" b="0" i="0" u="none" strike="noStrike" cap="none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endParaRPr>
            </a:p>
          </p:txBody>
        </p:sp>
      </p:grpSp>
      <p:sp>
        <p:nvSpPr>
          <p:cNvPr id="28" name="Ellipse 27"/>
          <p:cNvSpPr/>
          <p:nvPr/>
        </p:nvSpPr>
        <p:spPr bwMode="auto">
          <a:xfrm>
            <a:off x="8211412" y="7959192"/>
            <a:ext cx="108000" cy="108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635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Vergleich mit Projekt-Generik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 bwMode="auto">
          <a:xfrm>
            <a:off x="453728" y="1708448"/>
            <a:ext cx="12097344" cy="576064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400" dirty="0"/>
              <a:t>Vergleich mit Vorlage</a:t>
            </a:r>
            <a:endParaRPr kumimoji="0" lang="de-DE" sz="18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488661" y="7807271"/>
            <a:ext cx="55563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de-DE" sz="1000" dirty="0" smtClean="0"/>
              <a:t>Phasen Abschnitte sind identisch, wenn die Phasen jeweils in Grau dargestellt werden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de-DE" sz="1000" dirty="0" smtClean="0"/>
              <a:t>Phasen abschnitte sind unterschiedlich, wenn die Phasen in Ihrer Farbe dargestellt werden   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45417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Vergleich mit Beauftragungs-Stand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 bwMode="auto">
          <a:xfrm>
            <a:off x="453728" y="1708448"/>
            <a:ext cx="12097344" cy="576064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400" dirty="0"/>
              <a:t>Vergleich mit </a:t>
            </a:r>
            <a:r>
              <a:rPr lang="de-DE" sz="1400" dirty="0" smtClean="0"/>
              <a:t>Beauftragung</a:t>
            </a:r>
            <a:endParaRPr kumimoji="0" lang="de-DE" sz="18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488661" y="7807271"/>
            <a:ext cx="55563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de-DE" sz="1000" dirty="0" smtClean="0"/>
              <a:t>Phasen Abschnitte sind identisch, wenn die Phasen jeweils in Grau dargestellt werden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de-DE" sz="1000" dirty="0" smtClean="0"/>
              <a:t>Phasen abschnitte sind unterschiedlich, wenn die Phasen in Ihrer Farbe dargestellt werden   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58042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Projekt-Name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 bwMode="auto">
          <a:xfrm>
            <a:off x="453728" y="1492424"/>
            <a:ext cx="6048672" cy="324036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Ergebnis</a:t>
            </a:r>
            <a:endParaRPr kumimoji="0" lang="de-DE" sz="18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8" name="Rechteck 17"/>
          <p:cNvSpPr/>
          <p:nvPr/>
        </p:nvSpPr>
        <p:spPr bwMode="auto">
          <a:xfrm>
            <a:off x="6646416" y="1492424"/>
            <a:ext cx="6048672" cy="324036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Teilprojekte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9" name="Rechteck 18"/>
          <p:cNvSpPr/>
          <p:nvPr/>
        </p:nvSpPr>
        <p:spPr bwMode="auto">
          <a:xfrm>
            <a:off x="4558184" y="4804792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 smtClean="0">
                <a:solidFill>
                  <a:schemeClr val="bg2"/>
                </a:solidFill>
                <a:sym typeface="Noteworthy Bold" charset="0"/>
              </a:rPr>
              <a:t>Sonstige </a:t>
            </a:r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Kosten</a:t>
            </a:r>
          </a:p>
        </p:txBody>
      </p:sp>
      <p:sp>
        <p:nvSpPr>
          <p:cNvPr id="20" name="Rechteck 19"/>
          <p:cNvSpPr/>
          <p:nvPr/>
        </p:nvSpPr>
        <p:spPr bwMode="auto">
          <a:xfrm>
            <a:off x="453728" y="4805237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 smtClean="0">
                <a:solidFill>
                  <a:schemeClr val="bg2"/>
                </a:solidFill>
                <a:sym typeface="Noteworthy Bold" charset="0"/>
              </a:rPr>
              <a:t>Personalkosten</a:t>
            </a:r>
            <a:endParaRPr lang="de-DE" sz="1400" dirty="0">
              <a:solidFill>
                <a:schemeClr val="bg2"/>
              </a:solidFill>
              <a:sym typeface="Noteworthy Bold" charset="0"/>
            </a:endParaRPr>
          </a:p>
        </p:txBody>
      </p:sp>
      <p:sp>
        <p:nvSpPr>
          <p:cNvPr id="11" name="Rechteck 10"/>
          <p:cNvSpPr/>
          <p:nvPr/>
        </p:nvSpPr>
        <p:spPr bwMode="auto">
          <a:xfrm>
            <a:off x="8659422" y="4805237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Soll-Ist1 Gesamtkosten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6296842" y="7562190"/>
            <a:ext cx="65277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/>
              <a:t>Werte sind auf ganze Zahlen gerundet – deswegen kann es zu kleinen Unterschieden zwischen Detail- und Summenbetrachtung kommen </a:t>
            </a:r>
            <a:endParaRPr lang="de-DE" sz="800" dirty="0"/>
          </a:p>
        </p:txBody>
      </p:sp>
      <p:graphicFrame>
        <p:nvGraphicFramePr>
          <p:cNvPr id="13" name="Tabelle 12" title="Tabelle Projektstatu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992023"/>
              </p:ext>
            </p:extLst>
          </p:nvPr>
        </p:nvGraphicFramePr>
        <p:xfrm>
          <a:off x="453728" y="7829128"/>
          <a:ext cx="12241360" cy="8053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10057"/>
                <a:gridCol w="11731303"/>
              </a:tblGrid>
              <a:tr h="3600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endParaRPr lang="de-DE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r>
                        <a:rPr lang="de-DE" sz="1800" kern="1200" dirty="0" smtClean="0"/>
                        <a:t>Aktuelle Gesamt-Einschätzung</a:t>
                      </a:r>
                      <a:r>
                        <a:rPr lang="de-DE" sz="1800" kern="1200" baseline="0" dirty="0" smtClean="0"/>
                        <a:t> des Projekts</a:t>
                      </a:r>
                      <a:endParaRPr lang="de-DE" sz="18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395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endParaRPr lang="de-DE" sz="1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r>
                        <a:rPr lang="de-DE" sz="1100" dirty="0" smtClean="0">
                          <a:solidFill>
                            <a:schemeClr val="bg1"/>
                          </a:solidFill>
                          <a:latin typeface="+mn-lt"/>
                        </a:rPr>
                        <a:t>Erläuterung</a:t>
                      </a:r>
                      <a:endParaRPr lang="de-DE" sz="11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8628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">
  <a:themeElements>
    <a:clrScheme name="">
      <a:dk1>
        <a:srgbClr val="A5A5A5"/>
      </a:dk1>
      <a:lt1>
        <a:srgbClr val="414141"/>
      </a:lt1>
      <a:dk2>
        <a:srgbClr val="240041"/>
      </a:dk2>
      <a:lt2>
        <a:srgbClr val="484D4B"/>
      </a:lt2>
      <a:accent1>
        <a:srgbClr val="669AA4"/>
      </a:accent1>
      <a:accent2>
        <a:srgbClr val="930706"/>
      </a:accent2>
      <a:accent3>
        <a:srgbClr val="ACAAB0"/>
      </a:accent3>
      <a:accent4>
        <a:srgbClr val="363636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Larissa">
  <a:themeElements>
    <a:clrScheme name="">
      <a:dk1>
        <a:srgbClr val="572E2D"/>
      </a:dk1>
      <a:lt1>
        <a:srgbClr val="2A5657"/>
      </a:lt1>
      <a:dk2>
        <a:srgbClr val="484D4B"/>
      </a:dk2>
      <a:lt2>
        <a:srgbClr val="A5A5A5"/>
      </a:lt2>
      <a:accent1>
        <a:srgbClr val="669AA4"/>
      </a:accent1>
      <a:accent2>
        <a:srgbClr val="930706"/>
      </a:accent2>
      <a:accent3>
        <a:srgbClr val="ACB4B4"/>
      </a:accent3>
      <a:accent4>
        <a:srgbClr val="492625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953</Words>
  <Application>Microsoft Office PowerPoint</Application>
  <PresentationFormat>Benutzerdefiniert</PresentationFormat>
  <Paragraphs>411</Paragraphs>
  <Slides>8</Slides>
  <Notes>8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9" baseType="lpstr">
      <vt:lpstr>Larissa</vt:lpstr>
      <vt:lpstr>Aktueller Planungstand Termine</vt:lpstr>
      <vt:lpstr>Übersicht: Vergleich mit letztem Stand</vt:lpstr>
      <vt:lpstr>Übersicht: Vergleich mit Beauftragung</vt:lpstr>
      <vt:lpstr>Projekt-Name</vt:lpstr>
      <vt:lpstr>Projekt-Name</vt:lpstr>
      <vt:lpstr>Vergleich mit Projekt-Generik</vt:lpstr>
      <vt:lpstr>Vergleich mit Beauftragungs-Stand</vt:lpstr>
      <vt:lpstr>Projekt-Name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tom</dc:creator>
  <cp:lastModifiedBy>tom</cp:lastModifiedBy>
  <cp:revision>94</cp:revision>
  <cp:lastPrinted>2013-11-11T22:44:44Z</cp:lastPrinted>
  <dcterms:modified xsi:type="dcterms:W3CDTF">2014-02-06T06:08:53Z</dcterms:modified>
</cp:coreProperties>
</file>