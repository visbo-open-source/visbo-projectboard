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erverZoom="100000" strictFirstAndLastChars="0" saveSubsetFonts="1">
  <p:sldMasterIdLst>
    <p:sldMasterId id="2147483648" r:id="rId1"/>
  </p:sldMasterIdLst>
  <p:notesMasterIdLst>
    <p:notesMasterId r:id="rId5"/>
  </p:notesMasterIdLst>
  <p:sldIdLst>
    <p:sldId id="268" r:id="rId2"/>
    <p:sldId id="266" r:id="rId3"/>
    <p:sldId id="267" r:id="rId4"/>
  </p:sldIdLst>
  <p:sldSz cx="13004800" cy="9753600"/>
  <p:notesSz cx="6864350" cy="9996488"/>
  <p:defaultTextStyle>
    <a:defPPr>
      <a:defRPr lang="de-DE"/>
    </a:defPPr>
    <a:lvl1pPr algn="ctr" defTabSz="584200" rtl="0" fontAlgn="base" hangingPunct="0">
      <a:spcBef>
        <a:spcPct val="0"/>
      </a:spcBef>
      <a:spcAft>
        <a:spcPct val="0"/>
      </a:spcAft>
      <a:defRPr sz="3600" kern="1200">
        <a:solidFill>
          <a:srgbClr val="414141"/>
        </a:solidFill>
        <a:latin typeface="Gill Sans Light" charset="0"/>
        <a:ea typeface="Gill Sans Light" charset="0"/>
        <a:cs typeface="Gill Sans Light" charset="0"/>
        <a:sym typeface="Gill Sans Light" charset="0"/>
      </a:defRPr>
    </a:lvl1pPr>
    <a:lvl2pPr marL="342900" algn="ctr" defTabSz="584200" rtl="0" fontAlgn="base" hangingPunct="0">
      <a:spcBef>
        <a:spcPct val="0"/>
      </a:spcBef>
      <a:spcAft>
        <a:spcPct val="0"/>
      </a:spcAft>
      <a:defRPr sz="3600" kern="1200">
        <a:solidFill>
          <a:srgbClr val="414141"/>
        </a:solidFill>
        <a:latin typeface="Gill Sans Light" charset="0"/>
        <a:ea typeface="Gill Sans Light" charset="0"/>
        <a:cs typeface="Gill Sans Light" charset="0"/>
        <a:sym typeface="Gill Sans Light" charset="0"/>
      </a:defRPr>
    </a:lvl2pPr>
    <a:lvl3pPr marL="685800" algn="ctr" defTabSz="584200" rtl="0" fontAlgn="base" hangingPunct="0">
      <a:spcBef>
        <a:spcPct val="0"/>
      </a:spcBef>
      <a:spcAft>
        <a:spcPct val="0"/>
      </a:spcAft>
      <a:defRPr sz="3600" kern="1200">
        <a:solidFill>
          <a:srgbClr val="414141"/>
        </a:solidFill>
        <a:latin typeface="Gill Sans Light" charset="0"/>
        <a:ea typeface="Gill Sans Light" charset="0"/>
        <a:cs typeface="Gill Sans Light" charset="0"/>
        <a:sym typeface="Gill Sans Light" charset="0"/>
      </a:defRPr>
    </a:lvl3pPr>
    <a:lvl4pPr marL="1028700" algn="ctr" defTabSz="584200" rtl="0" fontAlgn="base" hangingPunct="0">
      <a:spcBef>
        <a:spcPct val="0"/>
      </a:spcBef>
      <a:spcAft>
        <a:spcPct val="0"/>
      </a:spcAft>
      <a:defRPr sz="3600" kern="1200">
        <a:solidFill>
          <a:srgbClr val="414141"/>
        </a:solidFill>
        <a:latin typeface="Gill Sans Light" charset="0"/>
        <a:ea typeface="Gill Sans Light" charset="0"/>
        <a:cs typeface="Gill Sans Light" charset="0"/>
        <a:sym typeface="Gill Sans Light" charset="0"/>
      </a:defRPr>
    </a:lvl4pPr>
    <a:lvl5pPr marL="1371600" algn="ctr" defTabSz="584200" rtl="0" fontAlgn="base" hangingPunct="0">
      <a:spcBef>
        <a:spcPct val="0"/>
      </a:spcBef>
      <a:spcAft>
        <a:spcPct val="0"/>
      </a:spcAft>
      <a:defRPr sz="3600" kern="1200">
        <a:solidFill>
          <a:srgbClr val="414141"/>
        </a:solidFill>
        <a:latin typeface="Gill Sans Light" charset="0"/>
        <a:ea typeface="Gill Sans Light" charset="0"/>
        <a:cs typeface="Gill Sans Light" charset="0"/>
        <a:sym typeface="Gill Sans Light" charset="0"/>
      </a:defRPr>
    </a:lvl5pPr>
    <a:lvl6pPr marL="2286000" algn="l" defTabSz="914400" rtl="0" eaLnBrk="1" latinLnBrk="0" hangingPunct="1">
      <a:defRPr sz="3600" kern="1200">
        <a:solidFill>
          <a:srgbClr val="414141"/>
        </a:solidFill>
        <a:latin typeface="Gill Sans Light" charset="0"/>
        <a:ea typeface="Gill Sans Light" charset="0"/>
        <a:cs typeface="Gill Sans Light" charset="0"/>
        <a:sym typeface="Gill Sans Light" charset="0"/>
      </a:defRPr>
    </a:lvl6pPr>
    <a:lvl7pPr marL="2743200" algn="l" defTabSz="914400" rtl="0" eaLnBrk="1" latinLnBrk="0" hangingPunct="1">
      <a:defRPr sz="3600" kern="1200">
        <a:solidFill>
          <a:srgbClr val="414141"/>
        </a:solidFill>
        <a:latin typeface="Gill Sans Light" charset="0"/>
        <a:ea typeface="Gill Sans Light" charset="0"/>
        <a:cs typeface="Gill Sans Light" charset="0"/>
        <a:sym typeface="Gill Sans Light" charset="0"/>
      </a:defRPr>
    </a:lvl7pPr>
    <a:lvl8pPr marL="3200400" algn="l" defTabSz="914400" rtl="0" eaLnBrk="1" latinLnBrk="0" hangingPunct="1">
      <a:defRPr sz="3600" kern="1200">
        <a:solidFill>
          <a:srgbClr val="414141"/>
        </a:solidFill>
        <a:latin typeface="Gill Sans Light" charset="0"/>
        <a:ea typeface="Gill Sans Light" charset="0"/>
        <a:cs typeface="Gill Sans Light" charset="0"/>
        <a:sym typeface="Gill Sans Light" charset="0"/>
      </a:defRPr>
    </a:lvl8pPr>
    <a:lvl9pPr marL="3657600" algn="l" defTabSz="914400" rtl="0" eaLnBrk="1" latinLnBrk="0" hangingPunct="1">
      <a:defRPr sz="3600" kern="1200">
        <a:solidFill>
          <a:srgbClr val="414141"/>
        </a:solidFill>
        <a:latin typeface="Gill Sans Light" charset="0"/>
        <a:ea typeface="Gill Sans Light" charset="0"/>
        <a:cs typeface="Gill Sans Light" charset="0"/>
        <a:sym typeface="Gill Sans Light" charset="0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5758FB7-9AC5-4552-8A53-C91805E547FA}" styleName="Designformatvorlage 1 - Akz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2D5ABB26-0587-4C30-8999-92F81FD0307C}" styleName="Keine Formatvorlage, kein Raster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9D7B26C5-4107-4FEC-AEDC-1716B250A1EF}" styleName="Helle Formatvorlag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FD0F851-EC5A-4D38-B0AD-8093EC10F338}" styleName="Helle Formatvorlage 1 - Akz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5A111915-BE36-4E01-A7E5-04B1672EAD32}" styleName="Helle Formatvorlage 2 - Akz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77792" autoAdjust="0"/>
  </p:normalViewPr>
  <p:slideViewPr>
    <p:cSldViewPr>
      <p:cViewPr>
        <p:scale>
          <a:sx n="66" d="100"/>
          <a:sy n="66" d="100"/>
        </p:scale>
        <p:origin x="-1044" y="18"/>
      </p:cViewPr>
      <p:guideLst>
        <p:guide orient="horz" pos="3072"/>
        <p:guide pos="4096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3" name="Rectangle 1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933450" y="749300"/>
            <a:ext cx="4997450" cy="37496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rnd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3074" name="Rectangle 2"/>
          <p:cNvSpPr>
            <a:spLocks noGrp="1"/>
          </p:cNvSpPr>
          <p:nvPr>
            <p:ph type="body" sz="quarter" idx="3"/>
          </p:nvPr>
        </p:nvSpPr>
        <p:spPr bwMode="auto">
          <a:xfrm>
            <a:off x="915247" y="4748332"/>
            <a:ext cx="5033857" cy="44984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rnd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vert="horz" wrap="square" lIns="96341" tIns="48171" rIns="96341" bIns="48171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smtClean="0">
                <a:sym typeface="Noteworthy Bold" charset="0"/>
              </a:rPr>
              <a:t>Click to edit Master text styles</a:t>
            </a:r>
          </a:p>
          <a:p>
            <a:pPr lvl="1"/>
            <a:r>
              <a:rPr lang="de-DE" smtClean="0">
                <a:sym typeface="Noteworthy Bold" charset="0"/>
              </a:rPr>
              <a:t>Second level</a:t>
            </a:r>
          </a:p>
          <a:p>
            <a:pPr lvl="2"/>
            <a:r>
              <a:rPr lang="de-DE" smtClean="0">
                <a:sym typeface="Noteworthy Bold" charset="0"/>
              </a:rPr>
              <a:t>Third level</a:t>
            </a:r>
          </a:p>
          <a:p>
            <a:pPr lvl="3"/>
            <a:r>
              <a:rPr lang="de-DE" smtClean="0">
                <a:sym typeface="Noteworthy Bold" charset="0"/>
              </a:rPr>
              <a:t>Fourth level</a:t>
            </a:r>
          </a:p>
          <a:p>
            <a:pPr lvl="4"/>
            <a:r>
              <a:rPr lang="de-DE" smtClean="0">
                <a:sym typeface="Noteworthy Bold" charset="0"/>
              </a:rPr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294167338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fontAlgn="base" hangingPunct="0">
      <a:lnSpc>
        <a:spcPts val="3500"/>
      </a:lnSpc>
      <a:spcBef>
        <a:spcPct val="0"/>
      </a:spcBef>
      <a:spcAft>
        <a:spcPct val="0"/>
      </a:spcAft>
      <a:defRPr sz="2400" kern="1200">
        <a:solidFill>
          <a:srgbClr val="572E2D"/>
        </a:solidFill>
        <a:latin typeface="Noteworthy Bold" charset="0"/>
        <a:ea typeface="Noteworthy Bold" charset="0"/>
        <a:cs typeface="Noteworthy Bold" charset="0"/>
        <a:sym typeface="Noteworthy Bold" charset="0"/>
      </a:defRPr>
    </a:lvl1pPr>
    <a:lvl2pPr marL="342900" algn="l" defTabSz="457200" rtl="0" fontAlgn="base" hangingPunct="0">
      <a:lnSpc>
        <a:spcPts val="3500"/>
      </a:lnSpc>
      <a:spcBef>
        <a:spcPct val="0"/>
      </a:spcBef>
      <a:spcAft>
        <a:spcPct val="0"/>
      </a:spcAft>
      <a:defRPr sz="2400" kern="1200">
        <a:solidFill>
          <a:srgbClr val="572E2D"/>
        </a:solidFill>
        <a:latin typeface="Noteworthy Bold" charset="0"/>
        <a:ea typeface="Noteworthy Bold" charset="0"/>
        <a:cs typeface="Noteworthy Bold" charset="0"/>
        <a:sym typeface="Noteworthy Bold" charset="0"/>
      </a:defRPr>
    </a:lvl2pPr>
    <a:lvl3pPr marL="685800" algn="l" defTabSz="457200" rtl="0" fontAlgn="base" hangingPunct="0">
      <a:lnSpc>
        <a:spcPts val="3500"/>
      </a:lnSpc>
      <a:spcBef>
        <a:spcPct val="0"/>
      </a:spcBef>
      <a:spcAft>
        <a:spcPct val="0"/>
      </a:spcAft>
      <a:defRPr sz="2400" kern="1200">
        <a:solidFill>
          <a:srgbClr val="572E2D"/>
        </a:solidFill>
        <a:latin typeface="Noteworthy Bold" charset="0"/>
        <a:ea typeface="Noteworthy Bold" charset="0"/>
        <a:cs typeface="Noteworthy Bold" charset="0"/>
        <a:sym typeface="Noteworthy Bold" charset="0"/>
      </a:defRPr>
    </a:lvl3pPr>
    <a:lvl4pPr marL="1028700" algn="l" defTabSz="457200" rtl="0" fontAlgn="base" hangingPunct="0">
      <a:lnSpc>
        <a:spcPts val="3500"/>
      </a:lnSpc>
      <a:spcBef>
        <a:spcPct val="0"/>
      </a:spcBef>
      <a:spcAft>
        <a:spcPct val="0"/>
      </a:spcAft>
      <a:defRPr sz="2400" kern="1200">
        <a:solidFill>
          <a:srgbClr val="572E2D"/>
        </a:solidFill>
        <a:latin typeface="Noteworthy Bold" charset="0"/>
        <a:ea typeface="Noteworthy Bold" charset="0"/>
        <a:cs typeface="Noteworthy Bold" charset="0"/>
        <a:sym typeface="Noteworthy Bold" charset="0"/>
      </a:defRPr>
    </a:lvl4pPr>
    <a:lvl5pPr marL="1371600" algn="l" defTabSz="457200" rtl="0" fontAlgn="base" hangingPunct="0">
      <a:lnSpc>
        <a:spcPts val="3500"/>
      </a:lnSpc>
      <a:spcBef>
        <a:spcPct val="0"/>
      </a:spcBef>
      <a:spcAft>
        <a:spcPct val="0"/>
      </a:spcAft>
      <a:defRPr sz="2400" kern="1200">
        <a:solidFill>
          <a:srgbClr val="572E2D"/>
        </a:solidFill>
        <a:latin typeface="Noteworthy Bold" charset="0"/>
        <a:ea typeface="Noteworthy Bold" charset="0"/>
        <a:cs typeface="Noteworthy Bold" charset="0"/>
        <a:sym typeface="Noteworthy Bold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sz="2500" dirty="0"/>
              <a:t>Projekt-Name</a:t>
            </a:r>
          </a:p>
          <a:p>
            <a:r>
              <a:rPr lang="de-DE" sz="2500" dirty="0"/>
              <a:t>Ergebnis</a:t>
            </a:r>
          </a:p>
          <a:p>
            <a:r>
              <a:rPr lang="de-DE" sz="2500" dirty="0"/>
              <a:t>Strategie/Risiko</a:t>
            </a:r>
          </a:p>
          <a:p>
            <a:r>
              <a:rPr lang="de-DE" sz="2500" dirty="0"/>
              <a:t>Teilprojekte</a:t>
            </a:r>
          </a:p>
          <a:p>
            <a:r>
              <a:rPr lang="de-DE" sz="2500" dirty="0"/>
              <a:t>Personalbedarf</a:t>
            </a:r>
          </a:p>
          <a:p>
            <a:r>
              <a:rPr lang="de-DE" sz="2500" dirty="0"/>
              <a:t>Personalkosten</a:t>
            </a:r>
          </a:p>
          <a:p>
            <a:r>
              <a:rPr lang="de-DE" sz="2500" dirty="0"/>
              <a:t>Sonstige Kosten</a:t>
            </a:r>
          </a:p>
          <a:p>
            <a:r>
              <a:rPr lang="de-DE" sz="2500" dirty="0"/>
              <a:t>Gesamtkosten</a:t>
            </a:r>
          </a:p>
          <a:p>
            <a:r>
              <a:rPr lang="de-DE" sz="2500" dirty="0"/>
              <a:t>Fortschritt Personalkosten</a:t>
            </a:r>
          </a:p>
          <a:p>
            <a:r>
              <a:rPr lang="de-DE" sz="2500" dirty="0"/>
              <a:t>Fortschritt Sonstige Kosten</a:t>
            </a:r>
          </a:p>
          <a:p>
            <a:r>
              <a:rPr lang="de-DE" sz="2500" dirty="0"/>
              <a:t>Fortschritt Gesamtkosten</a:t>
            </a:r>
          </a:p>
          <a:p>
            <a:r>
              <a:rPr lang="de-DE" sz="2500" dirty="0"/>
              <a:t>Fortschritt Rolle(…)</a:t>
            </a:r>
          </a:p>
          <a:p>
            <a:r>
              <a:rPr lang="de-DE" sz="2500" dirty="0"/>
              <a:t>Fortschritt Kostenart(…)</a:t>
            </a:r>
          </a:p>
          <a:p>
            <a:endParaRPr lang="de-DE" sz="2500" dirty="0"/>
          </a:p>
          <a:p>
            <a:r>
              <a:rPr lang="de-DE" sz="2500" dirty="0"/>
              <a:t>Soll-Ist1 Personalkosten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/>
              <a:t>Soll-Ist2 Personalkosten</a:t>
            </a:r>
          </a:p>
          <a:p>
            <a:endParaRPr lang="de-DE" sz="2500" dirty="0"/>
          </a:p>
          <a:p>
            <a:r>
              <a:rPr lang="de-DE" sz="2500" dirty="0"/>
              <a:t>Soll-Ist1 Sonstige Kosten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/>
              <a:t>Soll-Ist2 Sonstige Kosten</a:t>
            </a:r>
          </a:p>
          <a:p>
            <a:endParaRPr lang="de-DE" sz="2500" dirty="0"/>
          </a:p>
          <a:p>
            <a:r>
              <a:rPr lang="de-DE" sz="2500" dirty="0"/>
              <a:t>Soll-Ist1 Gesamtkosten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/>
              <a:t>Soll-Ist2 Gesamtkosten</a:t>
            </a:r>
          </a:p>
          <a:p>
            <a:endParaRPr lang="de-DE" sz="2500" dirty="0"/>
          </a:p>
          <a:p>
            <a:r>
              <a:rPr lang="de-DE" sz="2500" dirty="0"/>
              <a:t>Soll-Ist1 Rolle (…)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/>
              <a:t>Soll-Ist2 Rolle (…)</a:t>
            </a:r>
          </a:p>
          <a:p>
            <a:endParaRPr lang="de-DE" sz="2500" dirty="0"/>
          </a:p>
          <a:p>
            <a:r>
              <a:rPr lang="de-DE" sz="2500" dirty="0"/>
              <a:t>Soll-Ist1 Kostenart (…)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/>
              <a:t>Soll-Ist2 Kostenart (…)</a:t>
            </a:r>
          </a:p>
          <a:p>
            <a:endParaRPr lang="de-DE" sz="2500" dirty="0"/>
          </a:p>
          <a:p>
            <a:r>
              <a:rPr lang="de-DE" sz="2500" dirty="0"/>
              <a:t>Ampel-Farbe</a:t>
            </a:r>
          </a:p>
          <a:p>
            <a:r>
              <a:rPr lang="de-DE" sz="2500" dirty="0"/>
              <a:t>Beschreibung</a:t>
            </a:r>
          </a:p>
          <a:p>
            <a:r>
              <a:rPr lang="de-DE" sz="2500" dirty="0"/>
              <a:t>Stand:</a:t>
            </a:r>
          </a:p>
          <a:p>
            <a:r>
              <a:rPr lang="de-DE" sz="2500" dirty="0"/>
              <a:t>Laufzeit:</a:t>
            </a:r>
          </a:p>
          <a:p>
            <a:r>
              <a:rPr lang="de-DE" sz="2500" dirty="0"/>
              <a:t>Verantwortlich: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8220322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sz="2500" dirty="0"/>
              <a:t>Projekt-Name</a:t>
            </a:r>
          </a:p>
          <a:p>
            <a:r>
              <a:rPr lang="de-DE" sz="2500" dirty="0"/>
              <a:t>Ergebnis</a:t>
            </a:r>
          </a:p>
          <a:p>
            <a:r>
              <a:rPr lang="de-DE" sz="2500" dirty="0"/>
              <a:t>Strategie/Risiko</a:t>
            </a:r>
          </a:p>
          <a:p>
            <a:r>
              <a:rPr lang="de-DE" sz="2500" dirty="0"/>
              <a:t>Teilprojekte</a:t>
            </a:r>
          </a:p>
          <a:p>
            <a:r>
              <a:rPr lang="de-DE" sz="2500" dirty="0"/>
              <a:t>Personalbedarf</a:t>
            </a:r>
          </a:p>
          <a:p>
            <a:r>
              <a:rPr lang="de-DE" sz="2500" dirty="0"/>
              <a:t>Personalkosten</a:t>
            </a:r>
          </a:p>
          <a:p>
            <a:r>
              <a:rPr lang="de-DE" sz="2500" dirty="0"/>
              <a:t>Sonstige Kosten</a:t>
            </a:r>
          </a:p>
          <a:p>
            <a:r>
              <a:rPr lang="de-DE" sz="2500" dirty="0"/>
              <a:t>Gesamtkosten</a:t>
            </a:r>
          </a:p>
          <a:p>
            <a:r>
              <a:rPr lang="de-DE" sz="2500" dirty="0"/>
              <a:t>Fortschritt Personalkosten</a:t>
            </a:r>
          </a:p>
          <a:p>
            <a:r>
              <a:rPr lang="de-DE" sz="2500" dirty="0"/>
              <a:t>Fortschritt Sonstige Kosten</a:t>
            </a:r>
          </a:p>
          <a:p>
            <a:r>
              <a:rPr lang="de-DE" sz="2500" dirty="0"/>
              <a:t>Fortschritt Gesamtkosten</a:t>
            </a:r>
          </a:p>
          <a:p>
            <a:r>
              <a:rPr lang="de-DE" sz="2500" dirty="0"/>
              <a:t>Fortschritt Rolle(…)</a:t>
            </a:r>
          </a:p>
          <a:p>
            <a:r>
              <a:rPr lang="de-DE" sz="2500" dirty="0"/>
              <a:t>Fortschritt Kostenart(…)</a:t>
            </a:r>
          </a:p>
          <a:p>
            <a:endParaRPr lang="de-DE" sz="2500" dirty="0"/>
          </a:p>
          <a:p>
            <a:r>
              <a:rPr lang="de-DE" sz="2500" dirty="0"/>
              <a:t>Soll-Ist1 Personalkosten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/>
              <a:t>Soll-Ist2 Personalkosten</a:t>
            </a:r>
          </a:p>
          <a:p>
            <a:endParaRPr lang="de-DE" sz="2500" dirty="0"/>
          </a:p>
          <a:p>
            <a:r>
              <a:rPr lang="de-DE" sz="2500" dirty="0"/>
              <a:t>Soll-Ist1 Sonstige Kosten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/>
              <a:t>Soll-Ist2 Sonstige Kosten</a:t>
            </a:r>
          </a:p>
          <a:p>
            <a:endParaRPr lang="de-DE" sz="2500" dirty="0"/>
          </a:p>
          <a:p>
            <a:r>
              <a:rPr lang="de-DE" sz="2500" dirty="0"/>
              <a:t>Soll-Ist1 Gesamtkosten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/>
              <a:t>Soll-Ist2 Gesamtkosten</a:t>
            </a:r>
          </a:p>
          <a:p>
            <a:endParaRPr lang="de-DE" sz="2500" dirty="0"/>
          </a:p>
          <a:p>
            <a:r>
              <a:rPr lang="de-DE" sz="2500" dirty="0"/>
              <a:t>Soll-Ist1 Rolle (…)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/>
              <a:t>Soll-Ist2 Rolle (…)</a:t>
            </a:r>
          </a:p>
          <a:p>
            <a:endParaRPr lang="de-DE" sz="2500" dirty="0"/>
          </a:p>
          <a:p>
            <a:r>
              <a:rPr lang="de-DE" sz="2500" dirty="0"/>
              <a:t>Soll-Ist1 Kostenart (…)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/>
              <a:t>Soll-Ist2 Kostenart (…)</a:t>
            </a:r>
          </a:p>
          <a:p>
            <a:endParaRPr lang="de-DE" sz="2500" dirty="0"/>
          </a:p>
          <a:p>
            <a:r>
              <a:rPr lang="de-DE" sz="2500" dirty="0"/>
              <a:t>Ampel-Farbe</a:t>
            </a:r>
          </a:p>
          <a:p>
            <a:r>
              <a:rPr lang="de-DE" sz="2500" dirty="0"/>
              <a:t>Beschreibung</a:t>
            </a:r>
          </a:p>
          <a:p>
            <a:r>
              <a:rPr lang="de-DE" sz="2500" dirty="0"/>
              <a:t>Stand:</a:t>
            </a:r>
          </a:p>
          <a:p>
            <a:r>
              <a:rPr lang="de-DE" sz="2500" dirty="0"/>
              <a:t>Laufzeit:</a:t>
            </a:r>
          </a:p>
          <a:p>
            <a:r>
              <a:rPr lang="de-DE" sz="2500" dirty="0"/>
              <a:t>Verantwortlich: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82203225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sz="2500" dirty="0"/>
              <a:t>Projekt-Name</a:t>
            </a:r>
          </a:p>
          <a:p>
            <a:r>
              <a:rPr lang="de-DE" sz="2500" dirty="0"/>
              <a:t>Ergebnis</a:t>
            </a:r>
          </a:p>
          <a:p>
            <a:r>
              <a:rPr lang="de-DE" sz="2500" dirty="0"/>
              <a:t>Strategie/Risiko</a:t>
            </a:r>
          </a:p>
          <a:p>
            <a:r>
              <a:rPr lang="de-DE" sz="2500" dirty="0"/>
              <a:t>Teilprojekte</a:t>
            </a:r>
          </a:p>
          <a:p>
            <a:r>
              <a:rPr lang="de-DE" sz="2500" dirty="0"/>
              <a:t>Personalbedarf</a:t>
            </a:r>
          </a:p>
          <a:p>
            <a:r>
              <a:rPr lang="de-DE" sz="2500" dirty="0"/>
              <a:t>Personalkosten</a:t>
            </a:r>
          </a:p>
          <a:p>
            <a:r>
              <a:rPr lang="de-DE" sz="2500" dirty="0"/>
              <a:t>Sonstige Kosten</a:t>
            </a:r>
          </a:p>
          <a:p>
            <a:r>
              <a:rPr lang="de-DE" sz="2500" dirty="0"/>
              <a:t>Gesamtkosten</a:t>
            </a:r>
          </a:p>
          <a:p>
            <a:r>
              <a:rPr lang="de-DE" sz="2500" dirty="0"/>
              <a:t>Fortschritt Personalkosten</a:t>
            </a:r>
          </a:p>
          <a:p>
            <a:r>
              <a:rPr lang="de-DE" sz="2500" dirty="0"/>
              <a:t>Fortschritt Sonstige Kosten</a:t>
            </a:r>
          </a:p>
          <a:p>
            <a:r>
              <a:rPr lang="de-DE" sz="2500" dirty="0"/>
              <a:t>Fortschritt Gesamtkosten</a:t>
            </a:r>
          </a:p>
          <a:p>
            <a:r>
              <a:rPr lang="de-DE" sz="2500" dirty="0"/>
              <a:t>Fortschritt Rolle(…)</a:t>
            </a:r>
          </a:p>
          <a:p>
            <a:r>
              <a:rPr lang="de-DE" sz="2500" dirty="0"/>
              <a:t>Fortschritt Kostenart(…)</a:t>
            </a:r>
          </a:p>
          <a:p>
            <a:endParaRPr lang="de-DE" sz="2500" dirty="0"/>
          </a:p>
          <a:p>
            <a:r>
              <a:rPr lang="de-DE" sz="2500" dirty="0"/>
              <a:t>Soll-Ist1 Personalkosten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/>
              <a:t>Soll-Ist2 Personalkosten</a:t>
            </a:r>
          </a:p>
          <a:p>
            <a:endParaRPr lang="de-DE" sz="2500" dirty="0"/>
          </a:p>
          <a:p>
            <a:r>
              <a:rPr lang="de-DE" sz="2500" dirty="0"/>
              <a:t>Soll-Ist1 Sonstige Kosten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/>
              <a:t>Soll-Ist2 Sonstige Kosten</a:t>
            </a:r>
          </a:p>
          <a:p>
            <a:endParaRPr lang="de-DE" sz="2500" dirty="0"/>
          </a:p>
          <a:p>
            <a:r>
              <a:rPr lang="de-DE" sz="2500" dirty="0"/>
              <a:t>Soll-Ist1 Gesamtkosten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/>
              <a:t>Soll-Ist2 Gesamtkosten</a:t>
            </a:r>
          </a:p>
          <a:p>
            <a:endParaRPr lang="de-DE" sz="2500" dirty="0"/>
          </a:p>
          <a:p>
            <a:r>
              <a:rPr lang="de-DE" sz="2500" dirty="0"/>
              <a:t>Soll-Ist1 Rolle (…)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/>
              <a:t>Soll-Ist2 Rolle (…)</a:t>
            </a:r>
          </a:p>
          <a:p>
            <a:endParaRPr lang="de-DE" sz="2500" dirty="0"/>
          </a:p>
          <a:p>
            <a:r>
              <a:rPr lang="de-DE" sz="2500" dirty="0"/>
              <a:t>Soll-Ist1 Kostenart (…)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/>
              <a:t>Soll-Ist2 Kostenart (…)</a:t>
            </a:r>
          </a:p>
          <a:p>
            <a:endParaRPr lang="de-DE" sz="2500" dirty="0"/>
          </a:p>
          <a:p>
            <a:r>
              <a:rPr lang="de-DE" sz="2500" dirty="0"/>
              <a:t>Ampel-Farbe</a:t>
            </a:r>
          </a:p>
          <a:p>
            <a:r>
              <a:rPr lang="de-DE" sz="2500" dirty="0"/>
              <a:t>Beschreibung</a:t>
            </a:r>
          </a:p>
          <a:p>
            <a:r>
              <a:rPr lang="de-DE" sz="2500" dirty="0"/>
              <a:t>Stand:</a:t>
            </a:r>
          </a:p>
          <a:p>
            <a:r>
              <a:rPr lang="de-DE" sz="2500" dirty="0"/>
              <a:t>Laufzeit:</a:t>
            </a:r>
          </a:p>
          <a:p>
            <a:r>
              <a:rPr lang="de-DE" sz="2500" dirty="0"/>
              <a:t>Verantwortlich: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8220322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974725" y="3030538"/>
            <a:ext cx="11055350" cy="2090737"/>
          </a:xfrm>
        </p:spPr>
        <p:txBody>
          <a:bodyPr/>
          <a:lstStyle/>
          <a:p>
            <a:r>
              <a:rPr lang="de-DE" dirty="0" smtClean="0"/>
              <a:t>Titelmasterformat durch Klicken bearbeiten</a:t>
            </a:r>
            <a:endParaRPr lang="de-DE" dirty="0"/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1951038" y="5527675"/>
            <a:ext cx="9102725" cy="2492375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de-DE" smtClean="0"/>
              <a:t>Formatvorlage des Untertitelmasters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868434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355600" y="484312"/>
            <a:ext cx="12293600" cy="1282700"/>
          </a:xfrm>
        </p:spPr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677279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auto">
      <p:bgPr>
        <a:blipFill dpi="0" rotWithShape="0">
          <a:blip r:embed="rId4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5" name="Rectangle 1"/>
          <p:cNvSpPr>
            <a:spLocks noGrp="1"/>
          </p:cNvSpPr>
          <p:nvPr>
            <p:ph type="title"/>
          </p:nvPr>
        </p:nvSpPr>
        <p:spPr bwMode="auto">
          <a:xfrm>
            <a:off x="355600" y="7416800"/>
            <a:ext cx="12293600" cy="12827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de-DE" dirty="0" smtClean="0">
                <a:sym typeface="Gill Sans Light" charset="0"/>
              </a:rPr>
              <a:t>Click </a:t>
            </a:r>
            <a:r>
              <a:rPr lang="de-DE" dirty="0" err="1" smtClean="0">
                <a:sym typeface="Gill Sans Light" charset="0"/>
              </a:rPr>
              <a:t>to</a:t>
            </a:r>
            <a:r>
              <a:rPr lang="de-DE" dirty="0" smtClean="0">
                <a:sym typeface="Gill Sans Light" charset="0"/>
              </a:rPr>
              <a:t> </a:t>
            </a:r>
            <a:r>
              <a:rPr lang="de-DE" dirty="0" err="1" smtClean="0">
                <a:sym typeface="Gill Sans Light" charset="0"/>
              </a:rPr>
              <a:t>edit</a:t>
            </a:r>
            <a:r>
              <a:rPr lang="de-DE" dirty="0" smtClean="0">
                <a:sym typeface="Gill Sans Light" charset="0"/>
              </a:rPr>
              <a:t> Master title style</a:t>
            </a:r>
          </a:p>
        </p:txBody>
      </p:sp>
      <p:pic>
        <p:nvPicPr>
          <p:cNvPr id="3" name="Grafik 2"/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32412" y="9316381"/>
            <a:ext cx="963712" cy="400031"/>
          </a:xfrm>
          <a:prstGeom prst="rect">
            <a:avLst/>
          </a:prstGeom>
        </p:spPr>
      </p:pic>
      <p:sp>
        <p:nvSpPr>
          <p:cNvPr id="4" name="Textfeld 3"/>
          <p:cNvSpPr txBox="1"/>
          <p:nvPr userDrawn="1"/>
        </p:nvSpPr>
        <p:spPr>
          <a:xfrm>
            <a:off x="10900492" y="9414811"/>
            <a:ext cx="107593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50" dirty="0" err="1" smtClean="0"/>
              <a:t>Generated</a:t>
            </a:r>
            <a:r>
              <a:rPr lang="de-DE" sz="1050" dirty="0" smtClean="0"/>
              <a:t> by </a:t>
            </a:r>
            <a:endParaRPr lang="de-DE" sz="1050" dirty="0"/>
          </a:p>
        </p:txBody>
      </p:sp>
    </p:spTree>
  </p:cSld>
  <p:clrMap bg1="dk2" tx1="lt1" bg2="dk1" tx2="lt2" accent1="accent1" accent2="accent2" accent3="accent3" accent4="accent4" accent5="accent5" accent6="accent6" hlink="hlink" folHlink="folHlink"/>
  <p:sldLayoutIdLst>
    <p:sldLayoutId id="2147483650" r:id="rId1"/>
    <p:sldLayoutId id="2147483654" r:id="rId2"/>
  </p:sldLayoutIdLst>
  <p:hf hdr="0" dt="0"/>
  <p:txStyles>
    <p:titleStyle>
      <a:lvl1pPr algn="ctr" defTabSz="584200" rtl="0" fontAlgn="base" hangingPunct="0">
        <a:spcBef>
          <a:spcPct val="0"/>
        </a:spcBef>
        <a:spcAft>
          <a:spcPct val="0"/>
        </a:spcAft>
        <a:defRPr sz="7200">
          <a:solidFill>
            <a:srgbClr val="414141"/>
          </a:solidFill>
          <a:latin typeface="+mj-lt"/>
          <a:ea typeface="+mj-ea"/>
          <a:cs typeface="+mj-cs"/>
          <a:sym typeface="Gill Sans Light" charset="0"/>
        </a:defRPr>
      </a:lvl1pPr>
      <a:lvl2pPr algn="ctr" defTabSz="584200" rtl="0" fontAlgn="base" hangingPunct="0">
        <a:spcBef>
          <a:spcPct val="0"/>
        </a:spcBef>
        <a:spcAft>
          <a:spcPct val="0"/>
        </a:spcAft>
        <a:defRPr sz="7200">
          <a:solidFill>
            <a:srgbClr val="414141"/>
          </a:solidFill>
          <a:latin typeface="Gill Sans Light" charset="0"/>
          <a:ea typeface="Gill Sans Light" charset="0"/>
          <a:cs typeface="Gill Sans Light" charset="0"/>
          <a:sym typeface="Gill Sans Light" charset="0"/>
        </a:defRPr>
      </a:lvl2pPr>
      <a:lvl3pPr algn="ctr" defTabSz="584200" rtl="0" fontAlgn="base" hangingPunct="0">
        <a:spcBef>
          <a:spcPct val="0"/>
        </a:spcBef>
        <a:spcAft>
          <a:spcPct val="0"/>
        </a:spcAft>
        <a:defRPr sz="7200">
          <a:solidFill>
            <a:srgbClr val="414141"/>
          </a:solidFill>
          <a:latin typeface="Gill Sans Light" charset="0"/>
          <a:ea typeface="Gill Sans Light" charset="0"/>
          <a:cs typeface="Gill Sans Light" charset="0"/>
          <a:sym typeface="Gill Sans Light" charset="0"/>
        </a:defRPr>
      </a:lvl3pPr>
      <a:lvl4pPr algn="ctr" defTabSz="584200" rtl="0" fontAlgn="base" hangingPunct="0">
        <a:spcBef>
          <a:spcPct val="0"/>
        </a:spcBef>
        <a:spcAft>
          <a:spcPct val="0"/>
        </a:spcAft>
        <a:defRPr sz="7200">
          <a:solidFill>
            <a:srgbClr val="414141"/>
          </a:solidFill>
          <a:latin typeface="Gill Sans Light" charset="0"/>
          <a:ea typeface="Gill Sans Light" charset="0"/>
          <a:cs typeface="Gill Sans Light" charset="0"/>
          <a:sym typeface="Gill Sans Light" charset="0"/>
        </a:defRPr>
      </a:lvl4pPr>
      <a:lvl5pPr algn="ctr" defTabSz="584200" rtl="0" fontAlgn="base" hangingPunct="0">
        <a:spcBef>
          <a:spcPct val="0"/>
        </a:spcBef>
        <a:spcAft>
          <a:spcPct val="0"/>
        </a:spcAft>
        <a:defRPr sz="7200">
          <a:solidFill>
            <a:srgbClr val="414141"/>
          </a:solidFill>
          <a:latin typeface="Gill Sans Light" charset="0"/>
          <a:ea typeface="Gill Sans Light" charset="0"/>
          <a:cs typeface="Gill Sans Light" charset="0"/>
          <a:sym typeface="Gill Sans Light" charset="0"/>
        </a:defRPr>
      </a:lvl5pPr>
      <a:lvl6pPr marL="457200" algn="ctr" defTabSz="584200" rtl="0" fontAlgn="base" hangingPunct="0">
        <a:spcBef>
          <a:spcPct val="0"/>
        </a:spcBef>
        <a:spcAft>
          <a:spcPct val="0"/>
        </a:spcAft>
        <a:defRPr sz="7200">
          <a:solidFill>
            <a:srgbClr val="414141"/>
          </a:solidFill>
          <a:latin typeface="Gill Sans Light" charset="0"/>
          <a:ea typeface="Gill Sans Light" charset="0"/>
          <a:cs typeface="Gill Sans Light" charset="0"/>
          <a:sym typeface="Gill Sans Light" charset="0"/>
        </a:defRPr>
      </a:lvl6pPr>
      <a:lvl7pPr marL="914400" algn="ctr" defTabSz="584200" rtl="0" fontAlgn="base" hangingPunct="0">
        <a:spcBef>
          <a:spcPct val="0"/>
        </a:spcBef>
        <a:spcAft>
          <a:spcPct val="0"/>
        </a:spcAft>
        <a:defRPr sz="7200">
          <a:solidFill>
            <a:srgbClr val="414141"/>
          </a:solidFill>
          <a:latin typeface="Gill Sans Light" charset="0"/>
          <a:ea typeface="Gill Sans Light" charset="0"/>
          <a:cs typeface="Gill Sans Light" charset="0"/>
          <a:sym typeface="Gill Sans Light" charset="0"/>
        </a:defRPr>
      </a:lvl7pPr>
      <a:lvl8pPr marL="1371600" algn="ctr" defTabSz="584200" rtl="0" fontAlgn="base" hangingPunct="0">
        <a:spcBef>
          <a:spcPct val="0"/>
        </a:spcBef>
        <a:spcAft>
          <a:spcPct val="0"/>
        </a:spcAft>
        <a:defRPr sz="7200">
          <a:solidFill>
            <a:srgbClr val="414141"/>
          </a:solidFill>
          <a:latin typeface="Gill Sans Light" charset="0"/>
          <a:ea typeface="Gill Sans Light" charset="0"/>
          <a:cs typeface="Gill Sans Light" charset="0"/>
          <a:sym typeface="Gill Sans Light" charset="0"/>
        </a:defRPr>
      </a:lvl8pPr>
      <a:lvl9pPr marL="1828800" algn="ctr" defTabSz="584200" rtl="0" fontAlgn="base" hangingPunct="0">
        <a:spcBef>
          <a:spcPct val="0"/>
        </a:spcBef>
        <a:spcAft>
          <a:spcPct val="0"/>
        </a:spcAft>
        <a:defRPr sz="7200">
          <a:solidFill>
            <a:srgbClr val="414141"/>
          </a:solidFill>
          <a:latin typeface="Gill Sans Light" charset="0"/>
          <a:ea typeface="Gill Sans Light" charset="0"/>
          <a:cs typeface="Gill Sans Light" charset="0"/>
          <a:sym typeface="Gill Sans Light" charset="0"/>
        </a:defRPr>
      </a:lvl9pPr>
    </p:titleStyle>
    <p:bodyStyle>
      <a:lvl1pPr algn="ctr" defTabSz="584200" rtl="0" fontAlgn="base" hangingPunct="0">
        <a:spcBef>
          <a:spcPct val="0"/>
        </a:spcBef>
        <a:spcAft>
          <a:spcPct val="0"/>
        </a:spcAft>
        <a:defRPr sz="3600">
          <a:solidFill>
            <a:srgbClr val="414141"/>
          </a:solidFill>
          <a:latin typeface="+mn-lt"/>
          <a:ea typeface="+mn-ea"/>
          <a:cs typeface="+mn-cs"/>
          <a:sym typeface="Gill Sans Light" charset="0"/>
        </a:defRPr>
      </a:lvl1pPr>
      <a:lvl2pPr marL="342900" algn="ctr" defTabSz="584200" rtl="0" fontAlgn="base" hangingPunct="0">
        <a:spcBef>
          <a:spcPct val="0"/>
        </a:spcBef>
        <a:spcAft>
          <a:spcPct val="0"/>
        </a:spcAft>
        <a:defRPr sz="3600">
          <a:solidFill>
            <a:srgbClr val="414141"/>
          </a:solidFill>
          <a:latin typeface="+mn-lt"/>
          <a:ea typeface="+mn-ea"/>
          <a:cs typeface="+mn-cs"/>
          <a:sym typeface="Gill Sans Light" charset="0"/>
        </a:defRPr>
      </a:lvl2pPr>
      <a:lvl3pPr marL="685800" algn="ctr" defTabSz="584200" rtl="0" fontAlgn="base" hangingPunct="0">
        <a:spcBef>
          <a:spcPct val="0"/>
        </a:spcBef>
        <a:spcAft>
          <a:spcPct val="0"/>
        </a:spcAft>
        <a:defRPr sz="3600">
          <a:solidFill>
            <a:srgbClr val="414141"/>
          </a:solidFill>
          <a:latin typeface="+mn-lt"/>
          <a:ea typeface="+mn-ea"/>
          <a:cs typeface="+mn-cs"/>
          <a:sym typeface="Gill Sans Light" charset="0"/>
        </a:defRPr>
      </a:lvl3pPr>
      <a:lvl4pPr marL="1028700" algn="ctr" defTabSz="584200" rtl="0" fontAlgn="base" hangingPunct="0">
        <a:spcBef>
          <a:spcPct val="0"/>
        </a:spcBef>
        <a:spcAft>
          <a:spcPct val="0"/>
        </a:spcAft>
        <a:defRPr sz="3600">
          <a:solidFill>
            <a:srgbClr val="414141"/>
          </a:solidFill>
          <a:latin typeface="+mn-lt"/>
          <a:ea typeface="+mn-ea"/>
          <a:cs typeface="+mn-cs"/>
          <a:sym typeface="Gill Sans Light" charset="0"/>
        </a:defRPr>
      </a:lvl4pPr>
      <a:lvl5pPr marL="1371600" algn="ctr" defTabSz="584200" rtl="0" fontAlgn="base" hangingPunct="0">
        <a:spcBef>
          <a:spcPct val="0"/>
        </a:spcBef>
        <a:spcAft>
          <a:spcPct val="0"/>
        </a:spcAft>
        <a:defRPr sz="3600">
          <a:solidFill>
            <a:srgbClr val="414141"/>
          </a:solidFill>
          <a:latin typeface="+mn-lt"/>
          <a:ea typeface="+mn-ea"/>
          <a:cs typeface="+mn-cs"/>
          <a:sym typeface="Gill Sans Light" charset="0"/>
        </a:defRPr>
      </a:lvl5pPr>
      <a:lvl6pPr marL="1828800" algn="ctr" defTabSz="584200" rtl="0" fontAlgn="base" hangingPunct="0">
        <a:spcBef>
          <a:spcPct val="0"/>
        </a:spcBef>
        <a:spcAft>
          <a:spcPct val="0"/>
        </a:spcAft>
        <a:defRPr sz="3600">
          <a:solidFill>
            <a:srgbClr val="414141"/>
          </a:solidFill>
          <a:latin typeface="+mn-lt"/>
          <a:ea typeface="+mn-ea"/>
          <a:cs typeface="+mn-cs"/>
          <a:sym typeface="Gill Sans Light" charset="0"/>
        </a:defRPr>
      </a:lvl6pPr>
      <a:lvl7pPr marL="2286000" algn="ctr" defTabSz="584200" rtl="0" fontAlgn="base" hangingPunct="0">
        <a:spcBef>
          <a:spcPct val="0"/>
        </a:spcBef>
        <a:spcAft>
          <a:spcPct val="0"/>
        </a:spcAft>
        <a:defRPr sz="3600">
          <a:solidFill>
            <a:srgbClr val="414141"/>
          </a:solidFill>
          <a:latin typeface="+mn-lt"/>
          <a:ea typeface="+mn-ea"/>
          <a:cs typeface="+mn-cs"/>
          <a:sym typeface="Gill Sans Light" charset="0"/>
        </a:defRPr>
      </a:lvl7pPr>
      <a:lvl8pPr marL="2743200" algn="ctr" defTabSz="584200" rtl="0" fontAlgn="base" hangingPunct="0">
        <a:spcBef>
          <a:spcPct val="0"/>
        </a:spcBef>
        <a:spcAft>
          <a:spcPct val="0"/>
        </a:spcAft>
        <a:defRPr sz="3600">
          <a:solidFill>
            <a:srgbClr val="414141"/>
          </a:solidFill>
          <a:latin typeface="+mn-lt"/>
          <a:ea typeface="+mn-ea"/>
          <a:cs typeface="+mn-cs"/>
          <a:sym typeface="Gill Sans Light" charset="0"/>
        </a:defRPr>
      </a:lvl8pPr>
      <a:lvl9pPr marL="3200400" algn="ctr" defTabSz="584200" rtl="0" fontAlgn="base" hangingPunct="0">
        <a:spcBef>
          <a:spcPct val="0"/>
        </a:spcBef>
        <a:spcAft>
          <a:spcPct val="0"/>
        </a:spcAft>
        <a:defRPr sz="3600">
          <a:solidFill>
            <a:srgbClr val="414141"/>
          </a:solidFill>
          <a:latin typeface="+mn-lt"/>
          <a:ea typeface="+mn-ea"/>
          <a:cs typeface="+mn-cs"/>
          <a:sym typeface="Gill Sans Light" charset="0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650875" y="390525"/>
            <a:ext cx="11703050" cy="1245915"/>
          </a:xfrm>
        </p:spPr>
        <p:txBody>
          <a:bodyPr/>
          <a:lstStyle/>
          <a:p>
            <a:r>
              <a:rPr lang="de-DE" sz="4400" dirty="0"/>
              <a:t>Aktueller Planungstand Termine</a:t>
            </a:r>
            <a:endParaRPr lang="de-DE" dirty="0"/>
          </a:p>
        </p:txBody>
      </p:sp>
      <p:sp>
        <p:nvSpPr>
          <p:cNvPr id="8" name="Rechteck 7"/>
          <p:cNvSpPr/>
          <p:nvPr/>
        </p:nvSpPr>
        <p:spPr bwMode="auto">
          <a:xfrm>
            <a:off x="453728" y="1708448"/>
            <a:ext cx="12097344" cy="1627156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5080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 marR="0" indent="0" algn="ctr" defTabSz="584200" rtl="0" eaLnBrk="1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sz="1400" b="0" i="0" u="none" strike="noStrike" cap="none" normalizeH="0" baseline="0" dirty="0" smtClean="0">
                <a:ln>
                  <a:noFill/>
                </a:ln>
                <a:solidFill>
                  <a:schemeClr val="bg2"/>
                </a:solidFill>
                <a:effectLst/>
                <a:latin typeface="Gill Sans Light" charset="0"/>
                <a:ea typeface="Gill Sans Light" charset="0"/>
                <a:cs typeface="Gill Sans Light" charset="0"/>
                <a:sym typeface="Gill Sans Light" charset="0"/>
              </a:rPr>
              <a:t>Projekt-Grafik</a:t>
            </a:r>
            <a:endParaRPr kumimoji="0" lang="de-DE" sz="1800" b="0" i="0" u="none" strike="noStrike" cap="none" normalizeH="0" baseline="0" dirty="0" smtClean="0">
              <a:ln>
                <a:noFill/>
              </a:ln>
              <a:solidFill>
                <a:schemeClr val="bg2"/>
              </a:solidFill>
              <a:effectLst/>
              <a:latin typeface="Gill Sans Light" charset="0"/>
              <a:ea typeface="Gill Sans Light" charset="0"/>
              <a:cs typeface="Gill Sans Light" charset="0"/>
              <a:sym typeface="Gill Sans Light" charset="0"/>
            </a:endParaRPr>
          </a:p>
        </p:txBody>
      </p:sp>
      <p:sp>
        <p:nvSpPr>
          <p:cNvPr id="10" name="Rechteck 9"/>
          <p:cNvSpPr/>
          <p:nvPr/>
        </p:nvSpPr>
        <p:spPr bwMode="auto">
          <a:xfrm>
            <a:off x="453728" y="8929194"/>
            <a:ext cx="3478120" cy="340094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 algn="l"/>
            <a:r>
              <a:rPr lang="de-DE" sz="1400" dirty="0">
                <a:solidFill>
                  <a:schemeClr val="bg2"/>
                </a:solidFill>
              </a:rPr>
              <a:t>Stand</a:t>
            </a:r>
            <a:r>
              <a:rPr lang="de-DE" sz="1400" dirty="0" smtClean="0">
                <a:solidFill>
                  <a:schemeClr val="bg2"/>
                </a:solidFill>
              </a:rPr>
              <a:t>:</a:t>
            </a:r>
            <a:endParaRPr lang="de-DE" sz="1400" dirty="0">
              <a:solidFill>
                <a:schemeClr val="bg2"/>
              </a:solidFill>
            </a:endParaRPr>
          </a:p>
        </p:txBody>
      </p:sp>
      <p:sp>
        <p:nvSpPr>
          <p:cNvPr id="14" name="Rechteck 13"/>
          <p:cNvSpPr/>
          <p:nvPr/>
        </p:nvSpPr>
        <p:spPr bwMode="auto">
          <a:xfrm>
            <a:off x="9216968" y="8929194"/>
            <a:ext cx="3478120" cy="340094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 algn="l"/>
            <a:r>
              <a:rPr lang="de-DE" sz="1400" dirty="0">
                <a:solidFill>
                  <a:schemeClr val="bg2"/>
                </a:solidFill>
              </a:rPr>
              <a:t>Verantwortlich:</a:t>
            </a:r>
          </a:p>
        </p:txBody>
      </p:sp>
      <p:sp>
        <p:nvSpPr>
          <p:cNvPr id="15" name="Rechteck 14"/>
          <p:cNvSpPr/>
          <p:nvPr/>
        </p:nvSpPr>
        <p:spPr bwMode="auto">
          <a:xfrm>
            <a:off x="4835348" y="8929194"/>
            <a:ext cx="3478120" cy="340094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 algn="l"/>
            <a:r>
              <a:rPr lang="de-DE" sz="1400" dirty="0">
                <a:solidFill>
                  <a:schemeClr val="bg2"/>
                </a:solidFill>
              </a:rPr>
              <a:t>Laufzeit</a:t>
            </a:r>
            <a:r>
              <a:rPr lang="de-DE" sz="1400" dirty="0" smtClean="0">
                <a:solidFill>
                  <a:schemeClr val="bg2"/>
                </a:solidFill>
              </a:rPr>
              <a:t>:</a:t>
            </a:r>
            <a:endParaRPr lang="de-DE" sz="1400" dirty="0">
              <a:solidFill>
                <a:schemeClr val="bg2"/>
              </a:solidFill>
            </a:endParaRPr>
          </a:p>
        </p:txBody>
      </p:sp>
      <p:graphicFrame>
        <p:nvGraphicFramePr>
          <p:cNvPr id="16" name="Tabelle 15" title="Tabelle Projektzie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04316324"/>
              </p:ext>
            </p:extLst>
          </p:nvPr>
        </p:nvGraphicFramePr>
        <p:xfrm>
          <a:off x="453728" y="3508649"/>
          <a:ext cx="12097344" cy="648072"/>
        </p:xfrm>
        <a:graphic>
          <a:graphicData uri="http://schemas.openxmlformats.org/drawingml/2006/table">
            <a:tbl>
              <a:tblPr firstRow="1" bandRow="1">
                <a:tableStyleId>{5A111915-BE36-4E01-A7E5-04B1672EAD32}</a:tableStyleId>
              </a:tblPr>
              <a:tblGrid>
                <a:gridCol w="576064"/>
                <a:gridCol w="1872208"/>
                <a:gridCol w="1080120"/>
                <a:gridCol w="8568952"/>
              </a:tblGrid>
              <a:tr h="38884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9pPr>
                    </a:lstStyle>
                    <a:p>
                      <a:r>
                        <a:rPr lang="de-DE" sz="1400" dirty="0" smtClean="0"/>
                        <a:t>ID</a:t>
                      </a:r>
                      <a:endParaRPr lang="de-DE" sz="1400" dirty="0">
                        <a:solidFill>
                          <a:srgbClr val="FFFFFF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9pPr>
                    </a:lstStyle>
                    <a:p>
                      <a:r>
                        <a:rPr lang="de-DE" sz="1400" kern="1200" dirty="0" smtClean="0"/>
                        <a:t>Ergebnis</a:t>
                      </a:r>
                      <a:endParaRPr lang="de-DE" sz="1400" b="1" kern="1200" dirty="0">
                        <a:solidFill>
                          <a:srgbClr val="FFFFFF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kern="1200" dirty="0" smtClean="0"/>
                        <a:t>Datum</a:t>
                      </a:r>
                      <a:endParaRPr lang="de-DE" sz="1400" b="1" kern="1200" dirty="0">
                        <a:solidFill>
                          <a:schemeClr val="lt1"/>
                        </a:solidFill>
                        <a:latin typeface="Gill Sans Light"/>
                        <a:ea typeface="ヒラギノ角ゴ ProN W3"/>
                        <a:cs typeface="ヒラギノ角ゴ ProN W3"/>
                      </a:endParaRPr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9pPr>
                    </a:lstStyle>
                    <a:p>
                      <a:r>
                        <a:rPr lang="de-DE" sz="1400" kern="1200" dirty="0" smtClean="0"/>
                        <a:t>Erläuterung</a:t>
                      </a:r>
                      <a:r>
                        <a:rPr lang="de-DE" sz="1400" dirty="0" smtClean="0"/>
                        <a:t> </a:t>
                      </a:r>
                      <a:r>
                        <a:rPr lang="de-DE" sz="1400" kern="1200" dirty="0" smtClean="0"/>
                        <a:t>der</a:t>
                      </a:r>
                      <a:r>
                        <a:rPr lang="de-DE" sz="1400" baseline="0" dirty="0" smtClean="0"/>
                        <a:t> </a:t>
                      </a:r>
                      <a:r>
                        <a:rPr lang="de-DE" sz="1400" kern="1200" dirty="0" smtClean="0"/>
                        <a:t>Projektleitung</a:t>
                      </a:r>
                      <a:endParaRPr lang="de-DE" sz="1400" b="1" kern="1200" dirty="0">
                        <a:solidFill>
                          <a:srgbClr val="FFFFFF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</a:tr>
              <a:tr h="25922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9pPr>
                    </a:lstStyle>
                    <a:p>
                      <a:pPr marL="0" algn="l" defTabSz="914400" rtl="0" eaLnBrk="1" latinLnBrk="0" hangingPunct="1"/>
                      <a:r>
                        <a:rPr lang="de-DE" sz="1100" kern="120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  <a:endParaRPr lang="de-DE" sz="1100" kern="120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9pPr>
                    </a:lstStyle>
                    <a:p>
                      <a:pPr marL="0" algn="l" defTabSz="914400" rtl="0" eaLnBrk="1" latinLnBrk="0" hangingPunct="1"/>
                      <a:r>
                        <a:rPr lang="de-DE" sz="1100" kern="120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Lastenheft</a:t>
                      </a:r>
                      <a:endParaRPr lang="de-DE" sz="1100" kern="120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100" dirty="0" smtClean="0">
                          <a:solidFill>
                            <a:schemeClr val="bg1"/>
                          </a:solidFill>
                        </a:rPr>
                        <a:t>14.12.2013</a:t>
                      </a:r>
                      <a:endParaRPr lang="de-DE" sz="110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9pPr>
                    </a:lstStyle>
                    <a:p>
                      <a:pPr marL="0" algn="l" defTabSz="914400" rtl="0" eaLnBrk="1" latinLnBrk="0" hangingPunct="1"/>
                      <a:r>
                        <a:rPr lang="de-DE" sz="1100" kern="120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Erläuterung</a:t>
                      </a:r>
                      <a:endParaRPr lang="de-DE" sz="1100" kern="120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693813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650875" y="390525"/>
            <a:ext cx="11703050" cy="1245915"/>
          </a:xfrm>
        </p:spPr>
        <p:txBody>
          <a:bodyPr/>
          <a:lstStyle/>
          <a:p>
            <a:r>
              <a:rPr lang="de-DE" sz="4400" dirty="0" smtClean="0"/>
              <a:t>Plan Veränderungen</a:t>
            </a:r>
            <a:endParaRPr lang="de-DE" dirty="0"/>
          </a:p>
        </p:txBody>
      </p:sp>
      <p:sp>
        <p:nvSpPr>
          <p:cNvPr id="8" name="Rechteck 7"/>
          <p:cNvSpPr/>
          <p:nvPr/>
        </p:nvSpPr>
        <p:spPr bwMode="auto">
          <a:xfrm>
            <a:off x="453728" y="1708448"/>
            <a:ext cx="12097344" cy="1627156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5080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 marR="0" indent="0" algn="ctr" defTabSz="584200" rtl="0" eaLnBrk="1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sz="1400" b="0" i="0" u="none" strike="noStrike" cap="none" normalizeH="0" baseline="0" dirty="0" smtClean="0">
                <a:ln>
                  <a:noFill/>
                </a:ln>
                <a:solidFill>
                  <a:schemeClr val="bg2"/>
                </a:solidFill>
                <a:effectLst/>
                <a:latin typeface="Gill Sans Light" charset="0"/>
                <a:ea typeface="Gill Sans Light" charset="0"/>
                <a:cs typeface="Gill Sans Light" charset="0"/>
                <a:sym typeface="Gill Sans Light" charset="0"/>
              </a:rPr>
              <a:t>Projekt-Grafik</a:t>
            </a:r>
            <a:endParaRPr kumimoji="0" lang="de-DE" sz="1800" b="0" i="0" u="none" strike="noStrike" cap="none" normalizeH="0" baseline="0" dirty="0" smtClean="0">
              <a:ln>
                <a:noFill/>
              </a:ln>
              <a:solidFill>
                <a:schemeClr val="bg2"/>
              </a:solidFill>
              <a:effectLst/>
              <a:latin typeface="Gill Sans Light" charset="0"/>
              <a:ea typeface="Gill Sans Light" charset="0"/>
              <a:cs typeface="Gill Sans Light" charset="0"/>
              <a:sym typeface="Gill Sans Light" charset="0"/>
            </a:endParaRPr>
          </a:p>
        </p:txBody>
      </p:sp>
      <p:sp>
        <p:nvSpPr>
          <p:cNvPr id="10" name="Rechteck 9"/>
          <p:cNvSpPr/>
          <p:nvPr/>
        </p:nvSpPr>
        <p:spPr bwMode="auto">
          <a:xfrm>
            <a:off x="453728" y="8929194"/>
            <a:ext cx="3478120" cy="340094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 algn="l"/>
            <a:r>
              <a:rPr lang="de-DE" sz="1400" dirty="0">
                <a:solidFill>
                  <a:schemeClr val="bg2"/>
                </a:solidFill>
              </a:rPr>
              <a:t>Stand</a:t>
            </a:r>
            <a:r>
              <a:rPr lang="de-DE" sz="1400" dirty="0" smtClean="0">
                <a:solidFill>
                  <a:schemeClr val="bg2"/>
                </a:solidFill>
              </a:rPr>
              <a:t>:</a:t>
            </a:r>
            <a:endParaRPr lang="de-DE" sz="1400" dirty="0">
              <a:solidFill>
                <a:schemeClr val="bg2"/>
              </a:solidFill>
            </a:endParaRPr>
          </a:p>
        </p:txBody>
      </p:sp>
      <p:sp>
        <p:nvSpPr>
          <p:cNvPr id="14" name="Rechteck 13"/>
          <p:cNvSpPr/>
          <p:nvPr/>
        </p:nvSpPr>
        <p:spPr bwMode="auto">
          <a:xfrm>
            <a:off x="9216968" y="8929194"/>
            <a:ext cx="3478120" cy="340094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 algn="l"/>
            <a:r>
              <a:rPr lang="de-DE" sz="1400" dirty="0">
                <a:solidFill>
                  <a:schemeClr val="bg2"/>
                </a:solidFill>
              </a:rPr>
              <a:t>Verantwortlich:</a:t>
            </a:r>
          </a:p>
        </p:txBody>
      </p:sp>
      <p:sp>
        <p:nvSpPr>
          <p:cNvPr id="15" name="Rechteck 14"/>
          <p:cNvSpPr/>
          <p:nvPr/>
        </p:nvSpPr>
        <p:spPr bwMode="auto">
          <a:xfrm>
            <a:off x="4835348" y="8929194"/>
            <a:ext cx="3478120" cy="340094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 algn="l"/>
            <a:r>
              <a:rPr lang="de-DE" sz="1400" dirty="0">
                <a:solidFill>
                  <a:schemeClr val="bg2"/>
                </a:solidFill>
              </a:rPr>
              <a:t>Laufzeit</a:t>
            </a:r>
            <a:r>
              <a:rPr lang="de-DE" sz="1400" dirty="0" smtClean="0">
                <a:solidFill>
                  <a:schemeClr val="bg2"/>
                </a:solidFill>
              </a:rPr>
              <a:t>:</a:t>
            </a:r>
            <a:endParaRPr lang="de-DE" sz="1400" dirty="0">
              <a:solidFill>
                <a:schemeClr val="bg2"/>
              </a:solidFill>
            </a:endParaRPr>
          </a:p>
        </p:txBody>
      </p:sp>
      <p:graphicFrame>
        <p:nvGraphicFramePr>
          <p:cNvPr id="16" name="Tabelle 15" title="Tabelle Veränderung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53915106"/>
              </p:ext>
            </p:extLst>
          </p:nvPr>
        </p:nvGraphicFramePr>
        <p:xfrm>
          <a:off x="453730" y="3508649"/>
          <a:ext cx="12097341" cy="777389"/>
        </p:xfrm>
        <a:graphic>
          <a:graphicData uri="http://schemas.openxmlformats.org/drawingml/2006/table">
            <a:tbl>
              <a:tblPr firstRow="1" bandRow="1">
                <a:tableStyleId>{5A111915-BE36-4E01-A7E5-04B1672EAD32}</a:tableStyleId>
              </a:tblPr>
              <a:tblGrid>
                <a:gridCol w="373046"/>
                <a:gridCol w="2507272"/>
                <a:gridCol w="1728192"/>
                <a:gridCol w="720080"/>
                <a:gridCol w="1800200"/>
                <a:gridCol w="720080"/>
                <a:gridCol w="2016224"/>
                <a:gridCol w="720080"/>
                <a:gridCol w="1512167"/>
              </a:tblGrid>
              <a:tr h="38884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9pPr>
                    </a:lstStyle>
                    <a:p>
                      <a:r>
                        <a:rPr lang="de-DE" sz="1400" dirty="0" smtClean="0"/>
                        <a:t>ID</a:t>
                      </a:r>
                      <a:endParaRPr lang="de-DE" sz="1400" dirty="0">
                        <a:solidFill>
                          <a:srgbClr val="FFFFFF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9pPr>
                    </a:lstStyle>
                    <a:p>
                      <a:r>
                        <a:rPr lang="de-DE" sz="1400" kern="1200" dirty="0" smtClean="0"/>
                        <a:t>Ergebnis</a:t>
                      </a:r>
                      <a:endParaRPr lang="de-DE" sz="1400" b="1" kern="1200" dirty="0">
                        <a:solidFill>
                          <a:srgbClr val="FFFFFF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 b="1" kern="120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Beauftragt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 b="1" kern="1200" baseline="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# </a:t>
                      </a:r>
                      <a:endParaRPr lang="de-DE" sz="1400" b="1" kern="1200" dirty="0" smtClean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 b="1" kern="120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Ampel</a:t>
                      </a:r>
                    </a:p>
                  </a:txBody>
                  <a:tcPr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 kern="1200" dirty="0" smtClean="0"/>
                        <a:t>Letzter Stand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 kern="1200" baseline="0" dirty="0" smtClean="0"/>
                        <a:t>#</a:t>
                      </a:r>
                      <a:endParaRPr lang="de-DE" sz="1400" b="1" kern="1200" dirty="0" smtClean="0">
                        <a:solidFill>
                          <a:schemeClr val="lt1"/>
                        </a:solidFill>
                        <a:latin typeface="Gill Sans Light"/>
                        <a:ea typeface="ヒラギノ角ゴ ProN W3"/>
                        <a:cs typeface="ヒラギノ角ゴ ProN W3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 b="1" kern="120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Ampel </a:t>
                      </a:r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9pPr>
                    </a:lstStyle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 b="1" kern="120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Aktueller Stand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 b="1" kern="120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#</a:t>
                      </a:r>
                      <a:endParaRPr lang="de-DE" sz="1400" b="1" kern="120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 b="1" kern="120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Ampel</a:t>
                      </a:r>
                      <a:endParaRPr lang="de-DE" sz="1400" b="1" kern="120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 b="1" kern="120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</a:tr>
              <a:tr h="25922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9pPr>
                    </a:lstStyle>
                    <a:p>
                      <a:pPr marL="0" algn="l" defTabSz="914400" rtl="0" eaLnBrk="1" latinLnBrk="0" hangingPunct="1"/>
                      <a:r>
                        <a:rPr lang="de-DE" sz="1100" kern="120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  <a:endParaRPr lang="de-DE" sz="1100" kern="120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9pPr>
                    </a:lstStyle>
                    <a:p>
                      <a:pPr marL="0" algn="l" defTabSz="914400" rtl="0" eaLnBrk="1" latinLnBrk="0" hangingPunct="1"/>
                      <a:r>
                        <a:rPr lang="de-DE" sz="1100" kern="120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Lastenheft</a:t>
                      </a:r>
                      <a:endParaRPr lang="de-DE" sz="1100" kern="120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100" dirty="0" smtClean="0">
                          <a:solidFill>
                            <a:schemeClr val="bg1"/>
                          </a:solidFill>
                        </a:rPr>
                        <a:t>14.12.2013</a:t>
                      </a:r>
                      <a:endParaRPr lang="de-DE" sz="110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10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dirty="0" smtClean="0">
                          <a:solidFill>
                            <a:schemeClr val="bg1"/>
                          </a:solidFill>
                        </a:rPr>
                        <a:t>14.12.2013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10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9pPr>
                    </a:lstStyle>
                    <a:p>
                      <a:pPr marL="0" algn="l" defTabSz="914400" rtl="0" eaLnBrk="1" latinLnBrk="0" hangingPunct="1"/>
                      <a:r>
                        <a:rPr lang="de-DE" sz="1100" kern="120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14.12.2013 </a:t>
                      </a:r>
                      <a:endParaRPr lang="de-DE" sz="1100" kern="120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e-DE" sz="1100" kern="120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e-DE" sz="1100" kern="120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903254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650875" y="390525"/>
            <a:ext cx="11703050" cy="1245915"/>
          </a:xfrm>
        </p:spPr>
        <p:txBody>
          <a:bodyPr/>
          <a:lstStyle/>
          <a:p>
            <a:r>
              <a:rPr lang="de-DE" sz="4400" dirty="0" smtClean="0"/>
              <a:t>Projekt-Name</a:t>
            </a:r>
            <a:endParaRPr lang="de-DE" dirty="0"/>
          </a:p>
        </p:txBody>
      </p:sp>
      <p:sp>
        <p:nvSpPr>
          <p:cNvPr id="8" name="Rechteck 7"/>
          <p:cNvSpPr/>
          <p:nvPr/>
        </p:nvSpPr>
        <p:spPr bwMode="auto">
          <a:xfrm>
            <a:off x="453728" y="1492424"/>
            <a:ext cx="8136904" cy="3240360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5080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 marR="0" indent="0" algn="ctr" defTabSz="584200" rtl="0" eaLnBrk="1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sz="1400" b="0" i="0" u="none" strike="noStrike" cap="none" normalizeH="0" baseline="0" dirty="0" smtClean="0">
                <a:ln>
                  <a:noFill/>
                </a:ln>
                <a:solidFill>
                  <a:schemeClr val="bg2"/>
                </a:solidFill>
                <a:effectLst/>
                <a:latin typeface="Gill Sans Light" charset="0"/>
                <a:ea typeface="Gill Sans Light" charset="0"/>
                <a:cs typeface="Gill Sans Light" charset="0"/>
                <a:sym typeface="Gill Sans Light" charset="0"/>
              </a:rPr>
              <a:t>Ergebnis</a:t>
            </a:r>
            <a:endParaRPr kumimoji="0" lang="de-DE" sz="1800" b="0" i="0" u="none" strike="noStrike" cap="none" normalizeH="0" baseline="0" dirty="0" smtClean="0">
              <a:ln>
                <a:noFill/>
              </a:ln>
              <a:solidFill>
                <a:schemeClr val="bg2"/>
              </a:solidFill>
              <a:effectLst/>
              <a:latin typeface="Gill Sans Light" charset="0"/>
              <a:ea typeface="Gill Sans Light" charset="0"/>
              <a:cs typeface="Gill Sans Light" charset="0"/>
              <a:sym typeface="Gill Sans Light" charset="0"/>
            </a:endParaRPr>
          </a:p>
        </p:txBody>
      </p:sp>
      <p:sp>
        <p:nvSpPr>
          <p:cNvPr id="10" name="Rechteck 9"/>
          <p:cNvSpPr/>
          <p:nvPr/>
        </p:nvSpPr>
        <p:spPr bwMode="auto">
          <a:xfrm>
            <a:off x="453728" y="8909248"/>
            <a:ext cx="3478120" cy="340094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 algn="l"/>
            <a:r>
              <a:rPr lang="de-DE" sz="1400" dirty="0">
                <a:solidFill>
                  <a:schemeClr val="bg2"/>
                </a:solidFill>
              </a:rPr>
              <a:t>Stand</a:t>
            </a:r>
            <a:r>
              <a:rPr lang="de-DE" sz="1400" dirty="0" smtClean="0">
                <a:solidFill>
                  <a:schemeClr val="bg2"/>
                </a:solidFill>
              </a:rPr>
              <a:t>:</a:t>
            </a:r>
            <a:endParaRPr lang="de-DE" sz="1400" dirty="0">
              <a:solidFill>
                <a:schemeClr val="bg2"/>
              </a:solidFill>
            </a:endParaRPr>
          </a:p>
        </p:txBody>
      </p:sp>
      <p:sp>
        <p:nvSpPr>
          <p:cNvPr id="14" name="Rechteck 13"/>
          <p:cNvSpPr/>
          <p:nvPr/>
        </p:nvSpPr>
        <p:spPr bwMode="auto">
          <a:xfrm>
            <a:off x="9216968" y="8909248"/>
            <a:ext cx="3478120" cy="340094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 algn="l"/>
            <a:r>
              <a:rPr lang="de-DE" sz="1400" dirty="0">
                <a:solidFill>
                  <a:schemeClr val="bg2"/>
                </a:solidFill>
              </a:rPr>
              <a:t>Verantwortlich:</a:t>
            </a:r>
          </a:p>
        </p:txBody>
      </p:sp>
      <p:sp>
        <p:nvSpPr>
          <p:cNvPr id="15" name="Rechteck 14"/>
          <p:cNvSpPr/>
          <p:nvPr/>
        </p:nvSpPr>
        <p:spPr bwMode="auto">
          <a:xfrm>
            <a:off x="4835348" y="8909248"/>
            <a:ext cx="3478120" cy="340094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 algn="l"/>
            <a:r>
              <a:rPr lang="de-DE" sz="1400" dirty="0">
                <a:solidFill>
                  <a:schemeClr val="bg2"/>
                </a:solidFill>
              </a:rPr>
              <a:t>Laufzeit</a:t>
            </a:r>
            <a:r>
              <a:rPr lang="de-DE" sz="1400" dirty="0" smtClean="0">
                <a:solidFill>
                  <a:schemeClr val="bg2"/>
                </a:solidFill>
              </a:rPr>
              <a:t>:</a:t>
            </a:r>
            <a:endParaRPr lang="de-DE" sz="1400" dirty="0">
              <a:solidFill>
                <a:schemeClr val="bg2"/>
              </a:solidFill>
            </a:endParaRPr>
          </a:p>
        </p:txBody>
      </p:sp>
      <p:sp>
        <p:nvSpPr>
          <p:cNvPr id="18" name="Rechteck 17"/>
          <p:cNvSpPr/>
          <p:nvPr/>
        </p:nvSpPr>
        <p:spPr bwMode="auto">
          <a:xfrm>
            <a:off x="8662640" y="1492424"/>
            <a:ext cx="4032448" cy="3240360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5080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/>
            <a:r>
              <a:rPr lang="de-DE" sz="1400" dirty="0">
                <a:solidFill>
                  <a:schemeClr val="bg2"/>
                </a:solidFill>
                <a:sym typeface="Noteworthy Bold" charset="0"/>
              </a:rPr>
              <a:t>Teilprojekte</a:t>
            </a:r>
            <a:endParaRPr lang="de-DE" sz="1400" dirty="0">
              <a:solidFill>
                <a:schemeClr val="bg2"/>
              </a:solidFill>
            </a:endParaRPr>
          </a:p>
        </p:txBody>
      </p:sp>
      <p:sp>
        <p:nvSpPr>
          <p:cNvPr id="19" name="Rechteck 18"/>
          <p:cNvSpPr/>
          <p:nvPr/>
        </p:nvSpPr>
        <p:spPr bwMode="auto">
          <a:xfrm>
            <a:off x="4558184" y="4804792"/>
            <a:ext cx="4032448" cy="2756373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5080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r>
              <a:rPr lang="de-DE" sz="1400" dirty="0" smtClean="0">
                <a:solidFill>
                  <a:schemeClr val="bg2"/>
                </a:solidFill>
                <a:sym typeface="Noteworthy Bold" charset="0"/>
              </a:rPr>
              <a:t>Sonstige </a:t>
            </a:r>
            <a:r>
              <a:rPr lang="de-DE" sz="1400" dirty="0">
                <a:solidFill>
                  <a:schemeClr val="bg2"/>
                </a:solidFill>
                <a:sym typeface="Noteworthy Bold" charset="0"/>
              </a:rPr>
              <a:t>Kosten</a:t>
            </a:r>
          </a:p>
        </p:txBody>
      </p:sp>
      <p:sp>
        <p:nvSpPr>
          <p:cNvPr id="20" name="Rechteck 19"/>
          <p:cNvSpPr/>
          <p:nvPr/>
        </p:nvSpPr>
        <p:spPr bwMode="auto">
          <a:xfrm>
            <a:off x="453728" y="4805237"/>
            <a:ext cx="4032448" cy="2756373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5080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r>
              <a:rPr lang="de-DE" sz="1400" dirty="0" smtClean="0">
                <a:solidFill>
                  <a:schemeClr val="bg2"/>
                </a:solidFill>
                <a:sym typeface="Noteworthy Bold" charset="0"/>
              </a:rPr>
              <a:t>Personalkosten</a:t>
            </a:r>
            <a:endParaRPr lang="de-DE" sz="1400" dirty="0">
              <a:solidFill>
                <a:schemeClr val="bg2"/>
              </a:solidFill>
              <a:sym typeface="Noteworthy Bold" charset="0"/>
            </a:endParaRPr>
          </a:p>
        </p:txBody>
      </p:sp>
      <p:sp>
        <p:nvSpPr>
          <p:cNvPr id="11" name="Rechteck 10"/>
          <p:cNvSpPr/>
          <p:nvPr/>
        </p:nvSpPr>
        <p:spPr bwMode="auto">
          <a:xfrm>
            <a:off x="8659422" y="4805237"/>
            <a:ext cx="4032448" cy="2756373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5080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r>
              <a:rPr lang="de-DE" sz="1400" dirty="0">
                <a:solidFill>
                  <a:schemeClr val="bg2"/>
                </a:solidFill>
                <a:sym typeface="Noteworthy Bold" charset="0"/>
              </a:rPr>
              <a:t>Soll-Ist1 Gesamtkosten</a:t>
            </a:r>
          </a:p>
        </p:txBody>
      </p:sp>
      <p:sp>
        <p:nvSpPr>
          <p:cNvPr id="12" name="Textfeld 11"/>
          <p:cNvSpPr txBox="1"/>
          <p:nvPr/>
        </p:nvSpPr>
        <p:spPr>
          <a:xfrm>
            <a:off x="6296842" y="7562190"/>
            <a:ext cx="652774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 smtClean="0"/>
              <a:t>Werte sind auf ganze Zahlen gerundet – deswegen kann es zu kleinen Unterschieden zwischen Detail- und Summenbetrachtung kommen </a:t>
            </a:r>
            <a:endParaRPr lang="de-DE" sz="800" dirty="0"/>
          </a:p>
        </p:txBody>
      </p:sp>
      <p:graphicFrame>
        <p:nvGraphicFramePr>
          <p:cNvPr id="13" name="Tabelle 12" title="Tabelle Projektstatu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22992023"/>
              </p:ext>
            </p:extLst>
          </p:nvPr>
        </p:nvGraphicFramePr>
        <p:xfrm>
          <a:off x="453728" y="7829128"/>
          <a:ext cx="12241360" cy="805300"/>
        </p:xfrm>
        <a:graphic>
          <a:graphicData uri="http://schemas.openxmlformats.org/drawingml/2006/table">
            <a:tbl>
              <a:tblPr firstRow="1" bandRow="1">
                <a:tableStyleId>{5A111915-BE36-4E01-A7E5-04B1672EAD32}</a:tableStyleId>
              </a:tblPr>
              <a:tblGrid>
                <a:gridCol w="510057"/>
                <a:gridCol w="11731303"/>
              </a:tblGrid>
              <a:tr h="36004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9pPr>
                    </a:lstStyle>
                    <a:p>
                      <a:endParaRPr lang="de-DE" dirty="0">
                        <a:solidFill>
                          <a:srgbClr val="FFFFFF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9pPr>
                    </a:lstStyle>
                    <a:p>
                      <a:r>
                        <a:rPr lang="de-DE" sz="1800" kern="1200" dirty="0" smtClean="0"/>
                        <a:t>Aktuelle Gesamt-Einschätzung</a:t>
                      </a:r>
                      <a:r>
                        <a:rPr lang="de-DE" sz="1800" kern="1200" baseline="0" dirty="0" smtClean="0"/>
                        <a:t> des Projekts</a:t>
                      </a:r>
                      <a:endParaRPr lang="de-DE" sz="1800" b="1" kern="1200" dirty="0">
                        <a:solidFill>
                          <a:srgbClr val="FFFFFF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</a:tr>
              <a:tr h="43954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9pPr>
                    </a:lstStyle>
                    <a:p>
                      <a:endParaRPr lang="de-DE" sz="100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9pPr>
                    </a:lstStyle>
                    <a:p>
                      <a:r>
                        <a:rPr lang="de-DE" sz="1100" dirty="0" smtClean="0">
                          <a:solidFill>
                            <a:schemeClr val="bg1"/>
                          </a:solidFill>
                          <a:latin typeface="+mn-lt"/>
                        </a:rPr>
                        <a:t>Erläuterung</a:t>
                      </a:r>
                      <a:endParaRPr lang="de-DE" sz="1100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186281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Larissa">
  <a:themeElements>
    <a:clrScheme name="">
      <a:dk1>
        <a:srgbClr val="A5A5A5"/>
      </a:dk1>
      <a:lt1>
        <a:srgbClr val="414141"/>
      </a:lt1>
      <a:dk2>
        <a:srgbClr val="240041"/>
      </a:dk2>
      <a:lt2>
        <a:srgbClr val="484D4B"/>
      </a:lt2>
      <a:accent1>
        <a:srgbClr val="669AA4"/>
      </a:accent1>
      <a:accent2>
        <a:srgbClr val="930706"/>
      </a:accent2>
      <a:accent3>
        <a:srgbClr val="ACAAB0"/>
      </a:accent3>
      <a:accent4>
        <a:srgbClr val="363636"/>
      </a:accent4>
      <a:accent5>
        <a:srgbClr val="B8CACF"/>
      </a:accent5>
      <a:accent6>
        <a:srgbClr val="850605"/>
      </a:accent6>
      <a:hlink>
        <a:srgbClr val="0000FF"/>
      </a:hlink>
      <a:folHlink>
        <a:srgbClr val="FF00FF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6D7472"/>
        </a:solidFill>
        <a:ln>
          <a:noFill/>
        </a:ln>
        <a:effectLst/>
        <a:extLst>
          <a:ext uri="{91240B29-F687-4F45-9708-019B960494DF}">
            <a14:hiddenLine xmlns:a14="http://schemas.microsoft.com/office/drawing/2010/main" w="12700" cap="flat" cmpd="sng" algn="ctr">
              <a:solidFill>
                <a:schemeClr val="tx1"/>
              </a:solidFill>
              <a:prstDash val="solid"/>
              <a:miter lim="0"/>
              <a:headEnd type="none" w="med" len="med"/>
              <a:tailEnd type="none" w="med" len="med"/>
            </a14:hiddenLine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50800" tIns="50800" rIns="50800" bIns="50800" numCol="1" anchor="ctr" anchorCtr="0" compatLnSpc="1">
        <a:prstTxWarp prst="textNoShape">
          <a:avLst/>
        </a:prstTxWarp>
      </a:bodyPr>
      <a:lstStyle>
        <a:defPPr marL="342900" marR="0" indent="0" algn="ctr" defTabSz="584200" rtl="0" eaLnBrk="1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de-DE" sz="3600" b="0" i="0" u="none" strike="noStrike" cap="none" normalizeH="0" baseline="0" smtClean="0">
            <a:ln>
              <a:noFill/>
            </a:ln>
            <a:solidFill>
              <a:srgbClr val="414141"/>
            </a:solidFill>
            <a:effectLst/>
            <a:latin typeface="Gill Sans Light" charset="0"/>
            <a:ea typeface="Gill Sans Light" charset="0"/>
            <a:cs typeface="Gill Sans Light" charset="0"/>
            <a:sym typeface="Gill Sans Light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6D7472"/>
        </a:solidFill>
        <a:ln>
          <a:noFill/>
        </a:ln>
        <a:effectLst/>
        <a:extLst>
          <a:ext uri="{91240B29-F687-4F45-9708-019B960494DF}">
            <a14:hiddenLine xmlns:a14="http://schemas.microsoft.com/office/drawing/2010/main" w="12700" cap="flat" cmpd="sng" algn="ctr">
              <a:solidFill>
                <a:schemeClr val="tx1"/>
              </a:solidFill>
              <a:prstDash val="solid"/>
              <a:miter lim="0"/>
              <a:headEnd type="none" w="med" len="med"/>
              <a:tailEnd type="none" w="med" len="med"/>
            </a14:hiddenLine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50800" tIns="50800" rIns="50800" bIns="50800" numCol="1" anchor="ctr" anchorCtr="0" compatLnSpc="1">
        <a:prstTxWarp prst="textNoShape">
          <a:avLst/>
        </a:prstTxWarp>
      </a:bodyPr>
      <a:lstStyle>
        <a:defPPr marL="342900" marR="0" indent="0" algn="ctr" defTabSz="584200" rtl="0" eaLnBrk="1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de-DE" sz="3600" b="0" i="0" u="none" strike="noStrike" cap="none" normalizeH="0" baseline="0" smtClean="0">
            <a:ln>
              <a:noFill/>
            </a:ln>
            <a:solidFill>
              <a:srgbClr val="414141"/>
            </a:solidFill>
            <a:effectLst/>
            <a:latin typeface="Gill Sans Light" charset="0"/>
            <a:ea typeface="Gill Sans Light" charset="0"/>
            <a:cs typeface="Gill Sans Light" charset="0"/>
            <a:sym typeface="Gill Sans Light" charset="0"/>
          </a:defRPr>
        </a:defPPr>
      </a:lstStyle>
    </a:lnDef>
  </a:objectDefaults>
  <a:extraClrSchemeLst/>
</a:theme>
</file>

<file path=ppt/theme/theme2.xml><?xml version="1.0" encoding="utf-8"?>
<a:theme xmlns:a="http://schemas.openxmlformats.org/drawingml/2006/main" name="Larissa">
  <a:themeElements>
    <a:clrScheme name="">
      <a:dk1>
        <a:srgbClr val="572E2D"/>
      </a:dk1>
      <a:lt1>
        <a:srgbClr val="2A5657"/>
      </a:lt1>
      <a:dk2>
        <a:srgbClr val="484D4B"/>
      </a:dk2>
      <a:lt2>
        <a:srgbClr val="A5A5A5"/>
      </a:lt2>
      <a:accent1>
        <a:srgbClr val="669AA4"/>
      </a:accent1>
      <a:accent2>
        <a:srgbClr val="930706"/>
      </a:accent2>
      <a:accent3>
        <a:srgbClr val="ACB4B4"/>
      </a:accent3>
      <a:accent4>
        <a:srgbClr val="492625"/>
      </a:accent4>
      <a:accent5>
        <a:srgbClr val="B8CACF"/>
      </a:accent5>
      <a:accent6>
        <a:srgbClr val="850605"/>
      </a:accent6>
      <a:hlink>
        <a:srgbClr val="0000FF"/>
      </a:hlink>
      <a:folHlink>
        <a:srgbClr val="FF00FF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252</Words>
  <Application>Microsoft Office PowerPoint</Application>
  <PresentationFormat>Benutzerdefiniert</PresentationFormat>
  <Paragraphs>148</Paragraphs>
  <Slides>3</Slides>
  <Notes>3</Notes>
  <HiddenSlides>0</HiddenSlides>
  <MMClips>0</MMClips>
  <ScaleCrop>false</ScaleCrop>
  <HeadingPairs>
    <vt:vector size="4" baseType="variant">
      <vt:variant>
        <vt:lpstr>Design</vt:lpstr>
      </vt:variant>
      <vt:variant>
        <vt:i4>1</vt:i4>
      </vt:variant>
      <vt:variant>
        <vt:lpstr>Folientitel</vt:lpstr>
      </vt:variant>
      <vt:variant>
        <vt:i4>3</vt:i4>
      </vt:variant>
    </vt:vector>
  </HeadingPairs>
  <TitlesOfParts>
    <vt:vector size="4" baseType="lpstr">
      <vt:lpstr>Larissa</vt:lpstr>
      <vt:lpstr>Aktueller Planungstand Termine</vt:lpstr>
      <vt:lpstr>Plan Veränderungen</vt:lpstr>
      <vt:lpstr>Projekt-Name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tom</dc:creator>
  <cp:lastModifiedBy>tom</cp:lastModifiedBy>
  <cp:revision>88</cp:revision>
  <cp:lastPrinted>2013-11-11T22:44:44Z</cp:lastPrinted>
  <dcterms:modified xsi:type="dcterms:W3CDTF">2014-01-12T10:56:47Z</dcterms:modified>
</cp:coreProperties>
</file>